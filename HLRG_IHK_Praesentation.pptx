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webextensions/webextension1.xml" ContentType="application/vnd.ms-office.webextension+xml"/>
  <Override PartName="/ppt/notesSlides/notesSlide9.xml" ContentType="application/vnd.openxmlformats-officedocument.presentationml.notesSlide+xml"/>
  <Override PartName="/ppt/notesSlides/notesSlide10.xml" ContentType="application/vnd.openxmlformats-officedocument.presentationml.notesSlide+xml"/>
  <Override PartName="/ppt/webextensions/webextension2.xml" ContentType="application/vnd.ms-office.webextension+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webextensions/webextension3.xml" ContentType="application/vnd.ms-office.webextension+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6" r:id="rId2"/>
    <p:sldId id="257" r:id="rId3"/>
    <p:sldId id="277" r:id="rId4"/>
    <p:sldId id="259" r:id="rId5"/>
    <p:sldId id="260" r:id="rId6"/>
    <p:sldId id="262" r:id="rId7"/>
    <p:sldId id="263" r:id="rId8"/>
    <p:sldId id="265" r:id="rId9"/>
    <p:sldId id="283" r:id="rId10"/>
    <p:sldId id="256" r:id="rId11"/>
    <p:sldId id="284" r:id="rId12"/>
    <p:sldId id="281" r:id="rId13"/>
    <p:sldId id="285" r:id="rId14"/>
    <p:sldId id="269" r:id="rId15"/>
    <p:sldId id="275" r:id="rId1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B3A57"/>
    <a:srgbClr val="F4F6F8"/>
    <a:srgbClr val="0F6E56"/>
    <a:srgbClr val="CC339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2930" autoAdjust="0"/>
  </p:normalViewPr>
  <p:slideViewPr>
    <p:cSldViewPr snapToGrid="0" snapToObjects="1">
      <p:cViewPr varScale="1">
        <p:scale>
          <a:sx n="79" d="100"/>
          <a:sy n="79" d="100"/>
        </p:scale>
        <p:origin x="82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6765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kern="1200" dirty="0">
                <a:solidFill>
                  <a:schemeClr val="tx1"/>
                </a:solidFill>
                <a:effectLst/>
                <a:latin typeface="+mn-lt"/>
                <a:ea typeface="+mn-ea"/>
                <a:cs typeface="+mn-cs"/>
              </a:rPr>
              <a:t>„Ich zeige euch nun zwei Analysen zu den Verkaufsdaten aus unterschiedlichen Blickwinkeln. Zuerst die Customer Loyalty &amp; Segmentation, dann die Anomalie-Analyse.“</a:t>
            </a:r>
          </a:p>
          <a:p>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Bevor wir in die Analyse einsteigen, muss ich noch kurz erläutern, dass…</a:t>
            </a:r>
          </a:p>
          <a:p>
            <a:endParaRPr lang="en-US" dirty="0"/>
          </a:p>
          <a:p>
            <a:r>
              <a:rPr lang="de-DE" sz="1200" b="1" kern="1200" cap="all" dirty="0">
                <a:solidFill>
                  <a:schemeClr val="tx1"/>
                </a:solidFill>
                <a:effectLst/>
                <a:latin typeface="+mn-lt"/>
                <a:ea typeface="+mn-ea"/>
                <a:cs typeface="+mn-cs"/>
              </a:rPr>
              <a:t>Das Problem</a:t>
            </a:r>
            <a:endParaRPr lang="de-DE" sz="1200" kern="1200" dirty="0">
              <a:solidFill>
                <a:schemeClr val="tx1"/>
              </a:solidFill>
              <a:effectLst/>
              <a:latin typeface="+mn-lt"/>
              <a:ea typeface="+mn-ea"/>
              <a:cs typeface="+mn-cs"/>
            </a:endParaRPr>
          </a:p>
          <a:p>
            <a:pPr lvl="0"/>
            <a:r>
              <a:rPr lang="de-DE" sz="1200" kern="1200" dirty="0">
                <a:solidFill>
                  <a:schemeClr val="tx1"/>
                </a:solidFill>
                <a:effectLst/>
                <a:latin typeface="+mn-lt"/>
                <a:ea typeface="+mn-ea"/>
                <a:cs typeface="+mn-cs"/>
              </a:rPr>
              <a:t>Das ursprüngliche Loyalty-System im synthetischen Datensatz (Bronze/</a:t>
            </a:r>
            <a:r>
              <a:rPr lang="de-DE" sz="1200" kern="1200" dirty="0" err="1">
                <a:solidFill>
                  <a:schemeClr val="tx1"/>
                </a:solidFill>
                <a:effectLst/>
                <a:latin typeface="+mn-lt"/>
                <a:ea typeface="+mn-ea"/>
                <a:cs typeface="+mn-cs"/>
              </a:rPr>
              <a:t>Silver</a:t>
            </a:r>
            <a:r>
              <a:rPr lang="de-DE" sz="1200" kern="1200" dirty="0">
                <a:solidFill>
                  <a:schemeClr val="tx1"/>
                </a:solidFill>
                <a:effectLst/>
                <a:latin typeface="+mn-lt"/>
                <a:ea typeface="+mn-ea"/>
                <a:cs typeface="+mn-cs"/>
              </a:rPr>
              <a:t>/Gold/Platinum) nur ein zugewiesenes Label ohne echten Bezug zum tatsächlichen Kaufverhalten war.</a:t>
            </a:r>
          </a:p>
          <a:p>
            <a:pPr lvl="0"/>
            <a:endParaRPr lang="de-DE" sz="1200" kern="1200" dirty="0">
              <a:solidFill>
                <a:schemeClr val="tx1"/>
              </a:solidFill>
              <a:effectLst/>
              <a:latin typeface="+mn-lt"/>
              <a:ea typeface="+mn-ea"/>
              <a:cs typeface="+mn-cs"/>
            </a:endParaRPr>
          </a:p>
          <a:p>
            <a:pPr lvl="0"/>
            <a:r>
              <a:rPr lang="de-DE" sz="1200" kern="1200" dirty="0">
                <a:solidFill>
                  <a:schemeClr val="tx1"/>
                </a:solidFill>
                <a:effectLst/>
                <a:latin typeface="+mn-lt"/>
                <a:ea typeface="+mn-ea"/>
                <a:cs typeface="+mn-cs"/>
              </a:rPr>
              <a:t>Es sagte nichts darüber aus, wer wirklich Umsatz treibt oder abzuwandern droht.</a:t>
            </a:r>
          </a:p>
          <a:p>
            <a:pPr lvl="0"/>
            <a:r>
              <a:rPr lang="de-DE" sz="1200" kern="1200" dirty="0">
                <a:solidFill>
                  <a:schemeClr val="tx1"/>
                </a:solidFill>
                <a:effectLst/>
                <a:latin typeface="+mn-lt"/>
                <a:ea typeface="+mn-ea"/>
                <a:cs typeface="+mn-cs"/>
              </a:rPr>
              <a:t>Ohne Segmentierung bleibt damit das Kaufverhalten für uns unklar.</a:t>
            </a:r>
          </a:p>
          <a:p>
            <a:pPr lvl="0"/>
            <a:endParaRPr lang="de-DE" sz="1200" kern="1200" dirty="0">
              <a:solidFill>
                <a:schemeClr val="tx1"/>
              </a:solidFill>
              <a:effectLst/>
              <a:latin typeface="+mn-lt"/>
              <a:ea typeface="+mn-ea"/>
              <a:cs typeface="+mn-cs"/>
            </a:endParaRPr>
          </a:p>
          <a:p>
            <a:pPr lvl="0"/>
            <a:r>
              <a:rPr lang="de-DE" sz="1200" kern="1200" dirty="0">
                <a:solidFill>
                  <a:schemeClr val="tx1"/>
                </a:solidFill>
                <a:effectLst/>
                <a:latin typeface="+mn-lt"/>
                <a:ea typeface="+mn-ea"/>
                <a:cs typeface="+mn-cs"/>
              </a:rPr>
              <a:t>Um eine Analyse des Kaufverhaltens möglich zu machen, haben wir die Kunden basierend auf der vorhandenen Datenbasis neu segmentiert — ohne zusätzliche Datenerhebung.</a:t>
            </a:r>
          </a:p>
          <a:p>
            <a:pPr lvl="0"/>
            <a:endParaRPr lang="de-DE" sz="1200" kern="1200" dirty="0">
              <a:solidFill>
                <a:schemeClr val="tx1"/>
              </a:solidFill>
              <a:effectLst/>
              <a:latin typeface="+mn-lt"/>
              <a:ea typeface="+mn-ea"/>
              <a:cs typeface="+mn-cs"/>
            </a:endParaRPr>
          </a:p>
          <a:p>
            <a:r>
              <a:rPr lang="de-DE" sz="1200" b="1" kern="1200" cap="all" dirty="0">
                <a:solidFill>
                  <a:schemeClr val="tx1"/>
                </a:solidFill>
                <a:effectLst/>
                <a:latin typeface="+mn-lt"/>
                <a:ea typeface="+mn-ea"/>
                <a:cs typeface="+mn-cs"/>
              </a:rPr>
              <a:t>Warum RFM?</a:t>
            </a:r>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„Wir haben uns für das RFM-Modell entschieden, weil es ein bewährtes Verfahren zur Kundensegmentierung ist, das auf drei Kernfaktoren basiert: </a:t>
            </a:r>
          </a:p>
          <a:p>
            <a:endParaRPr lang="de-DE" sz="1200" kern="1200" dirty="0">
              <a:solidFill>
                <a:schemeClr val="tx1"/>
              </a:solidFill>
              <a:effectLst/>
              <a:latin typeface="+mn-lt"/>
              <a:ea typeface="+mn-ea"/>
              <a:cs typeface="+mn-cs"/>
            </a:endParaRPr>
          </a:p>
          <a:p>
            <a:pPr lvl="0"/>
            <a:r>
              <a:rPr lang="de-DE" sz="1200" kern="1200" dirty="0" err="1">
                <a:solidFill>
                  <a:schemeClr val="tx1"/>
                </a:solidFill>
                <a:effectLst/>
                <a:latin typeface="+mn-lt"/>
                <a:ea typeface="+mn-ea"/>
                <a:cs typeface="+mn-cs"/>
              </a:rPr>
              <a:t>Recency</a:t>
            </a:r>
            <a:r>
              <a:rPr lang="de-DE" sz="1200" kern="1200" dirty="0">
                <a:solidFill>
                  <a:schemeClr val="tx1"/>
                </a:solidFill>
                <a:effectLst/>
                <a:latin typeface="+mn-lt"/>
                <a:ea typeface="+mn-ea"/>
                <a:cs typeface="+mn-cs"/>
              </a:rPr>
              <a:t> — die Aktualität des letzten Kaufs — signalisiert das Abwanderungsrisiko. </a:t>
            </a:r>
          </a:p>
          <a:p>
            <a:pPr lvl="0"/>
            <a:r>
              <a:rPr lang="de-DE" sz="1200" kern="1200" dirty="0" err="1">
                <a:solidFill>
                  <a:schemeClr val="tx1"/>
                </a:solidFill>
                <a:effectLst/>
                <a:latin typeface="+mn-lt"/>
                <a:ea typeface="+mn-ea"/>
                <a:cs typeface="+mn-cs"/>
              </a:rPr>
              <a:t>Frequency</a:t>
            </a:r>
            <a:r>
              <a:rPr lang="de-DE" sz="1200" kern="1200" dirty="0">
                <a:solidFill>
                  <a:schemeClr val="tx1"/>
                </a:solidFill>
                <a:effectLst/>
                <a:latin typeface="+mn-lt"/>
                <a:ea typeface="+mn-ea"/>
                <a:cs typeface="+mn-cs"/>
              </a:rPr>
              <a:t> — die Kaufhäufigkeit — signalisiert Loyalität des </a:t>
            </a:r>
            <a:r>
              <a:rPr lang="de-DE" sz="1200" kern="1200" dirty="0" err="1">
                <a:solidFill>
                  <a:schemeClr val="tx1"/>
                </a:solidFill>
                <a:effectLst/>
                <a:latin typeface="+mn-lt"/>
                <a:ea typeface="+mn-ea"/>
                <a:cs typeface="+mn-cs"/>
              </a:rPr>
              <a:t>Kundens</a:t>
            </a:r>
            <a:r>
              <a:rPr lang="de-DE" sz="1200" kern="1200" dirty="0">
                <a:solidFill>
                  <a:schemeClr val="tx1"/>
                </a:solidFill>
                <a:effectLst/>
                <a:latin typeface="+mn-lt"/>
                <a:ea typeface="+mn-ea"/>
                <a:cs typeface="+mn-cs"/>
              </a:rPr>
              <a:t>. </a:t>
            </a:r>
          </a:p>
          <a:p>
            <a:pPr lvl="0"/>
            <a:r>
              <a:rPr lang="de-DE" sz="1200" kern="1200" dirty="0" err="1">
                <a:solidFill>
                  <a:schemeClr val="tx1"/>
                </a:solidFill>
                <a:effectLst/>
                <a:latin typeface="+mn-lt"/>
                <a:ea typeface="+mn-ea"/>
                <a:cs typeface="+mn-cs"/>
              </a:rPr>
              <a:t>Monetary</a:t>
            </a:r>
            <a:r>
              <a:rPr lang="de-DE" sz="1200" kern="1200" dirty="0">
                <a:solidFill>
                  <a:schemeClr val="tx1"/>
                </a:solidFill>
                <a:effectLst/>
                <a:latin typeface="+mn-lt"/>
                <a:ea typeface="+mn-ea"/>
                <a:cs typeface="+mn-cs"/>
              </a:rPr>
              <a:t> — der Geldwert der Käufe — signalisiert den Wert.“</a:t>
            </a:r>
          </a:p>
          <a:p>
            <a:pPr lvl="0"/>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„Jede Dimension wird auf einer Skala von 1 bis 4 bewertet, der Gesamtscore von 3 bis 12 bestimmt das Segment — Champions, Loyal Customers, At Risk, Low Value-Kundengruppe.“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de-DE" sz="1200" kern="1200" dirty="0">
                <a:solidFill>
                  <a:schemeClr val="tx1"/>
                </a:solidFill>
                <a:effectLst/>
                <a:latin typeface="+mn-lt"/>
                <a:ea typeface="+mn-ea"/>
                <a:cs typeface="+mn-cs"/>
              </a:rPr>
              <a:t>„Nach der Neusegmentierung war es möglich, das Kundenverhalten zu analysieren und Handlungsempfehlungen abzuleiten.“</a:t>
            </a:r>
          </a:p>
          <a:p>
            <a:endParaRPr lang="de-DE" sz="1200" kern="1200" dirty="0">
              <a:solidFill>
                <a:schemeClr val="tx1"/>
              </a:solidFill>
              <a:effectLst/>
              <a:latin typeface="+mn-lt"/>
              <a:ea typeface="+mn-ea"/>
              <a:cs typeface="+mn-cs"/>
            </a:endParaRPr>
          </a:p>
          <a:p>
            <a:r>
              <a:rPr lang="de-DE" sz="1200" b="1" kern="1200" cap="all" dirty="0">
                <a:solidFill>
                  <a:schemeClr val="tx1"/>
                </a:solidFill>
                <a:effectLst/>
                <a:latin typeface="+mn-lt"/>
                <a:ea typeface="+mn-ea"/>
                <a:cs typeface="+mn-cs"/>
              </a:rPr>
              <a:t>[Kacheln]</a:t>
            </a:r>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„Wir haben insgesamt 1.500 Kunden, diese erzeugen $70,64M Dollar Gesamtumsatz, mit etwa $47.000 Dollar durchschnittlichem Umsatz pro Kunde über den Zeitraum von 7 Jahren.“</a:t>
            </a:r>
          </a:p>
          <a:p>
            <a:endParaRPr lang="de-DE" sz="1200" kern="1200" dirty="0">
              <a:solidFill>
                <a:schemeClr val="tx1"/>
              </a:solidFill>
              <a:effectLst/>
              <a:latin typeface="+mn-lt"/>
              <a:ea typeface="+mn-ea"/>
              <a:cs typeface="+mn-cs"/>
            </a:endParaRPr>
          </a:p>
          <a:p>
            <a:r>
              <a:rPr lang="de-DE" sz="1200" b="1" kern="1200" cap="all" dirty="0">
                <a:solidFill>
                  <a:schemeClr val="tx1"/>
                </a:solidFill>
                <a:effectLst/>
                <a:latin typeface="+mn-lt"/>
                <a:ea typeface="+mn-ea"/>
                <a:cs typeface="+mn-cs"/>
              </a:rPr>
              <a:t>[Tabelle]</a:t>
            </a:r>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„Champions bestehen aus 340 Kunden — ein Anteil von 22,7% von 1.500 Kunden — erwirtschaften aber 26,6% des Gesamtumsatzes.“</a:t>
            </a:r>
          </a:p>
          <a:p>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„Der Umsatzanteil in Prozent (Revenue Share %) allein sagt nichts darüber aus, ob das viel oder wenig ist. Erst der normierte Index in Spalte 6 zeigt: 1,17 bei Champions heißt konkret 17% mehr Umsatzanteil, als man bei rein proportionaler Verteilung nach Kundenzahl erwarten würde.“</a:t>
            </a:r>
          </a:p>
          <a:p>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„Die At-Risk-Gruppe hat 372 Kunden mit rückläufiger Aktivität, im Schnitt 44,4 Tage seit der letzten Bestellung — hier steckt ein Umsatzrisiko von $15,47M, wie die Card ganz rechts zeigt.“ – Es könnte einen Umsatzverlust für uns bedeuten, wenn wir nicht handeln und diese Kundengruppe zurückgewinnen.</a:t>
            </a:r>
          </a:p>
          <a:p>
            <a:endParaRPr lang="de-DE" sz="1200" kern="1200" dirty="0">
              <a:solidFill>
                <a:schemeClr val="tx1"/>
              </a:solidFill>
              <a:effectLst/>
              <a:latin typeface="+mn-lt"/>
              <a:ea typeface="+mn-ea"/>
              <a:cs typeface="+mn-cs"/>
            </a:endParaRPr>
          </a:p>
          <a:p>
            <a:r>
              <a:rPr lang="de-DE" sz="1200" b="1" kern="1200" cap="all" dirty="0">
                <a:solidFill>
                  <a:schemeClr val="tx1"/>
                </a:solidFill>
                <a:effectLst/>
                <a:latin typeface="+mn-lt"/>
                <a:ea typeface="+mn-ea"/>
                <a:cs typeface="+mn-cs"/>
              </a:rPr>
              <a:t>[</a:t>
            </a:r>
            <a:r>
              <a:rPr lang="de-DE" sz="1200" b="1" kern="1200" cap="all" dirty="0" err="1">
                <a:solidFill>
                  <a:schemeClr val="tx1"/>
                </a:solidFill>
                <a:effectLst/>
                <a:latin typeface="+mn-lt"/>
                <a:ea typeface="+mn-ea"/>
                <a:cs typeface="+mn-cs"/>
              </a:rPr>
              <a:t>Scatter</a:t>
            </a:r>
            <a:r>
              <a:rPr lang="de-DE" sz="1200" b="1" kern="1200" cap="all" dirty="0">
                <a:solidFill>
                  <a:schemeClr val="tx1"/>
                </a:solidFill>
                <a:effectLst/>
                <a:latin typeface="+mn-lt"/>
                <a:ea typeface="+mn-ea"/>
                <a:cs typeface="+mn-cs"/>
              </a:rPr>
              <a:t>]</a:t>
            </a:r>
            <a:endParaRPr lang="de-DE" sz="1200" kern="1200" dirty="0">
              <a:solidFill>
                <a:schemeClr val="tx1"/>
              </a:solidFill>
              <a:effectLst/>
              <a:latin typeface="+mn-lt"/>
              <a:ea typeface="+mn-ea"/>
              <a:cs typeface="+mn-cs"/>
            </a:endParaRPr>
          </a:p>
          <a:p>
            <a:r>
              <a:rPr lang="de-DE" dirty="0"/>
              <a:t>Der </a:t>
            </a:r>
            <a:r>
              <a:rPr lang="de-DE" dirty="0" err="1"/>
              <a:t>Scatter</a:t>
            </a:r>
            <a:r>
              <a:rPr lang="de-DE" dirty="0"/>
              <a:t>-Chart validiert die Segmentierung visuell: Bestellhäufigkeit (Order Count) und Bestellwert (Total </a:t>
            </a:r>
            <a:r>
              <a:rPr lang="de-DE" dirty="0" err="1"/>
              <a:t>Spend</a:t>
            </a:r>
            <a:r>
              <a:rPr lang="de-DE" dirty="0"/>
              <a:t>) stehen klar in Wechselbeziehung, und die vier Farb-Cluster sind sauber voneinander getrennt – ein Beleg, dass das RFM-Modell echte unterscheidbare Kundengruppen abbildet, statt Kunden zufällig zu verteilen.</a:t>
            </a:r>
          </a:p>
          <a:p>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Da uns hier nur zwei Achsen zur Verfügung stehen, haben wir die dritte Variable, </a:t>
            </a:r>
            <a:r>
              <a:rPr lang="de-DE" sz="1200" kern="1200" dirty="0" err="1">
                <a:solidFill>
                  <a:schemeClr val="tx1"/>
                </a:solidFill>
                <a:effectLst/>
                <a:latin typeface="+mn-lt"/>
                <a:ea typeface="+mn-ea"/>
                <a:cs typeface="+mn-cs"/>
              </a:rPr>
              <a:t>Recency</a:t>
            </a:r>
            <a:r>
              <a:rPr lang="de-DE" sz="1200" kern="1200" dirty="0">
                <a:solidFill>
                  <a:schemeClr val="tx1"/>
                </a:solidFill>
                <a:effectLst/>
                <a:latin typeface="+mn-lt"/>
                <a:ea typeface="+mn-ea"/>
                <a:cs typeface="+mn-cs"/>
              </a:rPr>
              <a:t>, als Bubble-Größe dargestellt: aktive Kunden mit kürzlich zurückliegendem Kauf bekommen eine große Bubble, inaktive eine kleine.“</a:t>
            </a:r>
          </a:p>
          <a:p>
            <a:endParaRPr lang="de-DE" sz="1200" kern="1200" dirty="0">
              <a:solidFill>
                <a:schemeClr val="tx1"/>
              </a:solidFill>
              <a:effectLst/>
              <a:latin typeface="+mn-lt"/>
              <a:ea typeface="+mn-ea"/>
              <a:cs typeface="+mn-cs"/>
            </a:endParaRPr>
          </a:p>
          <a:p>
            <a:r>
              <a:rPr lang="de-DE" sz="1200" b="1" kern="1200" cap="all" dirty="0">
                <a:solidFill>
                  <a:schemeClr val="tx1"/>
                </a:solidFill>
                <a:effectLst/>
                <a:latin typeface="+mn-lt"/>
                <a:ea typeface="+mn-ea"/>
                <a:cs typeface="+mn-cs"/>
              </a:rPr>
              <a:t>[Bar Chart </a:t>
            </a:r>
            <a:r>
              <a:rPr lang="de-DE" sz="1200" b="1" kern="1200" cap="all" dirty="0" err="1">
                <a:solidFill>
                  <a:schemeClr val="tx1"/>
                </a:solidFill>
                <a:effectLst/>
                <a:latin typeface="+mn-lt"/>
                <a:ea typeface="+mn-ea"/>
                <a:cs typeface="+mn-cs"/>
              </a:rPr>
              <a:t>Recency</a:t>
            </a:r>
            <a:r>
              <a:rPr lang="de-DE" sz="1200" b="1" kern="1200" cap="all" dirty="0">
                <a:solidFill>
                  <a:schemeClr val="tx1"/>
                </a:solidFill>
                <a:effectLst/>
                <a:latin typeface="+mn-lt"/>
                <a:ea typeface="+mn-ea"/>
                <a:cs typeface="+mn-cs"/>
              </a:rPr>
              <a:t>]</a:t>
            </a:r>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„Der deutlichste Beleg: Champions haben durchschnittlich 14 Tage seit dem letzten Kauf, Low Value 75 Tage — Champions kaufen also 5,5-mal aktueller ein. Das ist die Kennzahl, die ich operativ am wichtigsten finde, weil </a:t>
            </a:r>
            <a:r>
              <a:rPr lang="de-DE" sz="1200" kern="1200" dirty="0" err="1">
                <a:solidFill>
                  <a:schemeClr val="tx1"/>
                </a:solidFill>
                <a:effectLst/>
                <a:latin typeface="+mn-lt"/>
                <a:ea typeface="+mn-ea"/>
                <a:cs typeface="+mn-cs"/>
              </a:rPr>
              <a:t>Recency</a:t>
            </a:r>
            <a:r>
              <a:rPr lang="de-DE" sz="1200" kern="1200" dirty="0">
                <a:solidFill>
                  <a:schemeClr val="tx1"/>
                </a:solidFill>
                <a:effectLst/>
                <a:latin typeface="+mn-lt"/>
                <a:ea typeface="+mn-ea"/>
                <a:cs typeface="+mn-cs"/>
              </a:rPr>
              <a:t> – Die Aktualität des letzten Kaufs ein Frühwarnindikator für Abwanderung ist — noch bevor sich </a:t>
            </a:r>
            <a:r>
              <a:rPr lang="de-DE" sz="1200" kern="1200" dirty="0" err="1">
                <a:solidFill>
                  <a:schemeClr val="tx1"/>
                </a:solidFill>
                <a:effectLst/>
                <a:latin typeface="+mn-lt"/>
                <a:ea typeface="+mn-ea"/>
                <a:cs typeface="+mn-cs"/>
              </a:rPr>
              <a:t>Frequency</a:t>
            </a:r>
            <a:r>
              <a:rPr lang="de-DE" sz="1200" kern="1200" dirty="0">
                <a:solidFill>
                  <a:schemeClr val="tx1"/>
                </a:solidFill>
                <a:effectLst/>
                <a:latin typeface="+mn-lt"/>
                <a:ea typeface="+mn-ea"/>
                <a:cs typeface="+mn-cs"/>
              </a:rPr>
              <a:t> oder </a:t>
            </a:r>
            <a:r>
              <a:rPr lang="de-DE" sz="1200" kern="1200" dirty="0" err="1">
                <a:solidFill>
                  <a:schemeClr val="tx1"/>
                </a:solidFill>
                <a:effectLst/>
                <a:latin typeface="+mn-lt"/>
                <a:ea typeface="+mn-ea"/>
                <a:cs typeface="+mn-cs"/>
              </a:rPr>
              <a:t>Monetary</a:t>
            </a:r>
            <a:r>
              <a:rPr lang="de-DE" sz="1200" kern="1200" dirty="0">
                <a:solidFill>
                  <a:schemeClr val="tx1"/>
                </a:solidFill>
                <a:effectLst/>
                <a:latin typeface="+mn-lt"/>
                <a:ea typeface="+mn-ea"/>
                <a:cs typeface="+mn-cs"/>
              </a:rPr>
              <a:t> sichtbar verschlechtern.“</a:t>
            </a:r>
          </a:p>
          <a:p>
            <a:endParaRPr lang="de-DE" sz="1200" kern="1200" dirty="0">
              <a:solidFill>
                <a:schemeClr val="tx1"/>
              </a:solidFill>
              <a:effectLst/>
              <a:latin typeface="+mn-lt"/>
              <a:ea typeface="+mn-ea"/>
              <a:cs typeface="+mn-cs"/>
            </a:endParaRPr>
          </a:p>
          <a:p>
            <a:r>
              <a:rPr lang="de-DE" sz="1200" b="1" kern="1200" dirty="0">
                <a:solidFill>
                  <a:schemeClr val="tx1"/>
                </a:solidFill>
                <a:effectLst/>
                <a:latin typeface="+mn-lt"/>
                <a:ea typeface="+mn-ea"/>
                <a:cs typeface="+mn-cs"/>
              </a:rPr>
              <a:t>Interaktivitäten zeigen auf Balkendiagramm – Änderung der Card-Visuals</a:t>
            </a:r>
          </a:p>
          <a:p>
            <a:endParaRPr lang="de-DE" sz="1200" b="1" kern="1200" cap="all" dirty="0">
              <a:solidFill>
                <a:schemeClr val="tx1"/>
              </a:solidFill>
              <a:effectLst/>
              <a:latin typeface="+mn-lt"/>
              <a:ea typeface="+mn-ea"/>
              <a:cs typeface="+mn-cs"/>
            </a:endParaRPr>
          </a:p>
          <a:p>
            <a:r>
              <a:rPr lang="de-DE" sz="1200" b="1" kern="1200" cap="all" dirty="0">
                <a:solidFill>
                  <a:schemeClr val="tx1"/>
                </a:solidFill>
                <a:effectLst/>
                <a:latin typeface="+mn-lt"/>
                <a:ea typeface="+mn-ea"/>
                <a:cs typeface="+mn-cs"/>
              </a:rPr>
              <a:t>Handlungsempfehlung</a:t>
            </a:r>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„Daraus leite ich zwei Empfehlungen ab: At-Risk-Kunden sollten proaktiv reaktiviert werden, bevor sie in die Low-Value-Gruppe abrutschen — zum Beispiel über gezielte </a:t>
            </a:r>
            <a:r>
              <a:rPr lang="de-DE" sz="1200" kern="1200" dirty="0" err="1">
                <a:solidFill>
                  <a:schemeClr val="tx1"/>
                </a:solidFill>
                <a:effectLst/>
                <a:latin typeface="+mn-lt"/>
                <a:ea typeface="+mn-ea"/>
                <a:cs typeface="+mn-cs"/>
              </a:rPr>
              <a:t>Recency</a:t>
            </a:r>
            <a:r>
              <a:rPr lang="de-DE" sz="1200" kern="1200" dirty="0">
                <a:solidFill>
                  <a:schemeClr val="tx1"/>
                </a:solidFill>
                <a:effectLst/>
                <a:latin typeface="+mn-lt"/>
                <a:ea typeface="+mn-ea"/>
                <a:cs typeface="+mn-cs"/>
              </a:rPr>
              <a:t>-getriggerte Kampagnen mit personalisiertem Rabatt. Bei der Low-Value-Gruppe würde ich dagegen keine kostspieligen Marketing-Maßnahmen mehr einleiten, sondern das Budget auf At-Risk-Kunden fokussieren, wo die Rettungschance höher ist.“</a:t>
            </a:r>
          </a:p>
          <a:p>
            <a:endParaRPr lang="de-DE"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kern="1200" dirty="0">
                <a:solidFill>
                  <a:schemeClr val="tx1"/>
                </a:solidFill>
                <a:effectLst/>
                <a:latin typeface="+mn-lt"/>
                <a:ea typeface="+mn-ea"/>
                <a:cs typeface="+mn-cs"/>
              </a:rPr>
              <a:t>Übergang</a:t>
            </a:r>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„Wir wissen jetzt, wer unsere wertvollen Kunden sind.</a:t>
            </a:r>
          </a:p>
          <a:p>
            <a:r>
              <a:rPr lang="de-DE" sz="1200" kern="1200" dirty="0">
                <a:solidFill>
                  <a:schemeClr val="tx1"/>
                </a:solidFill>
                <a:effectLst/>
                <a:latin typeface="+mn-lt"/>
                <a:ea typeface="+mn-ea"/>
                <a:cs typeface="+mn-cs"/>
              </a:rPr>
              <a:t>Wir wollten auch wissen, ob die Verkaufszahlen selbst verlässlich sind — oder ob es Monate, Transaktionen oder Kategorien gibt, die aus dem Rahmen fallen.“</a:t>
            </a:r>
          </a:p>
          <a:p>
            <a:endParaRPr lang="de-DE" sz="1200" kern="1200" dirty="0">
              <a:solidFill>
                <a:schemeClr val="tx1"/>
              </a:solidFill>
              <a:effectLst/>
              <a:latin typeface="+mn-lt"/>
              <a:ea typeface="+mn-ea"/>
              <a:cs typeface="+mn-cs"/>
            </a:endParaRPr>
          </a:p>
          <a:p>
            <a:endParaRPr lang="de-DE" dirty="0"/>
          </a:p>
        </p:txBody>
      </p:sp>
    </p:spTree>
    <p:extLst>
      <p:ext uri="{BB962C8B-B14F-4D97-AF65-F5344CB8AC3E}">
        <p14:creationId xmlns:p14="http://schemas.microsoft.com/office/powerpoint/2010/main" val="18578317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kern="1200" dirty="0">
                <a:solidFill>
                  <a:schemeClr val="tx1"/>
                </a:solidFill>
                <a:effectLst/>
                <a:latin typeface="+mn-lt"/>
                <a:ea typeface="+mn-ea"/>
                <a:cs typeface="+mn-cs"/>
              </a:rPr>
              <a:t>Einen kurzen Einstieg in die Grundlage:</a:t>
            </a:r>
            <a:br>
              <a:rPr lang="de-DE" sz="1200" kern="1200" dirty="0">
                <a:solidFill>
                  <a:schemeClr val="tx1"/>
                </a:solidFill>
                <a:effectLst/>
                <a:latin typeface="+mn-lt"/>
                <a:ea typeface="+mn-ea"/>
                <a:cs typeface="+mn-cs"/>
              </a:rPr>
            </a:br>
            <a:br>
              <a:rPr lang="de-DE" sz="1200" kern="1200" dirty="0">
                <a:solidFill>
                  <a:schemeClr val="tx1"/>
                </a:solidFill>
                <a:effectLst/>
                <a:latin typeface="+mn-lt"/>
                <a:ea typeface="+mn-ea"/>
                <a:cs typeface="+mn-cs"/>
              </a:rPr>
            </a:br>
            <a:r>
              <a:rPr lang="de-DE" sz="1200" kern="1200" dirty="0">
                <a:solidFill>
                  <a:schemeClr val="tx1"/>
                </a:solidFill>
                <a:effectLst/>
                <a:latin typeface="+mn-lt"/>
                <a:ea typeface="+mn-ea"/>
                <a:cs typeface="+mn-cs"/>
              </a:rPr>
              <a:t>„Verkaufsdaten schwanken naturgemäß. </a:t>
            </a:r>
          </a:p>
          <a:p>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Ohne statistische Einordnung lässt sich nicht unterscheiden, ob eine Abweichung ein echtes Geschäftsereignis ist oder normales Rauschen. </a:t>
            </a:r>
          </a:p>
          <a:p>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Eine einzelne Methode reichte dabei nicht, weil jede Datenebene eine andere Verteilung hat:“</a:t>
            </a:r>
          </a:p>
          <a:p>
            <a:pPr lvl="0"/>
            <a:endParaRPr lang="de-DE" sz="1200" kern="1200" dirty="0">
              <a:solidFill>
                <a:schemeClr val="tx1"/>
              </a:solidFill>
              <a:effectLst/>
              <a:latin typeface="+mn-lt"/>
              <a:ea typeface="+mn-ea"/>
              <a:cs typeface="+mn-cs"/>
            </a:endParaRPr>
          </a:p>
          <a:p>
            <a:pPr lvl="0"/>
            <a:r>
              <a:rPr lang="de-DE" sz="1200" kern="1200" dirty="0">
                <a:solidFill>
                  <a:schemeClr val="tx1"/>
                </a:solidFill>
                <a:effectLst/>
                <a:latin typeface="+mn-lt"/>
                <a:ea typeface="+mn-ea"/>
                <a:cs typeface="+mn-cs"/>
              </a:rPr>
              <a:t>Auf </a:t>
            </a:r>
            <a:r>
              <a:rPr lang="de-DE" sz="1200" b="1" kern="1200" dirty="0">
                <a:solidFill>
                  <a:schemeClr val="tx1"/>
                </a:solidFill>
                <a:effectLst/>
                <a:latin typeface="+mn-lt"/>
                <a:ea typeface="+mn-ea"/>
                <a:cs typeface="+mn-cs"/>
              </a:rPr>
              <a:t>Monatsebene</a:t>
            </a:r>
            <a:r>
              <a:rPr lang="de-DE" sz="1200" kern="1200" dirty="0">
                <a:solidFill>
                  <a:schemeClr val="tx1"/>
                </a:solidFill>
                <a:effectLst/>
                <a:latin typeface="+mn-lt"/>
                <a:ea typeface="+mn-ea"/>
                <a:cs typeface="+mn-cs"/>
              </a:rPr>
              <a:t> sind die Werte annähernd normalverteilt – dafür passt die klassische Kontrollkarte und die Methode zwei Standardabweichung um den Mittelwert (plus/minus zwei Sigma) aus.</a:t>
            </a:r>
          </a:p>
          <a:p>
            <a:pPr lvl="0"/>
            <a:endParaRPr lang="de-DE" sz="1200" kern="1200" dirty="0">
              <a:solidFill>
                <a:schemeClr val="tx1"/>
              </a:solidFill>
              <a:effectLst/>
              <a:latin typeface="+mn-lt"/>
              <a:ea typeface="+mn-ea"/>
              <a:cs typeface="+mn-cs"/>
            </a:endParaRPr>
          </a:p>
          <a:p>
            <a:pPr lvl="0"/>
            <a:r>
              <a:rPr lang="de-DE" sz="1200" kern="1200" dirty="0">
                <a:solidFill>
                  <a:schemeClr val="tx1"/>
                </a:solidFill>
                <a:effectLst/>
                <a:latin typeface="+mn-lt"/>
                <a:ea typeface="+mn-ea"/>
                <a:cs typeface="+mn-cs"/>
              </a:rPr>
              <a:t>Auf </a:t>
            </a:r>
            <a:r>
              <a:rPr lang="de-DE" sz="1200" b="1" kern="1200" dirty="0">
                <a:solidFill>
                  <a:schemeClr val="tx1"/>
                </a:solidFill>
                <a:effectLst/>
                <a:latin typeface="+mn-lt"/>
                <a:ea typeface="+mn-ea"/>
                <a:cs typeface="+mn-cs"/>
              </a:rPr>
              <a:t>Transaktionsebene</a:t>
            </a:r>
            <a:r>
              <a:rPr lang="de-DE" sz="1200" kern="1200" dirty="0">
                <a:solidFill>
                  <a:schemeClr val="tx1"/>
                </a:solidFill>
                <a:effectLst/>
                <a:latin typeface="+mn-lt"/>
                <a:ea typeface="+mn-ea"/>
                <a:cs typeface="+mn-cs"/>
              </a:rPr>
              <a:t> ist die Verteilung stark rechtsschief – dort würde die Standardabweichung durch die Ausreißer selbst verzerrt, deshalb nutze ich die robustere IQR-Methode. (Interquartilsabstand)</a:t>
            </a:r>
          </a:p>
          <a:p>
            <a:pPr lvl="0"/>
            <a:endParaRPr lang="de-DE" sz="1200" kern="1200" dirty="0">
              <a:solidFill>
                <a:schemeClr val="tx1"/>
              </a:solidFill>
              <a:effectLst/>
              <a:latin typeface="+mn-lt"/>
              <a:ea typeface="+mn-ea"/>
              <a:cs typeface="+mn-cs"/>
            </a:endParaRPr>
          </a:p>
          <a:p>
            <a:pPr lvl="0"/>
            <a:r>
              <a:rPr lang="de-DE" sz="1200" kern="1200" dirty="0">
                <a:solidFill>
                  <a:schemeClr val="tx1"/>
                </a:solidFill>
                <a:effectLst/>
                <a:latin typeface="+mn-lt"/>
                <a:ea typeface="+mn-ea"/>
                <a:cs typeface="+mn-cs"/>
              </a:rPr>
              <a:t>Und auf </a:t>
            </a:r>
            <a:r>
              <a:rPr lang="de-DE" sz="1200" b="1" kern="1200" dirty="0">
                <a:solidFill>
                  <a:schemeClr val="tx1"/>
                </a:solidFill>
                <a:effectLst/>
                <a:latin typeface="+mn-lt"/>
                <a:ea typeface="+mn-ea"/>
                <a:cs typeface="+mn-cs"/>
              </a:rPr>
              <a:t>Kategorie-Ebene</a:t>
            </a:r>
            <a:r>
              <a:rPr lang="de-DE" sz="1200" kern="1200" dirty="0">
                <a:solidFill>
                  <a:schemeClr val="tx1"/>
                </a:solidFill>
                <a:effectLst/>
                <a:latin typeface="+mn-lt"/>
                <a:ea typeface="+mn-ea"/>
                <a:cs typeface="+mn-cs"/>
              </a:rPr>
              <a:t> vergleiche ich mit dem Variationskoeffizienten, weil er Streuung fair normiert, unabhängig vom absoluten Preisniveau der Kategorie."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de-DE" sz="1200" b="1" kern="1200" cap="all" dirty="0">
                <a:solidFill>
                  <a:schemeClr val="tx1"/>
                </a:solidFill>
                <a:effectLst/>
                <a:latin typeface="+mn-lt"/>
                <a:ea typeface="+mn-ea"/>
                <a:cs typeface="+mn-cs"/>
              </a:rPr>
              <a:t>[Kacheln]</a:t>
            </a:r>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„Von 84 Monaten, 7 Jahren, sind 3 Monate statistisch auffällig. </a:t>
            </a:r>
          </a:p>
          <a:p>
            <a:r>
              <a:rPr lang="de-DE" sz="1200" kern="1200" dirty="0">
                <a:solidFill>
                  <a:schemeClr val="tx1"/>
                </a:solidFill>
                <a:effectLst/>
                <a:latin typeface="+mn-lt"/>
                <a:ea typeface="+mn-ea"/>
                <a:cs typeface="+mn-cs"/>
              </a:rPr>
              <a:t>Von 100.000 Transaktionen liegen etwa 3.183 über der IQR-Grenze — das entspricht 3,18% aller Transaktionen. </a:t>
            </a:r>
          </a:p>
          <a:p>
            <a:r>
              <a:rPr lang="de-DE" sz="1200" kern="1200" dirty="0">
                <a:solidFill>
                  <a:schemeClr val="tx1"/>
                </a:solidFill>
                <a:effectLst/>
                <a:latin typeface="+mn-lt"/>
                <a:ea typeface="+mn-ea"/>
                <a:cs typeface="+mn-cs"/>
              </a:rPr>
              <a:t>Kitchen ist die Kategorie mit der höchsten relativen Streuung. </a:t>
            </a:r>
          </a:p>
          <a:p>
            <a:r>
              <a:rPr lang="de-DE" sz="1200" kern="1200" dirty="0">
                <a:solidFill>
                  <a:schemeClr val="tx1"/>
                </a:solidFill>
                <a:effectLst/>
                <a:latin typeface="+mn-lt"/>
                <a:ea typeface="+mn-ea"/>
                <a:cs typeface="+mn-cs"/>
              </a:rPr>
              <a:t>Das sind die drei Kernaussagen dieser Analyse.“</a:t>
            </a:r>
          </a:p>
          <a:p>
            <a:endParaRPr lang="de-DE" sz="1200" kern="1200" dirty="0">
              <a:solidFill>
                <a:schemeClr val="tx1"/>
              </a:solidFill>
              <a:effectLst/>
              <a:latin typeface="+mn-lt"/>
              <a:ea typeface="+mn-ea"/>
              <a:cs typeface="+mn-cs"/>
            </a:endParaRPr>
          </a:p>
          <a:p>
            <a:r>
              <a:rPr lang="de-DE" sz="1200" b="1" kern="1200" cap="all" dirty="0">
                <a:solidFill>
                  <a:schemeClr val="tx1"/>
                </a:solidFill>
                <a:effectLst/>
                <a:latin typeface="+mn-lt"/>
                <a:ea typeface="+mn-ea"/>
                <a:cs typeface="+mn-cs"/>
              </a:rPr>
              <a:t>[Line Chart]</a:t>
            </a:r>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„Die Kontrollkarte aka Liniendiagramm zeigt: </a:t>
            </a:r>
          </a:p>
          <a:p>
            <a:pPr lvl="0"/>
            <a:r>
              <a:rPr lang="de-DE" sz="1200" kern="1200" dirty="0">
                <a:solidFill>
                  <a:schemeClr val="tx1"/>
                </a:solidFill>
                <a:effectLst/>
                <a:latin typeface="+mn-lt"/>
                <a:ea typeface="+mn-ea"/>
                <a:cs typeface="+mn-cs"/>
              </a:rPr>
              <a:t>Februar 2018 und Februar 2023 liegen unter der 2σ-Untergrenze, </a:t>
            </a:r>
          </a:p>
          <a:p>
            <a:pPr lvl="0"/>
            <a:r>
              <a:rPr lang="de-DE" sz="1200" kern="1200" dirty="0">
                <a:solidFill>
                  <a:schemeClr val="tx1"/>
                </a:solidFill>
                <a:effectLst/>
                <a:latin typeface="+mn-lt"/>
                <a:ea typeface="+mn-ea"/>
                <a:cs typeface="+mn-cs"/>
              </a:rPr>
              <a:t>Dezember 2019 über der 2σ-Obergrenze. </a:t>
            </a:r>
          </a:p>
          <a:p>
            <a:pPr lvl="0"/>
            <a:endParaRPr lang="de-DE" sz="1200" kern="1200" dirty="0">
              <a:solidFill>
                <a:schemeClr val="tx1"/>
              </a:solidFill>
              <a:effectLst/>
              <a:latin typeface="+mn-lt"/>
              <a:ea typeface="+mn-ea"/>
              <a:cs typeface="+mn-cs"/>
            </a:endParaRPr>
          </a:p>
          <a:p>
            <a:pPr lvl="0"/>
            <a:r>
              <a:rPr lang="de-DE" sz="1200" kern="1200" dirty="0">
                <a:solidFill>
                  <a:schemeClr val="tx1"/>
                </a:solidFill>
                <a:effectLst/>
                <a:latin typeface="+mn-lt"/>
                <a:ea typeface="+mn-ea"/>
                <a:cs typeface="+mn-cs"/>
              </a:rPr>
              <a:t>Mit Bezug zu </a:t>
            </a:r>
            <a:r>
              <a:rPr lang="de-DE" sz="1200" kern="1200" dirty="0" err="1">
                <a:solidFill>
                  <a:schemeClr val="tx1"/>
                </a:solidFill>
                <a:effectLst/>
                <a:latin typeface="+mn-lt"/>
                <a:ea typeface="+mn-ea"/>
                <a:cs typeface="+mn-cs"/>
              </a:rPr>
              <a:t>Yannick‘s</a:t>
            </a:r>
            <a:r>
              <a:rPr lang="de-DE" sz="1200" kern="1200" dirty="0">
                <a:solidFill>
                  <a:schemeClr val="tx1"/>
                </a:solidFill>
                <a:effectLst/>
                <a:latin typeface="+mn-lt"/>
                <a:ea typeface="+mn-ea"/>
                <a:cs typeface="+mn-cs"/>
              </a:rPr>
              <a:t> Analyse, wir hatten von Yannick erfahren, dass die Kategorie </a:t>
            </a:r>
            <a:r>
              <a:rPr lang="de-DE" sz="1200" kern="1200" dirty="0" err="1">
                <a:solidFill>
                  <a:schemeClr val="tx1"/>
                </a:solidFill>
                <a:effectLst/>
                <a:latin typeface="+mn-lt"/>
                <a:ea typeface="+mn-ea"/>
                <a:cs typeface="+mn-cs"/>
              </a:rPr>
              <a:t>Furniture</a:t>
            </a:r>
            <a:r>
              <a:rPr lang="de-DE" sz="1200" kern="1200" dirty="0">
                <a:solidFill>
                  <a:schemeClr val="tx1"/>
                </a:solidFill>
                <a:effectLst/>
                <a:latin typeface="+mn-lt"/>
                <a:ea typeface="+mn-ea"/>
                <a:cs typeface="+mn-cs"/>
              </a:rPr>
              <a:t> über die Jahre ein negativen Umsatzwachstum verzeichnet und ganz besonders im Jahr 2023 mit -9%, </a:t>
            </a:r>
            <a:r>
              <a:rPr lang="de-DE" sz="1200" kern="1200" dirty="0" err="1">
                <a:solidFill>
                  <a:schemeClr val="tx1"/>
                </a:solidFill>
                <a:effectLst/>
                <a:latin typeface="+mn-lt"/>
                <a:ea typeface="+mn-ea"/>
                <a:cs typeface="+mn-cs"/>
              </a:rPr>
              <a:t>vllt</a:t>
            </a:r>
            <a:r>
              <a:rPr lang="de-DE" sz="1200" kern="1200" dirty="0">
                <a:solidFill>
                  <a:schemeClr val="tx1"/>
                </a:solidFill>
                <a:effectLst/>
                <a:latin typeface="+mn-lt"/>
                <a:ea typeface="+mn-ea"/>
                <a:cs typeface="+mn-cs"/>
              </a:rPr>
              <a:t> ist das der Grund warum wir hier diesen Ausreißer haben. Hier würde ich sagen, es lohnt sich tiefer zu schauen um diese Annahme zu belegen oder widerlegen.</a:t>
            </a:r>
          </a:p>
          <a:p>
            <a:pPr lvl="0"/>
            <a:endParaRPr lang="de-DE" sz="1200" kern="1200" dirty="0">
              <a:solidFill>
                <a:schemeClr val="tx1"/>
              </a:solidFill>
              <a:effectLst/>
              <a:latin typeface="+mn-lt"/>
              <a:ea typeface="+mn-ea"/>
              <a:cs typeface="+mn-cs"/>
            </a:endParaRPr>
          </a:p>
          <a:p>
            <a:pPr lvl="0"/>
            <a:r>
              <a:rPr lang="de-DE" sz="1200" kern="1200" dirty="0">
                <a:solidFill>
                  <a:schemeClr val="tx1"/>
                </a:solidFill>
                <a:effectLst/>
                <a:latin typeface="+mn-lt"/>
                <a:ea typeface="+mn-ea"/>
                <a:cs typeface="+mn-cs"/>
              </a:rPr>
              <a:t>Diese drei Ausreißer machen 3,6% aller Monate aus — bei echter Normalverteilung erwartet man bei zwei Sigma etwa 4,5%, also eine Konfidenz von 95%.“</a:t>
            </a:r>
          </a:p>
          <a:p>
            <a:pPr lvl="0"/>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„Das ist auch die Begründung, warum wir keine drei Sigma verwendet haben: Bei einem breiteren Toleranzband liegen weniger Messwerte außerhalb — in diesem Fall sogar keine einzige. </a:t>
            </a:r>
          </a:p>
          <a:p>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Die übrigen Schwankungen im Chart sind also größtenteils normales Rauschen, kein Krisensignal — das war für mich eine wichtige Erkenntnis, weil man ohne diese statistische Einordnung leicht jede Schwankung überinterpretiert.“ Man könnte gegebenenfalls immer noch herunterbrechen, aber für den Anfang würde ich mit diesen drei Punkten anfangen.</a:t>
            </a:r>
          </a:p>
          <a:p>
            <a:endParaRPr lang="de-DE" sz="1200" kern="1200" dirty="0">
              <a:solidFill>
                <a:schemeClr val="tx1"/>
              </a:solidFill>
              <a:effectLst/>
              <a:latin typeface="+mn-lt"/>
              <a:ea typeface="+mn-ea"/>
              <a:cs typeface="+mn-cs"/>
            </a:endParaRPr>
          </a:p>
          <a:p>
            <a:r>
              <a:rPr lang="de-DE" sz="1200" b="1" kern="1200" cap="all" dirty="0">
                <a:solidFill>
                  <a:schemeClr val="tx1"/>
                </a:solidFill>
                <a:effectLst/>
                <a:latin typeface="+mn-lt"/>
                <a:ea typeface="+mn-ea"/>
                <a:cs typeface="+mn-cs"/>
              </a:rPr>
              <a:t>[</a:t>
            </a:r>
            <a:r>
              <a:rPr lang="de-DE" sz="1200" b="1" kern="1200" cap="all" dirty="0" err="1">
                <a:solidFill>
                  <a:schemeClr val="tx1"/>
                </a:solidFill>
                <a:effectLst/>
                <a:latin typeface="+mn-lt"/>
                <a:ea typeface="+mn-ea"/>
                <a:cs typeface="+mn-cs"/>
              </a:rPr>
              <a:t>Histogram</a:t>
            </a:r>
            <a:r>
              <a:rPr lang="de-DE" sz="1200" b="1" kern="1200" cap="all" dirty="0">
                <a:solidFill>
                  <a:schemeClr val="tx1"/>
                </a:solidFill>
                <a:effectLst/>
                <a:latin typeface="+mn-lt"/>
                <a:ea typeface="+mn-ea"/>
                <a:cs typeface="+mn-cs"/>
              </a:rPr>
              <a:t>]</a:t>
            </a:r>
            <a:endParaRPr lang="de-DE" sz="1200" kern="1200" dirty="0">
              <a:solidFill>
                <a:schemeClr val="tx1"/>
              </a:solidFill>
              <a:effectLst/>
              <a:latin typeface="+mn-lt"/>
              <a:ea typeface="+mn-ea"/>
              <a:cs typeface="+mn-cs"/>
            </a:endParaRPr>
          </a:p>
          <a:p>
            <a:r>
              <a:rPr lang="de-DE" dirty="0"/>
              <a:t>"Median liegt bei $542, Mittelwert bei $706 — der Mittelwert liegt über dem Median, das bestätigt: </a:t>
            </a:r>
          </a:p>
          <a:p>
            <a:r>
              <a:rPr lang="de-DE" dirty="0"/>
              <a:t>die Verteilung ist stark rechtsschief, weil…</a:t>
            </a:r>
          </a:p>
          <a:p>
            <a:endParaRPr lang="de-DE" dirty="0"/>
          </a:p>
          <a:p>
            <a:r>
              <a:rPr lang="de-DE" dirty="0"/>
              <a:t>Links die Masse der Daten dicht beieinander sitzt, das ist unser erster, großer Kamelhöcker. </a:t>
            </a:r>
          </a:p>
          <a:p>
            <a:r>
              <a:rPr lang="de-DE" dirty="0"/>
              <a:t>Ab etwa $2K werden die Werte seltener, formen aber einen zweiten, kleineren Höcker, der sich bis $5K und darüber zieht.„</a:t>
            </a:r>
          </a:p>
          <a:p>
            <a:endParaRPr lang="de-DE" sz="1200" kern="1200" dirty="0">
              <a:solidFill>
                <a:schemeClr val="tx1"/>
              </a:solidFill>
              <a:effectLst/>
              <a:latin typeface="+mn-lt"/>
              <a:ea typeface="+mn-ea"/>
              <a:cs typeface="+mn-cs"/>
            </a:endParaRPr>
          </a:p>
          <a:p>
            <a:r>
              <a:rPr lang="de-DE" dirty="0"/>
              <a:t>"Die IQR-Obergrenze von $2.158 ergibt sich aus Q3 plus dem 1,5-fachen des Interquartilsabstands — also der Spanne zwischen Q1 und Q3 — der sogenannten Tukey-Regel.</a:t>
            </a:r>
          </a:p>
          <a:p>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3.183 Transaktionen liegen darüber — das sind vermutlich keine Fehler, sondern ein natürlicher zweiter Cluster, der vor allem aus höherpreisigen Kategorien stammen, wie sich gleich im </a:t>
            </a:r>
            <a:r>
              <a:rPr lang="de-DE" sz="1200" kern="1200" dirty="0" err="1">
                <a:solidFill>
                  <a:schemeClr val="tx1"/>
                </a:solidFill>
                <a:effectLst/>
                <a:latin typeface="+mn-lt"/>
                <a:ea typeface="+mn-ea"/>
                <a:cs typeface="+mn-cs"/>
              </a:rPr>
              <a:t>Kategorievergleich</a:t>
            </a:r>
            <a:r>
              <a:rPr lang="de-DE" sz="1200" kern="1200" dirty="0">
                <a:solidFill>
                  <a:schemeClr val="tx1"/>
                </a:solidFill>
                <a:effectLst/>
                <a:latin typeface="+mn-lt"/>
                <a:ea typeface="+mn-ea"/>
                <a:cs typeface="+mn-cs"/>
              </a:rPr>
              <a:t> zeigt.“</a:t>
            </a:r>
          </a:p>
          <a:p>
            <a:endParaRPr lang="de-DE" sz="1200" kern="1200" dirty="0">
              <a:solidFill>
                <a:schemeClr val="tx1"/>
              </a:solidFill>
              <a:effectLst/>
              <a:latin typeface="+mn-lt"/>
              <a:ea typeface="+mn-ea"/>
              <a:cs typeface="+mn-cs"/>
            </a:endParaRPr>
          </a:p>
          <a:p>
            <a:r>
              <a:rPr lang="de-DE" sz="1200" b="1" kern="1200" cap="all" dirty="0">
                <a:solidFill>
                  <a:schemeClr val="tx1"/>
                </a:solidFill>
                <a:effectLst/>
                <a:latin typeface="+mn-lt"/>
                <a:ea typeface="+mn-ea"/>
                <a:cs typeface="+mn-cs"/>
              </a:rPr>
              <a:t>[Tabelle + Bar Chart]</a:t>
            </a:r>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„Hier zeigen wir bewusst einen Kontrast: </a:t>
            </a:r>
            <a:r>
              <a:rPr lang="de-DE" sz="1200" kern="1200" dirty="0" err="1">
                <a:solidFill>
                  <a:schemeClr val="tx1"/>
                </a:solidFill>
                <a:effectLst/>
                <a:latin typeface="+mn-lt"/>
                <a:ea typeface="+mn-ea"/>
                <a:cs typeface="+mn-cs"/>
              </a:rPr>
              <a:t>Accessories</a:t>
            </a:r>
            <a:r>
              <a:rPr lang="de-DE" sz="1200" kern="1200" dirty="0">
                <a:solidFill>
                  <a:schemeClr val="tx1"/>
                </a:solidFill>
                <a:effectLst/>
                <a:latin typeface="+mn-lt"/>
                <a:ea typeface="+mn-ea"/>
                <a:cs typeface="+mn-cs"/>
              </a:rPr>
              <a:t> hat mit 810 die meisten Ausreißer-Transaktionen absolut, aber Kitchen hat mit 96,2% die höchste relative Streuung, den Variationskoeffizienten — der zeigt das Verhältnis von Standardabweichung zu Mittelwert. Hohe absolute </a:t>
            </a:r>
            <a:r>
              <a:rPr lang="de-DE" sz="1200" kern="1200" dirty="0" err="1">
                <a:solidFill>
                  <a:schemeClr val="tx1"/>
                </a:solidFill>
                <a:effectLst/>
                <a:latin typeface="+mn-lt"/>
                <a:ea typeface="+mn-ea"/>
                <a:cs typeface="+mn-cs"/>
              </a:rPr>
              <a:t>Ausreißerzahl</a:t>
            </a:r>
            <a:r>
              <a:rPr lang="de-DE" sz="1200" kern="1200" dirty="0">
                <a:solidFill>
                  <a:schemeClr val="tx1"/>
                </a:solidFill>
                <a:effectLst/>
                <a:latin typeface="+mn-lt"/>
                <a:ea typeface="+mn-ea"/>
                <a:cs typeface="+mn-cs"/>
              </a:rPr>
              <a:t> bedeutet also nicht automatisch eine volatile und unvorhersehbare Kategorie, aber bei einer hohen relativen Streuung schon.“</a:t>
            </a:r>
          </a:p>
          <a:p>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„Ich habe den Variationskoeffizienten statt der reinen Standardabweichung gewählt, weil unsere sechs Kategorien unterschiedliche Preisniveaus haben — Ein reiner Dollar-Vergleich würde teure Kategorien automatisch als instabiler erscheinen lassen, obwohl das nur am Preisniveau liegt — nicht an echter Unvorhersehbarkeit.„</a:t>
            </a:r>
          </a:p>
          <a:p>
            <a:endParaRPr lang="de-DE" sz="1200" kern="1200" dirty="0">
              <a:solidFill>
                <a:schemeClr val="tx1"/>
              </a:solidFill>
              <a:effectLst/>
              <a:latin typeface="+mn-lt"/>
              <a:ea typeface="+mn-ea"/>
              <a:cs typeface="+mn-cs"/>
            </a:endParaRPr>
          </a:p>
          <a:p>
            <a:r>
              <a:rPr lang="de-DE" sz="1200" b="1" kern="1200" cap="all" dirty="0">
                <a:solidFill>
                  <a:schemeClr val="tx1"/>
                </a:solidFill>
                <a:effectLst/>
                <a:latin typeface="+mn-lt"/>
                <a:ea typeface="+mn-ea"/>
                <a:cs typeface="+mn-cs"/>
              </a:rPr>
              <a:t>Handlungsempfehlung</a:t>
            </a:r>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„Für die Praxis heißt das: Kitchen braucht breitere Forecast-Intervalle und höhere Sicherheitsbestände als etwa </a:t>
            </a:r>
            <a:r>
              <a:rPr lang="de-DE" sz="1200" kern="1200" dirty="0" err="1">
                <a:solidFill>
                  <a:schemeClr val="tx1"/>
                </a:solidFill>
                <a:effectLst/>
                <a:latin typeface="+mn-lt"/>
                <a:ea typeface="+mn-ea"/>
                <a:cs typeface="+mn-cs"/>
              </a:rPr>
              <a:t>Furniture</a:t>
            </a:r>
            <a:r>
              <a:rPr lang="de-DE" sz="1200" kern="1200" dirty="0">
                <a:solidFill>
                  <a:schemeClr val="tx1"/>
                </a:solidFill>
                <a:effectLst/>
                <a:latin typeface="+mn-lt"/>
                <a:ea typeface="+mn-ea"/>
                <a:cs typeface="+mn-cs"/>
              </a:rPr>
              <a:t>, das deutlich stabiler ist. Und die drei identifizierten Monate verdienen eine inhaltliche Prüfung — etwa ob interne oder externe Ereignisse dahinterstecken, denn die Statistik grenzt nur den Suchraum ein, die eigentliche Erklärung braucht zusätzliches Fachwissen.“</a:t>
            </a:r>
          </a:p>
          <a:p>
            <a:pPr marL="0" marR="0" lvl="0" indent="0" algn="l" defTabSz="914400" rtl="0" eaLnBrk="1" fontAlgn="auto" latinLnBrk="0" hangingPunct="1">
              <a:lnSpc>
                <a:spcPct val="100000"/>
              </a:lnSpc>
              <a:spcBef>
                <a:spcPts val="0"/>
              </a:spcBef>
              <a:spcAft>
                <a:spcPts val="0"/>
              </a:spcAft>
              <a:buClrTx/>
              <a:buSzTx/>
              <a:buFontTx/>
              <a:buNone/>
              <a:tabLst/>
              <a:defRPr/>
            </a:pPr>
            <a:br>
              <a:rPr lang="de-DE" sz="1200" kern="1200" dirty="0">
                <a:solidFill>
                  <a:schemeClr val="tx1"/>
                </a:solidFill>
                <a:effectLst/>
                <a:latin typeface="+mn-lt"/>
                <a:ea typeface="+mn-ea"/>
                <a:cs typeface="+mn-cs"/>
              </a:rPr>
            </a:br>
            <a:endParaRPr lang="de-DE"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kern="1200" dirty="0">
                <a:solidFill>
                  <a:schemeClr val="tx1"/>
                </a:solidFill>
                <a:effectLst/>
                <a:latin typeface="+mn-lt"/>
                <a:ea typeface="+mn-ea"/>
                <a:cs typeface="+mn-cs"/>
              </a:rPr>
              <a:t>Fazit </a:t>
            </a:r>
            <a:br>
              <a:rPr lang="de-DE" sz="1200" kern="1200" dirty="0">
                <a:solidFill>
                  <a:schemeClr val="tx1"/>
                </a:solidFill>
                <a:effectLst/>
                <a:latin typeface="+mn-lt"/>
                <a:ea typeface="+mn-ea"/>
                <a:cs typeface="+mn-cs"/>
              </a:rPr>
            </a:br>
            <a:r>
              <a:rPr lang="de-DE" sz="1200" kern="1200" dirty="0">
                <a:solidFill>
                  <a:schemeClr val="tx1"/>
                </a:solidFill>
                <a:effectLst/>
                <a:latin typeface="+mn-lt"/>
                <a:ea typeface="+mn-ea"/>
                <a:cs typeface="+mn-cs"/>
              </a:rPr>
              <a:t>„Zusammengefasst: Beide Analysen ergänzen sich. Die Kundensegmentierung zeigt, wo der Wert im Geschäft steckt und wo Risiko droht. Die Anomalie-Analyse zeigt, wo die zugrundeliegenden Verkaufsdaten selbst verlässlich sind — und wo genauer hingeschaut werden sollte, bevor man Entscheidungen darauf aufbaut.“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Als Ausblick würde ich empfehlen, beide Analysen zu verknüpfen: zu prüfen, ob die anomalen Monate mit bestimmten Kundensegmenten korrelieren.“</a:t>
            </a:r>
          </a:p>
          <a:p>
            <a:endParaRPr lang="de-DE" sz="1200" kern="1200" dirty="0">
              <a:solidFill>
                <a:schemeClr val="tx1"/>
              </a:solidFill>
              <a:effectLst/>
              <a:latin typeface="+mn-lt"/>
              <a:ea typeface="+mn-ea"/>
              <a:cs typeface="+mn-cs"/>
            </a:endParaRPr>
          </a:p>
          <a:p>
            <a:endParaRPr lang="de-DE" dirty="0"/>
          </a:p>
        </p:txBody>
      </p:sp>
    </p:spTree>
    <p:extLst>
      <p:ext uri="{BB962C8B-B14F-4D97-AF65-F5344CB8AC3E}">
        <p14:creationId xmlns:p14="http://schemas.microsoft.com/office/powerpoint/2010/main" val="17293145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1/relationships/webextension" Target="../webextensions/webextension1.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microsoft.com/office/2011/relationships/webextension" Target="../webextensions/webextension2.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microsoft.com/office/2011/relationships/webextension" Target="../webextensions/webextension3.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3A57"/>
        </a:solidFill>
        <a:effectLst/>
      </p:bgPr>
    </p:bg>
    <p:spTree>
      <p:nvGrpSpPr>
        <p:cNvPr id="1" name=""/>
        <p:cNvGrpSpPr/>
        <p:nvPr/>
      </p:nvGrpSpPr>
      <p:grpSpPr>
        <a:xfrm>
          <a:off x="0" y="0"/>
          <a:ext cx="0" cy="0"/>
          <a:chOff x="0" y="0"/>
          <a:chExt cx="0" cy="0"/>
        </a:xfrm>
      </p:grpSpPr>
      <p:sp>
        <p:nvSpPr>
          <p:cNvPr id="2" name="Shape 0"/>
          <p:cNvSpPr/>
          <p:nvPr/>
        </p:nvSpPr>
        <p:spPr>
          <a:xfrm>
            <a:off x="8778240" y="5120640"/>
            <a:ext cx="82296" cy="82296"/>
          </a:xfrm>
          <a:prstGeom prst="ellipse">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8778240" y="5504688"/>
            <a:ext cx="82296" cy="82296"/>
          </a:xfrm>
          <a:prstGeom prst="ellipse">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778240" y="5888736"/>
            <a:ext cx="82296" cy="82296"/>
          </a:xfrm>
          <a:prstGeom prst="ellipse">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162288" y="5120640"/>
            <a:ext cx="82296" cy="82296"/>
          </a:xfrm>
          <a:prstGeom prst="ellipse">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9162288" y="5504688"/>
            <a:ext cx="82296" cy="82296"/>
          </a:xfrm>
          <a:prstGeom prst="ellipse">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9162288" y="5888736"/>
            <a:ext cx="82296" cy="82296"/>
          </a:xfrm>
          <a:prstGeom prst="ellipse">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9546336" y="5120640"/>
            <a:ext cx="82296" cy="82296"/>
          </a:xfrm>
          <a:prstGeom prst="ellipse">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9546336" y="5504688"/>
            <a:ext cx="82296" cy="82296"/>
          </a:xfrm>
          <a:prstGeom prst="ellipse">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9546336" y="5888736"/>
            <a:ext cx="82296" cy="82296"/>
          </a:xfrm>
          <a:prstGeom prst="ellipse">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9930384" y="5120640"/>
            <a:ext cx="82296" cy="82296"/>
          </a:xfrm>
          <a:prstGeom prst="ellipse">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9930384" y="5504688"/>
            <a:ext cx="82296" cy="82296"/>
          </a:xfrm>
          <a:prstGeom prst="ellipse">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9930384" y="5888736"/>
            <a:ext cx="82296" cy="82296"/>
          </a:xfrm>
          <a:prstGeom prst="ellipse">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10314432" y="5120640"/>
            <a:ext cx="82296" cy="82296"/>
          </a:xfrm>
          <a:prstGeom prst="ellipse">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10314432" y="5504688"/>
            <a:ext cx="82296" cy="82296"/>
          </a:xfrm>
          <a:prstGeom prst="ellipse">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10314432" y="5888736"/>
            <a:ext cx="82296" cy="82296"/>
          </a:xfrm>
          <a:prstGeom prst="ellipse">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10698480" y="5120640"/>
            <a:ext cx="82296" cy="82296"/>
          </a:xfrm>
          <a:prstGeom prst="ellipse">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10698480" y="5504688"/>
            <a:ext cx="82296" cy="82296"/>
          </a:xfrm>
          <a:prstGeom prst="ellipse">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10698480" y="5888736"/>
            <a:ext cx="82296" cy="82296"/>
          </a:xfrm>
          <a:prstGeom prst="ellipse">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731520" y="2331720"/>
            <a:ext cx="106984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200" normalizeH="0" baseline="0" noProof="0" dirty="0">
                <a:ln>
                  <a:noFill/>
                </a:ln>
                <a:solidFill>
                  <a:srgbClr val="CADCFC"/>
                </a:solidFill>
                <a:effectLst/>
                <a:uLnTx/>
                <a:uFillTx/>
                <a:latin typeface="Calibri" pitchFamily="34" charset="0"/>
                <a:ea typeface="Calibri" pitchFamily="34" charset="-122"/>
                <a:cs typeface="Calibri" pitchFamily="34" charset="-120"/>
              </a:rPr>
              <a:t>HOME &amp; LIFESTYLE RETAIL GROUP</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731520" y="2788920"/>
            <a:ext cx="1069848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Power BI </a:t>
            </a:r>
            <a:r>
              <a:rPr kumimoji="0" lang="en-US" sz="3400"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Cambria" pitchFamily="34" charset="-120"/>
              </a:rPr>
              <a:t>Abschlussprojekt</a:t>
            </a:r>
            <a:r>
              <a:rPr kumimoji="0" lang="en-US" sz="3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 - IHK</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731520" y="3977640"/>
            <a:ext cx="1069848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CADCFC"/>
                </a:solidFill>
                <a:effectLst/>
                <a:uLnTx/>
                <a:uFillTx/>
                <a:latin typeface="Calibri" pitchFamily="34" charset="0"/>
                <a:ea typeface="Calibri" pitchFamily="34" charset="-122"/>
                <a:cs typeface="Calibri" pitchFamily="34" charset="-120"/>
              </a:rPr>
              <a:t>Abschlusspräsentation</a:t>
            </a:r>
            <a:r>
              <a:rPr kumimoji="0" lang="en-US" sz="14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  |  Team: Axel Heilemann, Hong Ngan Ngo, Yannick Quast  |  13.08.2026</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365760"/>
            <a:ext cx="2377440" cy="310896"/>
          </a:xfrm>
          <a:prstGeom prst="roundRect">
            <a:avLst>
              <a:gd name="adj" fmla="val 50000"/>
            </a:avLst>
          </a:prstGeom>
          <a:solidFill>
            <a:srgbClr val="DCEEE9"/>
          </a:solidFill>
          <a:ln/>
        </p:spPr>
        <p:txBody>
          <a:bodyPr/>
          <a:lstStyle/>
          <a:p>
            <a:endParaRPr lang="de-DE"/>
          </a:p>
        </p:txBody>
      </p:sp>
      <p:sp>
        <p:nvSpPr>
          <p:cNvPr id="3" name="Text 1"/>
          <p:cNvSpPr/>
          <p:nvPr/>
        </p:nvSpPr>
        <p:spPr>
          <a:xfrm>
            <a:off x="457200" y="365760"/>
            <a:ext cx="2377440" cy="310896"/>
          </a:xfrm>
          <a:prstGeom prst="rect">
            <a:avLst/>
          </a:prstGeom>
          <a:noFill/>
          <a:ln/>
        </p:spPr>
        <p:txBody>
          <a:bodyPr wrap="square" rtlCol="0" anchor="ctr"/>
          <a:lstStyle/>
          <a:p>
            <a:pPr marL="0" indent="0" algn="ctr">
              <a:buNone/>
            </a:pPr>
            <a:r>
              <a:rPr lang="en-US" sz="1100" b="1" dirty="0">
                <a:solidFill>
                  <a:srgbClr val="0F6E56"/>
                </a:solidFill>
                <a:latin typeface="Calibri" pitchFamily="34" charset="0"/>
                <a:ea typeface="Calibri" pitchFamily="34" charset="-122"/>
                <a:cs typeface="Calibri" pitchFamily="34" charset="-120"/>
              </a:rPr>
              <a:t>AGENDA</a:t>
            </a:r>
            <a:endParaRPr lang="en-US" sz="1100" dirty="0"/>
          </a:p>
        </p:txBody>
      </p:sp>
      <p:sp>
        <p:nvSpPr>
          <p:cNvPr id="4" name="Text 2"/>
          <p:cNvSpPr/>
          <p:nvPr/>
        </p:nvSpPr>
        <p:spPr>
          <a:xfrm>
            <a:off x="457200" y="777240"/>
            <a:ext cx="11274552" cy="548640"/>
          </a:xfrm>
          <a:prstGeom prst="rect">
            <a:avLst/>
          </a:prstGeom>
          <a:noFill/>
          <a:ln/>
        </p:spPr>
        <p:txBody>
          <a:bodyPr wrap="square" rtlCol="0" anchor="ctr"/>
          <a:lstStyle/>
          <a:p>
            <a:pPr marL="0" indent="0">
              <a:buNone/>
            </a:pPr>
            <a:r>
              <a:rPr lang="en-US" sz="2800" b="1" dirty="0">
                <a:solidFill>
                  <a:srgbClr val="1B3A57"/>
                </a:solidFill>
                <a:latin typeface="Cambria" pitchFamily="34" charset="0"/>
                <a:ea typeface="Cambria" pitchFamily="34" charset="-122"/>
                <a:cs typeface="Cambria" pitchFamily="34" charset="-120"/>
              </a:rPr>
              <a:t>Ablauf der Präsentation</a:t>
            </a:r>
            <a:endParaRPr lang="en-US" sz="2800" dirty="0"/>
          </a:p>
        </p:txBody>
      </p:sp>
      <p:sp>
        <p:nvSpPr>
          <p:cNvPr id="5" name="Shape 3"/>
          <p:cNvSpPr/>
          <p:nvPr/>
        </p:nvSpPr>
        <p:spPr>
          <a:xfrm>
            <a:off x="457200" y="1874520"/>
            <a:ext cx="457200" cy="457200"/>
          </a:xfrm>
          <a:prstGeom prst="ellipse">
            <a:avLst/>
          </a:prstGeom>
          <a:solidFill>
            <a:srgbClr val="DCEEE9"/>
          </a:solidFill>
          <a:ln/>
        </p:spPr>
        <p:txBody>
          <a:bodyPr/>
          <a:lstStyle/>
          <a:p>
            <a:endParaRPr lang="de-DE"/>
          </a:p>
        </p:txBody>
      </p:sp>
      <p:sp>
        <p:nvSpPr>
          <p:cNvPr id="6" name="Text 4"/>
          <p:cNvSpPr/>
          <p:nvPr/>
        </p:nvSpPr>
        <p:spPr>
          <a:xfrm>
            <a:off x="457200" y="1874520"/>
            <a:ext cx="457200" cy="457200"/>
          </a:xfrm>
          <a:prstGeom prst="rect">
            <a:avLst/>
          </a:prstGeom>
          <a:noFill/>
          <a:ln/>
        </p:spPr>
        <p:txBody>
          <a:bodyPr wrap="square" rtlCol="0" anchor="ctr"/>
          <a:lstStyle/>
          <a:p>
            <a:pPr marL="0" indent="0" algn="ctr">
              <a:buNone/>
            </a:pPr>
            <a:r>
              <a:rPr lang="en-US" sz="1300" b="1" dirty="0">
                <a:solidFill>
                  <a:srgbClr val="0F6E56"/>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1143000" y="1819656"/>
            <a:ext cx="9601200" cy="365760"/>
          </a:xfrm>
          <a:prstGeom prst="rect">
            <a:avLst/>
          </a:prstGeom>
          <a:noFill/>
          <a:ln/>
        </p:spPr>
        <p:txBody>
          <a:bodyPr wrap="square" rtlCol="0" anchor="ctr"/>
          <a:lstStyle/>
          <a:p>
            <a:pPr marL="0" indent="0">
              <a:buNone/>
            </a:pPr>
            <a:r>
              <a:rPr lang="en-US" b="1" dirty="0">
                <a:solidFill>
                  <a:srgbClr val="1B3A57"/>
                </a:solidFill>
                <a:latin typeface="Calibri" pitchFamily="34" charset="0"/>
                <a:ea typeface="Calibri" pitchFamily="34" charset="-122"/>
                <a:cs typeface="Calibri" pitchFamily="34" charset="-120"/>
              </a:rPr>
              <a:t>Fachlicher Kontext &amp; Datensatz</a:t>
            </a:r>
            <a:endParaRPr lang="en-US" dirty="0"/>
          </a:p>
        </p:txBody>
      </p:sp>
      <p:sp>
        <p:nvSpPr>
          <p:cNvPr id="8" name="Text 6"/>
          <p:cNvSpPr/>
          <p:nvPr/>
        </p:nvSpPr>
        <p:spPr>
          <a:xfrm>
            <a:off x="1143000" y="2148841"/>
            <a:ext cx="9601200" cy="365760"/>
          </a:xfrm>
          <a:prstGeom prst="rect">
            <a:avLst/>
          </a:prstGeom>
          <a:noFill/>
          <a:ln/>
        </p:spPr>
        <p:txBody>
          <a:bodyPr wrap="square" rtlCol="0" anchor="ctr"/>
          <a:lstStyle/>
          <a:p>
            <a:pPr marL="0" indent="0">
              <a:buNone/>
            </a:pPr>
            <a:r>
              <a:rPr lang="en-US" sz="1400" dirty="0">
                <a:solidFill>
                  <a:srgbClr val="5B6472"/>
                </a:solidFill>
                <a:latin typeface="Calibri" pitchFamily="34" charset="0"/>
                <a:ea typeface="Calibri" pitchFamily="34" charset="-122"/>
                <a:cs typeface="Calibri" pitchFamily="34" charset="-120"/>
              </a:rPr>
              <a:t>Motivation, Zielgruppe, Datenbasis, zentrale Fragestellungen</a:t>
            </a:r>
            <a:endParaRPr lang="en-US" sz="1400" dirty="0"/>
          </a:p>
        </p:txBody>
      </p:sp>
      <p:sp>
        <p:nvSpPr>
          <p:cNvPr id="9" name="Shape 7"/>
          <p:cNvSpPr/>
          <p:nvPr/>
        </p:nvSpPr>
        <p:spPr>
          <a:xfrm>
            <a:off x="457200" y="2848355"/>
            <a:ext cx="457200" cy="457200"/>
          </a:xfrm>
          <a:prstGeom prst="ellipse">
            <a:avLst/>
          </a:prstGeom>
          <a:solidFill>
            <a:srgbClr val="DCEEE9"/>
          </a:solidFill>
          <a:ln/>
        </p:spPr>
        <p:txBody>
          <a:bodyPr/>
          <a:lstStyle/>
          <a:p>
            <a:endParaRPr lang="de-DE"/>
          </a:p>
        </p:txBody>
      </p:sp>
      <p:sp>
        <p:nvSpPr>
          <p:cNvPr id="10" name="Text 8"/>
          <p:cNvSpPr/>
          <p:nvPr/>
        </p:nvSpPr>
        <p:spPr>
          <a:xfrm>
            <a:off x="457200" y="2848355"/>
            <a:ext cx="457200" cy="457200"/>
          </a:xfrm>
          <a:prstGeom prst="rect">
            <a:avLst/>
          </a:prstGeom>
          <a:noFill/>
          <a:ln/>
        </p:spPr>
        <p:txBody>
          <a:bodyPr wrap="square" rtlCol="0" anchor="ctr"/>
          <a:lstStyle/>
          <a:p>
            <a:pPr marL="0" indent="0" algn="ctr">
              <a:buNone/>
            </a:pPr>
            <a:r>
              <a:rPr lang="en-US" sz="1300" b="1" dirty="0">
                <a:solidFill>
                  <a:srgbClr val="0F6E56"/>
                </a:solidFill>
                <a:latin typeface="Calibri" pitchFamily="34" charset="0"/>
                <a:ea typeface="Calibri" pitchFamily="34" charset="-122"/>
                <a:cs typeface="Calibri" pitchFamily="34" charset="-120"/>
              </a:rPr>
              <a:t>02</a:t>
            </a:r>
            <a:endParaRPr lang="en-US" sz="1300" dirty="0"/>
          </a:p>
        </p:txBody>
      </p:sp>
      <p:sp>
        <p:nvSpPr>
          <p:cNvPr id="11" name="Text 9"/>
          <p:cNvSpPr/>
          <p:nvPr/>
        </p:nvSpPr>
        <p:spPr>
          <a:xfrm>
            <a:off x="1143000" y="2793491"/>
            <a:ext cx="9601200" cy="365760"/>
          </a:xfrm>
          <a:prstGeom prst="rect">
            <a:avLst/>
          </a:prstGeom>
          <a:noFill/>
          <a:ln/>
        </p:spPr>
        <p:txBody>
          <a:bodyPr wrap="square" rtlCol="0" anchor="ctr"/>
          <a:lstStyle/>
          <a:p>
            <a:pPr marL="0" indent="0">
              <a:buNone/>
            </a:pPr>
            <a:r>
              <a:rPr lang="en-US" b="1" dirty="0">
                <a:solidFill>
                  <a:srgbClr val="1B3A57"/>
                </a:solidFill>
                <a:latin typeface="Calibri" pitchFamily="34" charset="0"/>
                <a:ea typeface="Calibri" pitchFamily="34" charset="-122"/>
                <a:cs typeface="Calibri" pitchFamily="34" charset="-120"/>
              </a:rPr>
              <a:t>Technologie-Stack &amp; Methodik</a:t>
            </a:r>
            <a:endParaRPr lang="en-US" dirty="0"/>
          </a:p>
        </p:txBody>
      </p:sp>
      <p:sp>
        <p:nvSpPr>
          <p:cNvPr id="12" name="Text 10"/>
          <p:cNvSpPr/>
          <p:nvPr/>
        </p:nvSpPr>
        <p:spPr>
          <a:xfrm>
            <a:off x="1143000" y="3122676"/>
            <a:ext cx="9601200" cy="365760"/>
          </a:xfrm>
          <a:prstGeom prst="rect">
            <a:avLst/>
          </a:prstGeom>
          <a:noFill/>
          <a:ln/>
        </p:spPr>
        <p:txBody>
          <a:bodyPr wrap="square" rtlCol="0" anchor="ctr"/>
          <a:lstStyle/>
          <a:p>
            <a:pPr marL="0" indent="0">
              <a:buNone/>
            </a:pPr>
            <a:r>
              <a:rPr lang="en-US" sz="1400" dirty="0">
                <a:solidFill>
                  <a:srgbClr val="5B6472"/>
                </a:solidFill>
                <a:latin typeface="Calibri" pitchFamily="34" charset="0"/>
                <a:ea typeface="Calibri" pitchFamily="34" charset="-122"/>
                <a:cs typeface="Calibri" pitchFamily="34" charset="-120"/>
              </a:rPr>
              <a:t>Sternschema, Power Query, DAX-Logik, Reproduzierbarkeit</a:t>
            </a:r>
            <a:endParaRPr lang="en-US" sz="1400" dirty="0"/>
          </a:p>
        </p:txBody>
      </p:sp>
      <p:sp>
        <p:nvSpPr>
          <p:cNvPr id="13" name="Shape 11"/>
          <p:cNvSpPr/>
          <p:nvPr/>
        </p:nvSpPr>
        <p:spPr>
          <a:xfrm>
            <a:off x="457200" y="3781044"/>
            <a:ext cx="457200" cy="457200"/>
          </a:xfrm>
          <a:prstGeom prst="ellipse">
            <a:avLst/>
          </a:prstGeom>
          <a:solidFill>
            <a:srgbClr val="DCEEE9"/>
          </a:solidFill>
          <a:ln/>
        </p:spPr>
        <p:txBody>
          <a:bodyPr/>
          <a:lstStyle/>
          <a:p>
            <a:endParaRPr lang="de-DE"/>
          </a:p>
        </p:txBody>
      </p:sp>
      <p:sp>
        <p:nvSpPr>
          <p:cNvPr id="14" name="Text 12"/>
          <p:cNvSpPr/>
          <p:nvPr/>
        </p:nvSpPr>
        <p:spPr>
          <a:xfrm>
            <a:off x="457200" y="3781044"/>
            <a:ext cx="457200" cy="457200"/>
          </a:xfrm>
          <a:prstGeom prst="rect">
            <a:avLst/>
          </a:prstGeom>
          <a:noFill/>
          <a:ln/>
        </p:spPr>
        <p:txBody>
          <a:bodyPr wrap="square" rtlCol="0" anchor="ctr"/>
          <a:lstStyle/>
          <a:p>
            <a:pPr marL="0" indent="0" algn="ctr">
              <a:buNone/>
            </a:pPr>
            <a:r>
              <a:rPr lang="en-US" sz="1300" b="1" dirty="0">
                <a:solidFill>
                  <a:srgbClr val="0F6E56"/>
                </a:solidFill>
                <a:latin typeface="Calibri" pitchFamily="34" charset="0"/>
                <a:ea typeface="Calibri" pitchFamily="34" charset="-122"/>
                <a:cs typeface="Calibri" pitchFamily="34" charset="-120"/>
              </a:rPr>
              <a:t>03</a:t>
            </a:r>
            <a:endParaRPr lang="en-US" sz="1300" dirty="0"/>
          </a:p>
        </p:txBody>
      </p:sp>
      <p:sp>
        <p:nvSpPr>
          <p:cNvPr id="15" name="Text 13"/>
          <p:cNvSpPr/>
          <p:nvPr/>
        </p:nvSpPr>
        <p:spPr>
          <a:xfrm>
            <a:off x="1143000" y="3726180"/>
            <a:ext cx="9601200" cy="365760"/>
          </a:xfrm>
          <a:prstGeom prst="rect">
            <a:avLst/>
          </a:prstGeom>
          <a:noFill/>
          <a:ln/>
        </p:spPr>
        <p:txBody>
          <a:bodyPr wrap="square" rtlCol="0" anchor="ctr"/>
          <a:lstStyle/>
          <a:p>
            <a:pPr marL="0" indent="0">
              <a:buNone/>
            </a:pPr>
            <a:r>
              <a:rPr lang="en-US" b="1" dirty="0">
                <a:solidFill>
                  <a:srgbClr val="1B3A57"/>
                </a:solidFill>
                <a:latin typeface="Calibri" pitchFamily="34" charset="0"/>
                <a:ea typeface="Calibri" pitchFamily="34" charset="-122"/>
                <a:cs typeface="Calibri" pitchFamily="34" charset="-120"/>
              </a:rPr>
              <a:t>Live-Demo im Power-BI-Report</a:t>
            </a:r>
            <a:endParaRPr lang="en-US" dirty="0"/>
          </a:p>
        </p:txBody>
      </p:sp>
      <p:sp>
        <p:nvSpPr>
          <p:cNvPr id="16" name="Text 14"/>
          <p:cNvSpPr/>
          <p:nvPr/>
        </p:nvSpPr>
        <p:spPr>
          <a:xfrm>
            <a:off x="1143000" y="4055365"/>
            <a:ext cx="9601200" cy="365760"/>
          </a:xfrm>
          <a:prstGeom prst="rect">
            <a:avLst/>
          </a:prstGeom>
          <a:noFill/>
          <a:ln/>
        </p:spPr>
        <p:txBody>
          <a:bodyPr wrap="square" rtlCol="0" anchor="ctr"/>
          <a:lstStyle/>
          <a:p>
            <a:pPr marL="0" indent="0">
              <a:buNone/>
            </a:pPr>
            <a:r>
              <a:rPr lang="en-US" sz="1400" dirty="0">
                <a:solidFill>
                  <a:srgbClr val="5B6472"/>
                </a:solidFill>
                <a:latin typeface="Calibri" pitchFamily="34" charset="0"/>
                <a:ea typeface="Calibri" pitchFamily="34" charset="-122"/>
                <a:cs typeface="Calibri" pitchFamily="34" charset="-120"/>
              </a:rPr>
              <a:t>Geführte Tour entlang des roten Fadens, Interaktivität</a:t>
            </a:r>
            <a:endParaRPr lang="en-US" sz="1400" dirty="0"/>
          </a:p>
        </p:txBody>
      </p:sp>
      <p:sp>
        <p:nvSpPr>
          <p:cNvPr id="17" name="Shape 15"/>
          <p:cNvSpPr/>
          <p:nvPr/>
        </p:nvSpPr>
        <p:spPr>
          <a:xfrm>
            <a:off x="457200" y="4759453"/>
            <a:ext cx="457200" cy="457200"/>
          </a:xfrm>
          <a:prstGeom prst="ellipse">
            <a:avLst/>
          </a:prstGeom>
          <a:solidFill>
            <a:srgbClr val="DCEEE9"/>
          </a:solidFill>
          <a:ln/>
        </p:spPr>
        <p:txBody>
          <a:bodyPr/>
          <a:lstStyle/>
          <a:p>
            <a:endParaRPr lang="de-DE"/>
          </a:p>
        </p:txBody>
      </p:sp>
      <p:sp>
        <p:nvSpPr>
          <p:cNvPr id="18" name="Text 16"/>
          <p:cNvSpPr/>
          <p:nvPr/>
        </p:nvSpPr>
        <p:spPr>
          <a:xfrm>
            <a:off x="457200" y="4759453"/>
            <a:ext cx="457200" cy="457200"/>
          </a:xfrm>
          <a:prstGeom prst="rect">
            <a:avLst/>
          </a:prstGeom>
          <a:noFill/>
          <a:ln/>
        </p:spPr>
        <p:txBody>
          <a:bodyPr wrap="square" rtlCol="0" anchor="ctr"/>
          <a:lstStyle/>
          <a:p>
            <a:pPr marL="0" indent="0" algn="ctr">
              <a:buNone/>
            </a:pPr>
            <a:r>
              <a:rPr lang="en-US" sz="1300" b="1" dirty="0">
                <a:solidFill>
                  <a:srgbClr val="0F6E56"/>
                </a:solidFill>
                <a:latin typeface="Calibri" pitchFamily="34" charset="0"/>
                <a:ea typeface="Calibri" pitchFamily="34" charset="-122"/>
                <a:cs typeface="Calibri" pitchFamily="34" charset="-120"/>
              </a:rPr>
              <a:t>04</a:t>
            </a:r>
            <a:endParaRPr lang="en-US" sz="1300" dirty="0"/>
          </a:p>
        </p:txBody>
      </p:sp>
      <p:sp>
        <p:nvSpPr>
          <p:cNvPr id="19" name="Text 17"/>
          <p:cNvSpPr/>
          <p:nvPr/>
        </p:nvSpPr>
        <p:spPr>
          <a:xfrm>
            <a:off x="1143000" y="4640581"/>
            <a:ext cx="9601200" cy="365760"/>
          </a:xfrm>
          <a:prstGeom prst="rect">
            <a:avLst/>
          </a:prstGeom>
          <a:noFill/>
          <a:ln/>
        </p:spPr>
        <p:txBody>
          <a:bodyPr wrap="square" rtlCol="0" anchor="ctr"/>
          <a:lstStyle/>
          <a:p>
            <a:pPr marL="0" indent="0">
              <a:buNone/>
            </a:pPr>
            <a:r>
              <a:rPr lang="en-US" b="1" dirty="0">
                <a:solidFill>
                  <a:srgbClr val="1B3A57"/>
                </a:solidFill>
                <a:latin typeface="Calibri" pitchFamily="34" charset="0"/>
                <a:ea typeface="Calibri" pitchFamily="34" charset="-122"/>
                <a:cs typeface="Calibri" pitchFamily="34" charset="-120"/>
              </a:rPr>
              <a:t>Management Summary &amp; Handlungsempfehlungen</a:t>
            </a:r>
            <a:endParaRPr lang="en-US" dirty="0"/>
          </a:p>
        </p:txBody>
      </p:sp>
      <p:sp>
        <p:nvSpPr>
          <p:cNvPr id="20" name="Text 18"/>
          <p:cNvSpPr/>
          <p:nvPr/>
        </p:nvSpPr>
        <p:spPr>
          <a:xfrm>
            <a:off x="1143000" y="4969766"/>
            <a:ext cx="9601200" cy="365760"/>
          </a:xfrm>
          <a:prstGeom prst="rect">
            <a:avLst/>
          </a:prstGeom>
          <a:noFill/>
          <a:ln/>
        </p:spPr>
        <p:txBody>
          <a:bodyPr wrap="square" rtlCol="0" anchor="ctr"/>
          <a:lstStyle/>
          <a:p>
            <a:pPr marL="0" indent="0">
              <a:buNone/>
            </a:pPr>
            <a:r>
              <a:rPr lang="en-US" sz="1400" dirty="0">
                <a:solidFill>
                  <a:srgbClr val="5B6472"/>
                </a:solidFill>
                <a:latin typeface="Calibri" pitchFamily="34" charset="0"/>
                <a:ea typeface="Calibri" pitchFamily="34" charset="-122"/>
                <a:cs typeface="Calibri" pitchFamily="34" charset="-120"/>
              </a:rPr>
              <a:t>Kernzahlen und konkrete Maßnahmen für die Geschäftsleitung</a:t>
            </a:r>
            <a:endParaRPr lang="en-US" sz="1400" dirty="0"/>
          </a:p>
        </p:txBody>
      </p:sp>
      <p:sp>
        <p:nvSpPr>
          <p:cNvPr id="25" name="Text 23"/>
          <p:cNvSpPr/>
          <p:nvPr/>
        </p:nvSpPr>
        <p:spPr>
          <a:xfrm>
            <a:off x="457200" y="6473952"/>
            <a:ext cx="8229600" cy="274320"/>
          </a:xfrm>
          <a:prstGeom prst="rect">
            <a:avLst/>
          </a:prstGeom>
          <a:noFill/>
          <a:ln/>
        </p:spPr>
        <p:txBody>
          <a:bodyPr wrap="square" rtlCol="0" anchor="ctr"/>
          <a:lstStyle/>
          <a:p>
            <a:pPr marL="0" indent="0">
              <a:buNone/>
            </a:pPr>
            <a:r>
              <a:rPr lang="en-US" sz="850" dirty="0">
                <a:solidFill>
                  <a:srgbClr val="5B6472"/>
                </a:solidFill>
                <a:latin typeface="Calibri" pitchFamily="34" charset="0"/>
                <a:ea typeface="Calibri" pitchFamily="34" charset="-122"/>
                <a:cs typeface="Calibri" pitchFamily="34" charset="-120"/>
              </a:rPr>
              <a:t>Home &amp; Lifestyle Retail Group  ·  Performance &amp; Insights Report</a:t>
            </a:r>
            <a:endParaRPr lang="en-US" sz="850" dirty="0"/>
          </a:p>
        </p:txBody>
      </p:sp>
      <p:sp>
        <p:nvSpPr>
          <p:cNvPr id="26" name="Text 24"/>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5B6472"/>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777240"/>
            <a:ext cx="11274552"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57"/>
                </a:solidFill>
                <a:effectLst/>
                <a:uLnTx/>
                <a:uFillTx/>
                <a:latin typeface="Cambria" pitchFamily="34" charset="0"/>
                <a:ea typeface="Cambria" pitchFamily="34" charset="-122"/>
                <a:cs typeface="Cambria" pitchFamily="34" charset="-120"/>
              </a:rPr>
              <a:t>Report-Struktur: der rote Faden</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98348" y="2468880"/>
            <a:ext cx="1481328" cy="960120"/>
          </a:xfrm>
          <a:prstGeom prst="roundRect">
            <a:avLst>
              <a:gd name="adj" fmla="val 7619"/>
            </a:avLst>
          </a:prstGeom>
          <a:solidFill>
            <a:srgbClr val="FFFFFF"/>
          </a:solidFill>
          <a:ln w="12700">
            <a:solidFill>
              <a:srgbClr val="DDE3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498348" y="2468880"/>
            <a:ext cx="1481328"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Management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Overview</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1979676" y="2944368"/>
            <a:ext cx="137160" cy="0"/>
          </a:xfrm>
          <a:prstGeom prst="line">
            <a:avLst/>
          </a:prstGeom>
          <a:noFill/>
          <a:ln w="15875">
            <a:solidFill>
              <a:srgbClr val="5B6472"/>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2116836" y="2468880"/>
            <a:ext cx="1481328" cy="960120"/>
          </a:xfrm>
          <a:prstGeom prst="roundRect">
            <a:avLst>
              <a:gd name="adj" fmla="val 7619"/>
            </a:avLst>
          </a:prstGeom>
          <a:solidFill>
            <a:srgbClr val="0F6E56"/>
          </a:solidFill>
          <a:ln w="12700">
            <a:solidFill>
              <a:srgbClr val="0F6E5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2116836" y="2468880"/>
            <a:ext cx="1481328"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Product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Analysis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3598164" y="2944368"/>
            <a:ext cx="137160" cy="0"/>
          </a:xfrm>
          <a:prstGeom prst="line">
            <a:avLst/>
          </a:prstGeom>
          <a:noFill/>
          <a:ln w="15875">
            <a:solidFill>
              <a:srgbClr val="5B6472"/>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3735324" y="2468880"/>
            <a:ext cx="1481328" cy="960120"/>
          </a:xfrm>
          <a:prstGeom prst="roundRect">
            <a:avLst>
              <a:gd name="adj" fmla="val 7619"/>
            </a:avLst>
          </a:prstGeom>
          <a:solidFill>
            <a:srgbClr val="0F6E56"/>
          </a:solidFill>
          <a:ln w="12700">
            <a:solidFill>
              <a:srgbClr val="0F6E5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3735324" y="2468880"/>
            <a:ext cx="1481328"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Yearly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Performance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8262257" y="2946463"/>
            <a:ext cx="328531" cy="0"/>
          </a:xfrm>
          <a:prstGeom prst="line">
            <a:avLst/>
          </a:prstGeom>
          <a:noFill/>
          <a:ln w="15875">
            <a:solidFill>
              <a:srgbClr val="5B6472"/>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8590788" y="2468880"/>
            <a:ext cx="1481328" cy="960120"/>
          </a:xfrm>
          <a:prstGeom prst="roundRect">
            <a:avLst>
              <a:gd name="adj" fmla="val 7619"/>
            </a:avLst>
          </a:prstGeom>
          <a:solidFill>
            <a:srgbClr val="0070C0"/>
          </a:solidFill>
          <a:ln w="12700">
            <a:solidFill>
              <a:srgbClr val="DDE3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8590788" y="2468880"/>
            <a:ext cx="1481328"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Sales Analysis</a:t>
            </a:r>
            <a:endParaRPr kumimoji="0" lang="en-US" sz="1050" b="0" i="0" u="none" strike="noStrike" kern="120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Region &amp; Channel</a:t>
            </a:r>
            <a:endParaRPr kumimoji="0" lang="en-US" sz="105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5" name="Shape 13"/>
          <p:cNvSpPr/>
          <p:nvPr/>
        </p:nvSpPr>
        <p:spPr>
          <a:xfrm>
            <a:off x="5216652" y="2944368"/>
            <a:ext cx="137160" cy="0"/>
          </a:xfrm>
          <a:prstGeom prst="line">
            <a:avLst/>
          </a:prstGeom>
          <a:noFill/>
          <a:ln w="15875">
            <a:solidFill>
              <a:srgbClr val="5B6472"/>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5353812" y="2468880"/>
            <a:ext cx="1481328" cy="960120"/>
          </a:xfrm>
          <a:prstGeom prst="roundRect">
            <a:avLst>
              <a:gd name="adj" fmla="val 7619"/>
            </a:avLst>
          </a:prstGeom>
          <a:solidFill>
            <a:srgbClr val="CC3399"/>
          </a:solidFill>
          <a:ln w="12700">
            <a:solidFill>
              <a:srgbClr val="DDE3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5353812" y="2468880"/>
            <a:ext cx="1481328"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Customer Value</a:t>
            </a:r>
            <a:endParaRPr kumimoji="0" lang="en-US" sz="1050" b="0" i="0" u="none" strike="noStrike" kern="120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&amp; Loyalty</a:t>
            </a:r>
            <a:endParaRPr kumimoji="0" lang="en-US" sz="105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8" name="Shape 16"/>
          <p:cNvSpPr/>
          <p:nvPr/>
        </p:nvSpPr>
        <p:spPr>
          <a:xfrm>
            <a:off x="6835140" y="2944368"/>
            <a:ext cx="137160" cy="0"/>
          </a:xfrm>
          <a:prstGeom prst="line">
            <a:avLst/>
          </a:prstGeom>
          <a:noFill/>
          <a:ln w="15875">
            <a:solidFill>
              <a:srgbClr val="5B6472"/>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6972300" y="2468880"/>
            <a:ext cx="1481328" cy="960120"/>
          </a:xfrm>
          <a:prstGeom prst="roundRect">
            <a:avLst>
              <a:gd name="adj" fmla="val 7619"/>
            </a:avLst>
          </a:prstGeom>
          <a:solidFill>
            <a:srgbClr val="CC3399"/>
          </a:solidFill>
          <a:ln w="12700">
            <a:solidFill>
              <a:srgbClr val="DDE3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972300" y="2468880"/>
            <a:ext cx="1481328"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Anomaly</a:t>
            </a:r>
            <a:endParaRPr kumimoji="0" lang="en-US" sz="1050" b="0" i="0" u="none" strike="noStrike" kern="120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Analysis</a:t>
            </a:r>
            <a:endParaRPr kumimoji="0" lang="en-US" sz="105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21" name="Shape 19"/>
          <p:cNvSpPr/>
          <p:nvPr/>
        </p:nvSpPr>
        <p:spPr>
          <a:xfrm>
            <a:off x="10072116" y="2944368"/>
            <a:ext cx="137160" cy="0"/>
          </a:xfrm>
          <a:prstGeom prst="line">
            <a:avLst/>
          </a:prstGeom>
          <a:noFill/>
          <a:ln w="15875">
            <a:solidFill>
              <a:srgbClr val="5B6472"/>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10209276" y="2468880"/>
            <a:ext cx="1481328" cy="960120"/>
          </a:xfrm>
          <a:prstGeom prst="roundRect">
            <a:avLst>
              <a:gd name="adj" fmla="val 7619"/>
            </a:avLst>
          </a:prstGeom>
          <a:solidFill>
            <a:srgbClr val="FFFFFF"/>
          </a:solidFill>
          <a:ln w="12700">
            <a:solidFill>
              <a:srgbClr val="DDE3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498348" y="3794760"/>
            <a:ext cx="256032" cy="219456"/>
          </a:xfrm>
          <a:prstGeom prst="roundRect">
            <a:avLst>
              <a:gd name="adj" fmla="val 20833"/>
            </a:avLst>
          </a:prstGeom>
          <a:solidFill>
            <a:srgbClr val="0F6E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864108" y="3767328"/>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B6472"/>
                </a:solidFill>
                <a:effectLst/>
                <a:uLnTx/>
                <a:uFillTx/>
                <a:latin typeface="Calibri" pitchFamily="34" charset="0"/>
                <a:ea typeface="Calibri" pitchFamily="34" charset="-122"/>
                <a:cs typeface="Calibri" pitchFamily="34" charset="-120"/>
              </a:rPr>
              <a:t>Yannick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416052" y="5010913"/>
            <a:ext cx="11274552" cy="731520"/>
          </a:xfrm>
          <a:prstGeom prst="rect">
            <a:avLst/>
          </a:prstGeom>
          <a:noFill/>
          <a:ln/>
        </p:spPr>
        <p:txBody>
          <a:bodyPr wrap="square" rtlCol="0" anchor="ct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Jede Seite beantwortet eine eigene Teilfrage und liefert eine Handlungsempfehlung – zusammen ergeben sie die vollständige Data Story.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457200" y="6473952"/>
            <a:ext cx="73152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B6472"/>
                </a:solidFill>
                <a:effectLst/>
                <a:uLnTx/>
                <a:uFillTx/>
                <a:latin typeface="Calibri" pitchFamily="34" charset="0"/>
                <a:ea typeface="Calibri" pitchFamily="34" charset="-122"/>
                <a:cs typeface="Calibri" pitchFamily="34" charset="-120"/>
              </a:rPr>
              <a:t>Home &amp; Lifestyle Retail Group</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11274552" y="6473952"/>
            <a:ext cx="4572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B6472"/>
                </a:solidFill>
                <a:effectLst/>
                <a:uLnTx/>
                <a:uFillTx/>
                <a:latin typeface="Calibri" pitchFamily="34" charset="0"/>
                <a:ea typeface="Calibri" pitchFamily="34" charset="-122"/>
                <a:cs typeface="Calibri" pitchFamily="34" charset="-120"/>
              </a:rPr>
              <a:t>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0">
            <a:extLst>
              <a:ext uri="{FF2B5EF4-FFF2-40B4-BE49-F238E27FC236}">
                <a16:creationId xmlns:a16="http://schemas.microsoft.com/office/drawing/2014/main" id="{1647B9C3-8601-1659-D4F1-2F24FD00C12A}"/>
              </a:ext>
            </a:extLst>
          </p:cNvPr>
          <p:cNvSpPr/>
          <p:nvPr/>
        </p:nvSpPr>
        <p:spPr>
          <a:xfrm>
            <a:off x="368969" y="466344"/>
            <a:ext cx="2377440" cy="310896"/>
          </a:xfrm>
          <a:prstGeom prst="roundRect">
            <a:avLst>
              <a:gd name="adj" fmla="val 50000"/>
            </a:avLst>
          </a:prstGeom>
          <a:solidFill>
            <a:srgbClr val="DCEEE9"/>
          </a:solidFill>
          <a:ln/>
        </p:spPr>
        <p:txBody>
          <a:bodyPr/>
          <a:lstStyle/>
          <a:p>
            <a:endParaRPr lang="de-DE"/>
          </a:p>
        </p:txBody>
      </p:sp>
      <p:sp>
        <p:nvSpPr>
          <p:cNvPr id="36" name="Text 1">
            <a:extLst>
              <a:ext uri="{FF2B5EF4-FFF2-40B4-BE49-F238E27FC236}">
                <a16:creationId xmlns:a16="http://schemas.microsoft.com/office/drawing/2014/main" id="{251DC3C8-3582-98F5-2802-5BE63864F8D8}"/>
              </a:ext>
            </a:extLst>
          </p:cNvPr>
          <p:cNvSpPr/>
          <p:nvPr/>
        </p:nvSpPr>
        <p:spPr>
          <a:xfrm>
            <a:off x="368969" y="438912"/>
            <a:ext cx="2377440" cy="310896"/>
          </a:xfrm>
          <a:prstGeom prst="rect">
            <a:avLst/>
          </a:prstGeom>
          <a:noFill/>
          <a:ln/>
        </p:spPr>
        <p:txBody>
          <a:bodyPr wrap="square" rtlCol="0" anchor="ctr"/>
          <a:lstStyle/>
          <a:p>
            <a:pPr marL="0" indent="0" algn="ctr">
              <a:buNone/>
            </a:pPr>
            <a:r>
              <a:rPr lang="en-US" sz="1100" b="1" dirty="0">
                <a:solidFill>
                  <a:srgbClr val="0F6E56"/>
                </a:solidFill>
                <a:latin typeface="Calibri" pitchFamily="34" charset="0"/>
                <a:ea typeface="Calibri" pitchFamily="34" charset="-122"/>
                <a:cs typeface="Calibri" pitchFamily="34" charset="-120"/>
              </a:rPr>
              <a:t>EINSTIEG &amp; FACHLICHER KONTEXT</a:t>
            </a:r>
            <a:endParaRPr lang="en-US" sz="1100" dirty="0"/>
          </a:p>
        </p:txBody>
      </p:sp>
      <p:sp>
        <p:nvSpPr>
          <p:cNvPr id="50" name="Shape 22">
            <a:extLst>
              <a:ext uri="{FF2B5EF4-FFF2-40B4-BE49-F238E27FC236}">
                <a16:creationId xmlns:a16="http://schemas.microsoft.com/office/drawing/2014/main" id="{ED0750DD-DDE2-1617-6838-67094EA363E2}"/>
              </a:ext>
            </a:extLst>
          </p:cNvPr>
          <p:cNvSpPr/>
          <p:nvPr/>
        </p:nvSpPr>
        <p:spPr>
          <a:xfrm>
            <a:off x="498348" y="4715257"/>
            <a:ext cx="256032" cy="219456"/>
          </a:xfrm>
          <a:prstGeom prst="roundRect">
            <a:avLst>
              <a:gd name="adj" fmla="val 20833"/>
            </a:avLst>
          </a:prstGeom>
          <a:solidFill>
            <a:srgbClr val="CC33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23">
            <a:extLst>
              <a:ext uri="{FF2B5EF4-FFF2-40B4-BE49-F238E27FC236}">
                <a16:creationId xmlns:a16="http://schemas.microsoft.com/office/drawing/2014/main" id="{9BB3D8D1-6F2D-9A32-1690-44F4718F554F}"/>
              </a:ext>
            </a:extLst>
          </p:cNvPr>
          <p:cNvSpPr/>
          <p:nvPr/>
        </p:nvSpPr>
        <p:spPr>
          <a:xfrm>
            <a:off x="864108" y="4687825"/>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B6472"/>
                </a:solidFill>
                <a:effectLst/>
                <a:uLnTx/>
                <a:uFillTx/>
                <a:latin typeface="Calibri" pitchFamily="34" charset="0"/>
                <a:ea typeface="Calibri" pitchFamily="34" charset="-122"/>
                <a:cs typeface="Calibri" pitchFamily="34" charset="-120"/>
              </a:rPr>
              <a:t>Ngan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Shape 22">
            <a:extLst>
              <a:ext uri="{FF2B5EF4-FFF2-40B4-BE49-F238E27FC236}">
                <a16:creationId xmlns:a16="http://schemas.microsoft.com/office/drawing/2014/main" id="{191A1C06-7A39-F1DB-3F32-2E36F112599D}"/>
              </a:ext>
            </a:extLst>
          </p:cNvPr>
          <p:cNvSpPr/>
          <p:nvPr/>
        </p:nvSpPr>
        <p:spPr>
          <a:xfrm>
            <a:off x="498348" y="4237524"/>
            <a:ext cx="256032" cy="219456"/>
          </a:xfrm>
          <a:prstGeom prst="roundRect">
            <a:avLst>
              <a:gd name="adj" fmla="val 20833"/>
            </a:avLst>
          </a:prstGeom>
          <a:solidFill>
            <a:srgbClr val="0070C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6" name="Text 23">
            <a:extLst>
              <a:ext uri="{FF2B5EF4-FFF2-40B4-BE49-F238E27FC236}">
                <a16:creationId xmlns:a16="http://schemas.microsoft.com/office/drawing/2014/main" id="{0116DBD7-E71F-1200-0C5C-87A9F2CE0CC9}"/>
              </a:ext>
            </a:extLst>
          </p:cNvPr>
          <p:cNvSpPr/>
          <p:nvPr/>
        </p:nvSpPr>
        <p:spPr>
          <a:xfrm>
            <a:off x="864108" y="4210092"/>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B6472"/>
                </a:solidFill>
                <a:effectLst/>
                <a:uLnTx/>
                <a:uFillTx/>
                <a:latin typeface="Calibri" pitchFamily="34" charset="0"/>
                <a:ea typeface="Calibri" pitchFamily="34" charset="-122"/>
                <a:cs typeface="Calibri" pitchFamily="34" charset="-120"/>
              </a:rPr>
              <a:t>Axel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11">
            <a:extLst>
              <a:ext uri="{FF2B5EF4-FFF2-40B4-BE49-F238E27FC236}">
                <a16:creationId xmlns:a16="http://schemas.microsoft.com/office/drawing/2014/main" id="{956B3EB2-96C8-01A6-8C9F-10B60DD796D9}"/>
              </a:ext>
            </a:extLst>
          </p:cNvPr>
          <p:cNvSpPr/>
          <p:nvPr/>
        </p:nvSpPr>
        <p:spPr>
          <a:xfrm>
            <a:off x="10209276" y="2468880"/>
            <a:ext cx="1481328" cy="960120"/>
          </a:xfrm>
          <a:prstGeom prst="roundRect">
            <a:avLst>
              <a:gd name="adj" fmla="val 7619"/>
            </a:avLst>
          </a:prstGeom>
          <a:solidFill>
            <a:srgbClr val="0070C0"/>
          </a:solidFill>
          <a:ln w="12700">
            <a:solidFill>
              <a:srgbClr val="DDE3E8"/>
            </a:solidFill>
            <a:prstDash val="solid"/>
          </a:ln>
        </p:spPr>
        <p:txBody>
          <a:bodyPr anchor="ctr"/>
          <a:lstStyle/>
          <a:p>
            <a:pPr algn="ctr">
              <a:defRPr/>
            </a:pPr>
            <a:r>
              <a:rPr lang="en-US" sz="1050" b="1" dirty="0">
                <a:solidFill>
                  <a:schemeClr val="bg1"/>
                </a:solidFill>
                <a:latin typeface="Calibri" pitchFamily="34" charset="0"/>
                <a:ea typeface="Calibri" pitchFamily="34" charset="-122"/>
                <a:cs typeface="Calibri" pitchFamily="34" charset="-120"/>
              </a:rPr>
              <a:t>What-If</a:t>
            </a:r>
          </a:p>
          <a:p>
            <a:pPr algn="ctr">
              <a:defRPr/>
            </a:pPr>
            <a:r>
              <a:rPr lang="en-US" sz="1050" b="1" dirty="0" err="1">
                <a:solidFill>
                  <a:schemeClr val="bg1"/>
                </a:solidFill>
                <a:latin typeface="Calibri" pitchFamily="34" charset="0"/>
                <a:ea typeface="Calibri" pitchFamily="34" charset="-122"/>
                <a:cs typeface="Calibri" pitchFamily="34" charset="-120"/>
              </a:rPr>
              <a:t>Analyse</a:t>
            </a:r>
            <a:endParaRPr lang="en-US" sz="1050" b="1" dirty="0">
              <a:solidFill>
                <a:schemeClr val="bg1"/>
              </a:solidFill>
              <a:latin typeface="Calibri" pitchFamily="34" charset="0"/>
              <a:ea typeface="Calibri" pitchFamily="34" charset="-122"/>
              <a:cs typeface="Calibri"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65760"/>
            <a:ext cx="2377440" cy="310896"/>
          </a:xfrm>
          <a:prstGeom prst="roundRect">
            <a:avLst>
              <a:gd name="adj" fmla="val 50000"/>
            </a:avLst>
          </a:prstGeom>
          <a:solidFill>
            <a:srgbClr val="DCEEE9"/>
          </a:solidFill>
          <a:ln/>
        </p:spPr>
        <p:txBody>
          <a:bodyPr/>
          <a:lstStyle/>
          <a:p>
            <a:endParaRPr lang="de-DE"/>
          </a:p>
        </p:txBody>
      </p:sp>
      <p:sp>
        <p:nvSpPr>
          <p:cNvPr id="3" name="Text 1"/>
          <p:cNvSpPr/>
          <p:nvPr/>
        </p:nvSpPr>
        <p:spPr>
          <a:xfrm>
            <a:off x="457200" y="365760"/>
            <a:ext cx="2377440" cy="310896"/>
          </a:xfrm>
          <a:prstGeom prst="rect">
            <a:avLst/>
          </a:prstGeom>
          <a:noFill/>
          <a:ln/>
        </p:spPr>
        <p:txBody>
          <a:bodyPr wrap="square" rtlCol="0" anchor="ctr"/>
          <a:lstStyle/>
          <a:p>
            <a:pPr marL="0" indent="0" algn="ctr">
              <a:buNone/>
            </a:pPr>
            <a:r>
              <a:rPr lang="en-US" sz="1100" b="1" dirty="0">
                <a:solidFill>
                  <a:srgbClr val="0F6E56"/>
                </a:solidFill>
                <a:latin typeface="Calibri" pitchFamily="34" charset="0"/>
                <a:ea typeface="Calibri" pitchFamily="34" charset="-122"/>
                <a:cs typeface="Calibri" pitchFamily="34" charset="-120"/>
              </a:rPr>
              <a:t>EINSTIEG &amp; FACHLICHER KONTEXT</a:t>
            </a:r>
            <a:endParaRPr lang="en-US" sz="1100" dirty="0"/>
          </a:p>
        </p:txBody>
      </p:sp>
      <p:sp>
        <p:nvSpPr>
          <p:cNvPr id="4" name="Text 2"/>
          <p:cNvSpPr/>
          <p:nvPr/>
        </p:nvSpPr>
        <p:spPr>
          <a:xfrm>
            <a:off x="457200" y="777240"/>
            <a:ext cx="11274552" cy="548640"/>
          </a:xfrm>
          <a:prstGeom prst="rect">
            <a:avLst/>
          </a:prstGeom>
          <a:noFill/>
          <a:ln/>
        </p:spPr>
        <p:txBody>
          <a:bodyPr wrap="square" rtlCol="0" anchor="ctr"/>
          <a:lstStyle/>
          <a:p>
            <a:pPr marL="0" indent="0">
              <a:buNone/>
            </a:pPr>
            <a:r>
              <a:rPr lang="en-US" sz="2800" b="1" dirty="0">
                <a:solidFill>
                  <a:srgbClr val="1B3A57"/>
                </a:solidFill>
                <a:latin typeface="Cambria" pitchFamily="34" charset="0"/>
                <a:ea typeface="Cambria" pitchFamily="34" charset="-122"/>
                <a:cs typeface="Cambria" pitchFamily="34" charset="-120"/>
              </a:rPr>
              <a:t>Motivation &amp; Zielgruppe</a:t>
            </a:r>
            <a:endParaRPr lang="en-US" sz="2800" dirty="0"/>
          </a:p>
        </p:txBody>
      </p:sp>
      <p:sp>
        <p:nvSpPr>
          <p:cNvPr id="5" name="Shape 3"/>
          <p:cNvSpPr/>
          <p:nvPr/>
        </p:nvSpPr>
        <p:spPr>
          <a:xfrm>
            <a:off x="457200" y="1828800"/>
            <a:ext cx="5120640" cy="4206240"/>
          </a:xfrm>
          <a:prstGeom prst="roundRect">
            <a:avLst>
              <a:gd name="adj" fmla="val 2174"/>
            </a:avLst>
          </a:prstGeom>
          <a:solidFill>
            <a:srgbClr val="1B3A57"/>
          </a:solidFill>
          <a:ln/>
        </p:spPr>
        <p:txBody>
          <a:bodyPr/>
          <a:lstStyle/>
          <a:p>
            <a:endParaRPr lang="de-DE"/>
          </a:p>
        </p:txBody>
      </p:sp>
      <p:sp>
        <p:nvSpPr>
          <p:cNvPr id="6" name="Text 4"/>
          <p:cNvSpPr/>
          <p:nvPr/>
        </p:nvSpPr>
        <p:spPr>
          <a:xfrm>
            <a:off x="731520" y="2011680"/>
            <a:ext cx="4572000" cy="320040"/>
          </a:xfrm>
          <a:prstGeom prst="rect">
            <a:avLst/>
          </a:prstGeom>
          <a:noFill/>
          <a:ln/>
        </p:spPr>
        <p:txBody>
          <a:bodyPr wrap="square"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Zielgruppe</a:t>
            </a:r>
            <a:endParaRPr lang="en-US" sz="1200" dirty="0"/>
          </a:p>
        </p:txBody>
      </p:sp>
      <p:sp>
        <p:nvSpPr>
          <p:cNvPr id="7" name="Text 5"/>
          <p:cNvSpPr/>
          <p:nvPr/>
        </p:nvSpPr>
        <p:spPr>
          <a:xfrm>
            <a:off x="731520" y="2377440"/>
            <a:ext cx="4572000" cy="45720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Head of Sales</a:t>
            </a:r>
            <a:endParaRPr lang="en-US" sz="2400" dirty="0"/>
          </a:p>
        </p:txBody>
      </p:sp>
      <p:sp>
        <p:nvSpPr>
          <p:cNvPr id="8" name="Text 6"/>
          <p:cNvSpPr/>
          <p:nvPr/>
        </p:nvSpPr>
        <p:spPr>
          <a:xfrm>
            <a:off x="731520" y="2834640"/>
            <a:ext cx="4572000" cy="320040"/>
          </a:xfrm>
          <a:prstGeom prst="rect">
            <a:avLst/>
          </a:prstGeom>
          <a:noFill/>
          <a:ln/>
        </p:spPr>
        <p:txBody>
          <a:bodyPr wrap="square" rtlCol="0" anchor="ctr"/>
          <a:lstStyle/>
          <a:p>
            <a:pPr marL="0" indent="0">
              <a:buNone/>
            </a:pPr>
            <a:r>
              <a:rPr lang="en-US" sz="1250" i="1" dirty="0">
                <a:solidFill>
                  <a:srgbClr val="CADCFC"/>
                </a:solidFill>
                <a:latin typeface="Calibri" pitchFamily="34" charset="0"/>
                <a:ea typeface="Calibri" pitchFamily="34" charset="-122"/>
                <a:cs typeface="Calibri" pitchFamily="34" charset="-120"/>
              </a:rPr>
              <a:t>Home &amp; Lifestyle Retail Group</a:t>
            </a:r>
            <a:endParaRPr lang="en-US" sz="1250" dirty="0"/>
          </a:p>
        </p:txBody>
      </p:sp>
      <p:sp>
        <p:nvSpPr>
          <p:cNvPr id="9" name="Text 7"/>
          <p:cNvSpPr/>
          <p:nvPr/>
        </p:nvSpPr>
        <p:spPr>
          <a:xfrm>
            <a:off x="731520" y="3128852"/>
            <a:ext cx="4572000" cy="1463040"/>
          </a:xfrm>
          <a:prstGeom prst="rect">
            <a:avLst/>
          </a:prstGeom>
          <a:noFill/>
          <a:ln/>
        </p:spPr>
        <p:txBody>
          <a:bodyPr wrap="square" rtlCol="0" anchor="ctr"/>
          <a:lstStyle/>
          <a:p>
            <a:pPr marL="0" indent="0">
              <a:lnSpc>
                <a:spcPts val="1900"/>
              </a:lnSpc>
              <a:buNone/>
            </a:pPr>
            <a:r>
              <a:rPr lang="en-US" sz="1600" dirty="0">
                <a:solidFill>
                  <a:srgbClr val="CADCFC"/>
                </a:solidFill>
                <a:latin typeface="Calibri" pitchFamily="34" charset="0"/>
                <a:ea typeface="Calibri" pitchFamily="34" charset="-122"/>
                <a:cs typeface="Calibri" pitchFamily="34" charset="-120"/>
              </a:rPr>
              <a:t>verantwortet Umsatz, Kanalstrategie, Kundenbindung und Sortimentssteuerung über 4 Vertriebskanäle und mehrere Länder hinweg.</a:t>
            </a:r>
            <a:endParaRPr lang="en-US" sz="1600" dirty="0"/>
          </a:p>
        </p:txBody>
      </p:sp>
      <p:sp>
        <p:nvSpPr>
          <p:cNvPr id="10" name="Text 8"/>
          <p:cNvSpPr/>
          <p:nvPr/>
        </p:nvSpPr>
        <p:spPr>
          <a:xfrm>
            <a:off x="5852160" y="1828800"/>
            <a:ext cx="5852160" cy="729916"/>
          </a:xfrm>
          <a:prstGeom prst="rect">
            <a:avLst/>
          </a:prstGeom>
          <a:noFill/>
          <a:ln/>
        </p:spPr>
        <p:txBody>
          <a:bodyPr wrap="square" rtlCol="0" anchor="ctr"/>
          <a:lstStyle/>
          <a:p>
            <a:pPr marL="0" indent="0">
              <a:buNone/>
            </a:pPr>
            <a:r>
              <a:rPr lang="en-US" sz="2400" b="1" dirty="0" err="1">
                <a:solidFill>
                  <a:srgbClr val="1B3A57"/>
                </a:solidFill>
                <a:latin typeface="Cambria" pitchFamily="34" charset="0"/>
                <a:ea typeface="Cambria" pitchFamily="34" charset="-122"/>
                <a:cs typeface="Cambria" pitchFamily="34" charset="-120"/>
              </a:rPr>
              <a:t>Kernfrage</a:t>
            </a:r>
            <a:endParaRPr lang="en-US" sz="2400" dirty="0"/>
          </a:p>
        </p:txBody>
      </p:sp>
      <p:sp>
        <p:nvSpPr>
          <p:cNvPr id="11" name="Text 9"/>
          <p:cNvSpPr/>
          <p:nvPr/>
        </p:nvSpPr>
        <p:spPr>
          <a:xfrm>
            <a:off x="5852160" y="2962173"/>
            <a:ext cx="5852160" cy="1535229"/>
          </a:xfrm>
          <a:prstGeom prst="rect">
            <a:avLst/>
          </a:prstGeom>
          <a:noFill/>
          <a:ln/>
        </p:spPr>
        <p:txBody>
          <a:bodyPr wrap="square" rtlCol="0" anchor="ctr"/>
          <a:lstStyle/>
          <a:p>
            <a:pPr marL="0" indent="0">
              <a:lnSpc>
                <a:spcPts val="2100"/>
              </a:lnSpc>
              <a:buNone/>
            </a:pPr>
            <a:r>
              <a:rPr lang="de-DE" sz="2000" i="1" dirty="0">
                <a:solidFill>
                  <a:srgbClr val="0F6E56"/>
                </a:solidFill>
                <a:latin typeface="Cambria" pitchFamily="34" charset="0"/>
                <a:ea typeface="Cambria" pitchFamily="34" charset="-122"/>
                <a:cs typeface="Cambria" pitchFamily="34" charset="-120"/>
              </a:rPr>
              <a:t>Wo liegen Umsatz-, Produkt- und Kundenpotenziale im Sortiment – und wo besteht akuter Handlungsbedarf?</a:t>
            </a:r>
          </a:p>
        </p:txBody>
      </p:sp>
      <p:sp>
        <p:nvSpPr>
          <p:cNvPr id="20" name="Text 18"/>
          <p:cNvSpPr/>
          <p:nvPr/>
        </p:nvSpPr>
        <p:spPr>
          <a:xfrm>
            <a:off x="457200" y="6473952"/>
            <a:ext cx="8229600" cy="274320"/>
          </a:xfrm>
          <a:prstGeom prst="rect">
            <a:avLst/>
          </a:prstGeom>
          <a:noFill/>
          <a:ln/>
        </p:spPr>
        <p:txBody>
          <a:bodyPr wrap="square" rtlCol="0" anchor="ctr"/>
          <a:lstStyle/>
          <a:p>
            <a:pPr marL="0" indent="0">
              <a:buNone/>
            </a:pPr>
            <a:r>
              <a:rPr lang="en-US" sz="850" dirty="0">
                <a:solidFill>
                  <a:srgbClr val="5B6472"/>
                </a:solidFill>
                <a:latin typeface="Calibri" pitchFamily="34" charset="0"/>
                <a:ea typeface="Calibri" pitchFamily="34" charset="-122"/>
                <a:cs typeface="Calibri" pitchFamily="34" charset="-120"/>
              </a:rPr>
              <a:t>Home &amp; Lifestyle Retail Group  ·  Performance &amp; Insights Report</a:t>
            </a:r>
            <a:endParaRPr lang="en-US" sz="850" dirty="0"/>
          </a:p>
        </p:txBody>
      </p:sp>
      <p:sp>
        <p:nvSpPr>
          <p:cNvPr id="21" name="Text 19"/>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5B6472"/>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65760"/>
            <a:ext cx="2377440" cy="310896"/>
          </a:xfrm>
          <a:prstGeom prst="roundRect">
            <a:avLst>
              <a:gd name="adj" fmla="val 50000"/>
            </a:avLst>
          </a:prstGeom>
          <a:solidFill>
            <a:srgbClr val="DCEEE9"/>
          </a:solidFill>
          <a:ln/>
        </p:spPr>
        <p:txBody>
          <a:bodyPr/>
          <a:lstStyle/>
          <a:p>
            <a:endParaRPr lang="de-DE"/>
          </a:p>
        </p:txBody>
      </p:sp>
      <p:sp>
        <p:nvSpPr>
          <p:cNvPr id="3" name="Text 1"/>
          <p:cNvSpPr/>
          <p:nvPr/>
        </p:nvSpPr>
        <p:spPr>
          <a:xfrm>
            <a:off x="457200" y="365760"/>
            <a:ext cx="2377440" cy="310896"/>
          </a:xfrm>
          <a:prstGeom prst="rect">
            <a:avLst/>
          </a:prstGeom>
          <a:noFill/>
          <a:ln/>
        </p:spPr>
        <p:txBody>
          <a:bodyPr wrap="square" rtlCol="0" anchor="ctr"/>
          <a:lstStyle/>
          <a:p>
            <a:pPr marL="0" indent="0" algn="ctr">
              <a:buNone/>
            </a:pPr>
            <a:r>
              <a:rPr lang="en-US" sz="1100" b="1" dirty="0">
                <a:solidFill>
                  <a:srgbClr val="0F6E56"/>
                </a:solidFill>
                <a:latin typeface="Calibri" pitchFamily="34" charset="0"/>
                <a:ea typeface="Calibri" pitchFamily="34" charset="-122"/>
                <a:cs typeface="Calibri" pitchFamily="34" charset="-120"/>
              </a:rPr>
              <a:t>EINSTIEG &amp; FACHLICHER KONTEXT</a:t>
            </a:r>
            <a:endParaRPr lang="en-US" sz="1100" dirty="0"/>
          </a:p>
        </p:txBody>
      </p:sp>
      <p:sp>
        <p:nvSpPr>
          <p:cNvPr id="4" name="Text 2"/>
          <p:cNvSpPr/>
          <p:nvPr/>
        </p:nvSpPr>
        <p:spPr>
          <a:xfrm>
            <a:off x="457200" y="777240"/>
            <a:ext cx="11274552" cy="548640"/>
          </a:xfrm>
          <a:prstGeom prst="rect">
            <a:avLst/>
          </a:prstGeom>
          <a:noFill/>
          <a:ln/>
        </p:spPr>
        <p:txBody>
          <a:bodyPr wrap="square" rtlCol="0" anchor="ctr"/>
          <a:lstStyle/>
          <a:p>
            <a:pPr marL="0" indent="0">
              <a:buNone/>
            </a:pPr>
            <a:r>
              <a:rPr lang="en-US" sz="2800" b="1" dirty="0">
                <a:solidFill>
                  <a:srgbClr val="1B3A57"/>
                </a:solidFill>
                <a:latin typeface="Cambria" pitchFamily="34" charset="0"/>
                <a:ea typeface="Cambria" pitchFamily="34" charset="-122"/>
                <a:cs typeface="Cambria" pitchFamily="34" charset="-120"/>
              </a:rPr>
              <a:t>Recherche &amp; Datensatz</a:t>
            </a:r>
            <a:endParaRPr lang="en-US" sz="2800" dirty="0"/>
          </a:p>
        </p:txBody>
      </p:sp>
      <p:sp>
        <p:nvSpPr>
          <p:cNvPr id="5" name="Shape 3"/>
          <p:cNvSpPr/>
          <p:nvPr/>
        </p:nvSpPr>
        <p:spPr>
          <a:xfrm>
            <a:off x="457200" y="1499616"/>
            <a:ext cx="2651760" cy="1371600"/>
          </a:xfrm>
          <a:prstGeom prst="roundRect">
            <a:avLst>
              <a:gd name="adj" fmla="val 6667"/>
            </a:avLst>
          </a:prstGeom>
          <a:solidFill>
            <a:srgbClr val="FFFFFF"/>
          </a:solidFill>
          <a:ln w="9525">
            <a:solidFill>
              <a:srgbClr val="DDE3E8"/>
            </a:solidFill>
            <a:prstDash val="solid"/>
          </a:ln>
        </p:spPr>
        <p:txBody>
          <a:bodyPr/>
          <a:lstStyle/>
          <a:p>
            <a:endParaRPr lang="de-DE"/>
          </a:p>
        </p:txBody>
      </p:sp>
      <p:sp>
        <p:nvSpPr>
          <p:cNvPr id="6" name="Text 4"/>
          <p:cNvSpPr/>
          <p:nvPr/>
        </p:nvSpPr>
        <p:spPr>
          <a:xfrm>
            <a:off x="594360" y="1609344"/>
            <a:ext cx="2377440" cy="502920"/>
          </a:xfrm>
          <a:prstGeom prst="rect">
            <a:avLst/>
          </a:prstGeom>
          <a:noFill/>
          <a:ln/>
        </p:spPr>
        <p:txBody>
          <a:bodyPr wrap="square" rtlCol="0" anchor="ctr"/>
          <a:lstStyle/>
          <a:p>
            <a:pPr marL="0" indent="0">
              <a:buNone/>
            </a:pPr>
            <a:r>
              <a:rPr lang="en-US" sz="2600" b="1" dirty="0">
                <a:solidFill>
                  <a:srgbClr val="0F6E56"/>
                </a:solidFill>
                <a:latin typeface="Cambria" pitchFamily="34" charset="0"/>
                <a:ea typeface="Cambria" pitchFamily="34" charset="-122"/>
                <a:cs typeface="Cambria" pitchFamily="34" charset="-120"/>
              </a:rPr>
              <a:t>6</a:t>
            </a:r>
            <a:endParaRPr lang="en-US" sz="2600" dirty="0"/>
          </a:p>
        </p:txBody>
      </p:sp>
      <p:sp>
        <p:nvSpPr>
          <p:cNvPr id="7" name="Text 5"/>
          <p:cNvSpPr/>
          <p:nvPr/>
        </p:nvSpPr>
        <p:spPr>
          <a:xfrm>
            <a:off x="594360" y="2103120"/>
            <a:ext cx="2377440" cy="274320"/>
          </a:xfrm>
          <a:prstGeom prst="rect">
            <a:avLst/>
          </a:prstGeom>
          <a:noFill/>
          <a:ln/>
        </p:spPr>
        <p:txBody>
          <a:bodyPr wrap="square" rtlCol="0" anchor="ctr"/>
          <a:lstStyle/>
          <a:p>
            <a:pPr marL="0" indent="0">
              <a:buNone/>
            </a:pPr>
            <a:r>
              <a:rPr lang="en-US" sz="1200" b="1" dirty="0">
                <a:solidFill>
                  <a:srgbClr val="1B3A57"/>
                </a:solidFill>
                <a:latin typeface="Calibri" pitchFamily="34" charset="0"/>
                <a:ea typeface="Calibri" pitchFamily="34" charset="-122"/>
                <a:cs typeface="Calibri" pitchFamily="34" charset="-120"/>
              </a:rPr>
              <a:t>Tabellen</a:t>
            </a:r>
            <a:endParaRPr lang="en-US" sz="1200" dirty="0"/>
          </a:p>
        </p:txBody>
      </p:sp>
      <p:sp>
        <p:nvSpPr>
          <p:cNvPr id="8" name="Text 6"/>
          <p:cNvSpPr/>
          <p:nvPr/>
        </p:nvSpPr>
        <p:spPr>
          <a:xfrm>
            <a:off x="594360" y="2395728"/>
            <a:ext cx="2377440" cy="411480"/>
          </a:xfrm>
          <a:prstGeom prst="rect">
            <a:avLst/>
          </a:prstGeom>
          <a:noFill/>
          <a:ln/>
        </p:spPr>
        <p:txBody>
          <a:bodyPr wrap="square" rtlCol="0" anchor="ctr"/>
          <a:lstStyle/>
          <a:p>
            <a:pPr marL="0" indent="0">
              <a:lnSpc>
                <a:spcPts val="1200"/>
              </a:lnSpc>
              <a:buNone/>
            </a:pPr>
            <a:r>
              <a:rPr lang="en-US" sz="950" dirty="0">
                <a:solidFill>
                  <a:srgbClr val="5B6472"/>
                </a:solidFill>
                <a:latin typeface="Calibri" pitchFamily="34" charset="0"/>
                <a:ea typeface="Calibri" pitchFamily="34" charset="-122"/>
                <a:cs typeface="Calibri" pitchFamily="34" charset="-120"/>
              </a:rPr>
              <a:t>1 Fakten- + 5 Dimensionstabellen</a:t>
            </a:r>
            <a:endParaRPr lang="en-US" sz="950" dirty="0"/>
          </a:p>
        </p:txBody>
      </p:sp>
      <p:sp>
        <p:nvSpPr>
          <p:cNvPr id="9" name="Shape 7"/>
          <p:cNvSpPr/>
          <p:nvPr/>
        </p:nvSpPr>
        <p:spPr>
          <a:xfrm>
            <a:off x="3273552" y="1499616"/>
            <a:ext cx="2651760" cy="1371600"/>
          </a:xfrm>
          <a:prstGeom prst="roundRect">
            <a:avLst>
              <a:gd name="adj" fmla="val 6667"/>
            </a:avLst>
          </a:prstGeom>
          <a:solidFill>
            <a:srgbClr val="FFFFFF"/>
          </a:solidFill>
          <a:ln w="9525">
            <a:solidFill>
              <a:srgbClr val="DDE3E8"/>
            </a:solidFill>
            <a:prstDash val="solid"/>
          </a:ln>
        </p:spPr>
        <p:txBody>
          <a:bodyPr/>
          <a:lstStyle/>
          <a:p>
            <a:endParaRPr lang="de-DE"/>
          </a:p>
        </p:txBody>
      </p:sp>
      <p:sp>
        <p:nvSpPr>
          <p:cNvPr id="10" name="Text 8"/>
          <p:cNvSpPr/>
          <p:nvPr/>
        </p:nvSpPr>
        <p:spPr>
          <a:xfrm>
            <a:off x="3410712" y="1609344"/>
            <a:ext cx="2377440" cy="502920"/>
          </a:xfrm>
          <a:prstGeom prst="rect">
            <a:avLst/>
          </a:prstGeom>
          <a:noFill/>
          <a:ln/>
        </p:spPr>
        <p:txBody>
          <a:bodyPr wrap="square" rtlCol="0" anchor="ctr"/>
          <a:lstStyle/>
          <a:p>
            <a:pPr marL="0" indent="0">
              <a:buNone/>
            </a:pPr>
            <a:r>
              <a:rPr lang="en-US" sz="2600" b="1" dirty="0">
                <a:solidFill>
                  <a:srgbClr val="0F6E56"/>
                </a:solidFill>
                <a:latin typeface="Cambria" pitchFamily="34" charset="0"/>
                <a:ea typeface="Cambria" pitchFamily="34" charset="-122"/>
                <a:cs typeface="Cambria" pitchFamily="34" charset="-120"/>
              </a:rPr>
              <a:t>7</a:t>
            </a:r>
            <a:endParaRPr lang="en-US" sz="2600" dirty="0"/>
          </a:p>
        </p:txBody>
      </p:sp>
      <p:sp>
        <p:nvSpPr>
          <p:cNvPr id="11" name="Text 9"/>
          <p:cNvSpPr/>
          <p:nvPr/>
        </p:nvSpPr>
        <p:spPr>
          <a:xfrm>
            <a:off x="3410712" y="2103120"/>
            <a:ext cx="2377440" cy="274320"/>
          </a:xfrm>
          <a:prstGeom prst="rect">
            <a:avLst/>
          </a:prstGeom>
          <a:noFill/>
          <a:ln/>
        </p:spPr>
        <p:txBody>
          <a:bodyPr wrap="square" rtlCol="0" anchor="ctr"/>
          <a:lstStyle/>
          <a:p>
            <a:pPr marL="0" indent="0">
              <a:buNone/>
            </a:pPr>
            <a:r>
              <a:rPr lang="en-US" sz="1200" b="1" dirty="0">
                <a:solidFill>
                  <a:srgbClr val="1B3A57"/>
                </a:solidFill>
                <a:latin typeface="Calibri" pitchFamily="34" charset="0"/>
                <a:ea typeface="Calibri" pitchFamily="34" charset="-122"/>
                <a:cs typeface="Calibri" pitchFamily="34" charset="-120"/>
              </a:rPr>
              <a:t>Jahre</a:t>
            </a:r>
            <a:endParaRPr lang="en-US" sz="1200" dirty="0"/>
          </a:p>
        </p:txBody>
      </p:sp>
      <p:sp>
        <p:nvSpPr>
          <p:cNvPr id="12" name="Text 10"/>
          <p:cNvSpPr/>
          <p:nvPr/>
        </p:nvSpPr>
        <p:spPr>
          <a:xfrm>
            <a:off x="3410712" y="2395728"/>
            <a:ext cx="2377440" cy="411480"/>
          </a:xfrm>
          <a:prstGeom prst="rect">
            <a:avLst/>
          </a:prstGeom>
          <a:noFill/>
          <a:ln/>
        </p:spPr>
        <p:txBody>
          <a:bodyPr wrap="square" rtlCol="0" anchor="ctr"/>
          <a:lstStyle/>
          <a:p>
            <a:pPr marL="0" indent="0">
              <a:lnSpc>
                <a:spcPts val="1200"/>
              </a:lnSpc>
              <a:buNone/>
            </a:pPr>
            <a:r>
              <a:rPr lang="en-US" sz="950" dirty="0">
                <a:solidFill>
                  <a:srgbClr val="5B6472"/>
                </a:solidFill>
                <a:latin typeface="Calibri" pitchFamily="34" charset="0"/>
                <a:ea typeface="Calibri" pitchFamily="34" charset="-122"/>
                <a:cs typeface="Calibri" pitchFamily="34" charset="-120"/>
              </a:rPr>
              <a:t>Zeitraum FY18 – FY24</a:t>
            </a:r>
            <a:endParaRPr lang="en-US" sz="950" dirty="0"/>
          </a:p>
        </p:txBody>
      </p:sp>
      <p:sp>
        <p:nvSpPr>
          <p:cNvPr id="13" name="Shape 11"/>
          <p:cNvSpPr/>
          <p:nvPr/>
        </p:nvSpPr>
        <p:spPr>
          <a:xfrm>
            <a:off x="6089904" y="1499616"/>
            <a:ext cx="2651760" cy="1371600"/>
          </a:xfrm>
          <a:prstGeom prst="roundRect">
            <a:avLst>
              <a:gd name="adj" fmla="val 6667"/>
            </a:avLst>
          </a:prstGeom>
          <a:solidFill>
            <a:srgbClr val="FFFFFF"/>
          </a:solidFill>
          <a:ln w="9525">
            <a:solidFill>
              <a:srgbClr val="DDE3E8"/>
            </a:solidFill>
            <a:prstDash val="solid"/>
          </a:ln>
        </p:spPr>
        <p:txBody>
          <a:bodyPr/>
          <a:lstStyle/>
          <a:p>
            <a:endParaRPr lang="de-DE"/>
          </a:p>
        </p:txBody>
      </p:sp>
      <p:sp>
        <p:nvSpPr>
          <p:cNvPr id="14" name="Text 12"/>
          <p:cNvSpPr/>
          <p:nvPr/>
        </p:nvSpPr>
        <p:spPr>
          <a:xfrm>
            <a:off x="6227064" y="1609344"/>
            <a:ext cx="2377440" cy="502920"/>
          </a:xfrm>
          <a:prstGeom prst="rect">
            <a:avLst/>
          </a:prstGeom>
          <a:noFill/>
          <a:ln/>
        </p:spPr>
        <p:txBody>
          <a:bodyPr wrap="square" rtlCol="0" anchor="ctr"/>
          <a:lstStyle/>
          <a:p>
            <a:pPr marL="0" indent="0">
              <a:buNone/>
            </a:pPr>
            <a:r>
              <a:rPr lang="en-US" sz="2600" b="1" dirty="0">
                <a:solidFill>
                  <a:srgbClr val="0F6E56"/>
                </a:solidFill>
                <a:latin typeface="Cambria" pitchFamily="34" charset="0"/>
                <a:ea typeface="Cambria" pitchFamily="34" charset="-122"/>
                <a:cs typeface="Cambria" pitchFamily="34" charset="-120"/>
              </a:rPr>
              <a:t>4</a:t>
            </a:r>
            <a:endParaRPr lang="en-US" sz="2600" dirty="0"/>
          </a:p>
        </p:txBody>
      </p:sp>
      <p:sp>
        <p:nvSpPr>
          <p:cNvPr id="15" name="Text 13"/>
          <p:cNvSpPr/>
          <p:nvPr/>
        </p:nvSpPr>
        <p:spPr>
          <a:xfrm>
            <a:off x="6227064" y="2103120"/>
            <a:ext cx="2377440" cy="274320"/>
          </a:xfrm>
          <a:prstGeom prst="rect">
            <a:avLst/>
          </a:prstGeom>
          <a:noFill/>
          <a:ln/>
        </p:spPr>
        <p:txBody>
          <a:bodyPr wrap="square" rtlCol="0" anchor="ctr"/>
          <a:lstStyle/>
          <a:p>
            <a:pPr marL="0" indent="0">
              <a:buNone/>
            </a:pPr>
            <a:r>
              <a:rPr lang="en-US" sz="1200" b="1" dirty="0">
                <a:solidFill>
                  <a:srgbClr val="1B3A57"/>
                </a:solidFill>
                <a:latin typeface="Calibri" pitchFamily="34" charset="0"/>
                <a:ea typeface="Calibri" pitchFamily="34" charset="-122"/>
                <a:cs typeface="Calibri" pitchFamily="34" charset="-120"/>
              </a:rPr>
              <a:t>Vertriebskanäle</a:t>
            </a:r>
            <a:endParaRPr lang="en-US" sz="1200" dirty="0"/>
          </a:p>
        </p:txBody>
      </p:sp>
      <p:sp>
        <p:nvSpPr>
          <p:cNvPr id="16" name="Text 14"/>
          <p:cNvSpPr/>
          <p:nvPr/>
        </p:nvSpPr>
        <p:spPr>
          <a:xfrm>
            <a:off x="6227064" y="2395728"/>
            <a:ext cx="2377440" cy="411480"/>
          </a:xfrm>
          <a:prstGeom prst="rect">
            <a:avLst/>
          </a:prstGeom>
          <a:noFill/>
          <a:ln/>
        </p:spPr>
        <p:txBody>
          <a:bodyPr wrap="square" rtlCol="0" anchor="ctr"/>
          <a:lstStyle/>
          <a:p>
            <a:pPr marL="0" indent="0">
              <a:lnSpc>
                <a:spcPts val="1200"/>
              </a:lnSpc>
              <a:buNone/>
            </a:pPr>
            <a:r>
              <a:rPr lang="en-US" sz="950" dirty="0">
                <a:solidFill>
                  <a:srgbClr val="5B6472"/>
                </a:solidFill>
                <a:latin typeface="Calibri" pitchFamily="34" charset="0"/>
                <a:ea typeface="Calibri" pitchFamily="34" charset="-122"/>
                <a:cs typeface="Calibri" pitchFamily="34" charset="-120"/>
              </a:rPr>
              <a:t>Partner · Retail · Online · Phone</a:t>
            </a:r>
            <a:endParaRPr lang="en-US" sz="950" dirty="0"/>
          </a:p>
        </p:txBody>
      </p:sp>
      <p:sp>
        <p:nvSpPr>
          <p:cNvPr id="17" name="Shape 15"/>
          <p:cNvSpPr/>
          <p:nvPr/>
        </p:nvSpPr>
        <p:spPr>
          <a:xfrm>
            <a:off x="8906256" y="1499616"/>
            <a:ext cx="2651760" cy="1371600"/>
          </a:xfrm>
          <a:prstGeom prst="roundRect">
            <a:avLst>
              <a:gd name="adj" fmla="val 6667"/>
            </a:avLst>
          </a:prstGeom>
          <a:solidFill>
            <a:srgbClr val="FFFFFF"/>
          </a:solidFill>
          <a:ln w="9525">
            <a:solidFill>
              <a:srgbClr val="DDE3E8"/>
            </a:solidFill>
            <a:prstDash val="solid"/>
          </a:ln>
        </p:spPr>
        <p:txBody>
          <a:bodyPr/>
          <a:lstStyle/>
          <a:p>
            <a:endParaRPr lang="de-DE"/>
          </a:p>
        </p:txBody>
      </p:sp>
      <p:sp>
        <p:nvSpPr>
          <p:cNvPr id="18" name="Text 16"/>
          <p:cNvSpPr/>
          <p:nvPr/>
        </p:nvSpPr>
        <p:spPr>
          <a:xfrm>
            <a:off x="9043416" y="1609344"/>
            <a:ext cx="2377440" cy="502920"/>
          </a:xfrm>
          <a:prstGeom prst="rect">
            <a:avLst/>
          </a:prstGeom>
          <a:noFill/>
          <a:ln/>
        </p:spPr>
        <p:txBody>
          <a:bodyPr wrap="square" rtlCol="0" anchor="ctr"/>
          <a:lstStyle/>
          <a:p>
            <a:pPr marL="0" indent="0">
              <a:buNone/>
            </a:pPr>
            <a:r>
              <a:rPr lang="en-US" sz="2600" b="1" dirty="0">
                <a:solidFill>
                  <a:srgbClr val="0F6E56"/>
                </a:solidFill>
                <a:latin typeface="Cambria" pitchFamily="34" charset="0"/>
                <a:ea typeface="Cambria" pitchFamily="34" charset="-122"/>
                <a:cs typeface="Cambria" pitchFamily="34" charset="-120"/>
              </a:rPr>
              <a:t>100.000</a:t>
            </a:r>
            <a:endParaRPr lang="en-US" sz="2600" dirty="0"/>
          </a:p>
        </p:txBody>
      </p:sp>
      <p:sp>
        <p:nvSpPr>
          <p:cNvPr id="19" name="Text 17"/>
          <p:cNvSpPr/>
          <p:nvPr/>
        </p:nvSpPr>
        <p:spPr>
          <a:xfrm>
            <a:off x="9043416" y="2103120"/>
            <a:ext cx="2377440" cy="274320"/>
          </a:xfrm>
          <a:prstGeom prst="rect">
            <a:avLst/>
          </a:prstGeom>
          <a:noFill/>
          <a:ln/>
        </p:spPr>
        <p:txBody>
          <a:bodyPr wrap="square" rtlCol="0" anchor="ctr"/>
          <a:lstStyle/>
          <a:p>
            <a:pPr marL="0" indent="0">
              <a:buNone/>
            </a:pPr>
            <a:r>
              <a:rPr lang="en-US" sz="1200" b="1" dirty="0" err="1">
                <a:solidFill>
                  <a:srgbClr val="1B3A57"/>
                </a:solidFill>
                <a:latin typeface="Calibri" pitchFamily="34" charset="0"/>
                <a:ea typeface="Calibri" pitchFamily="34" charset="-122"/>
                <a:cs typeface="Calibri" pitchFamily="34" charset="-120"/>
              </a:rPr>
              <a:t>Zeilen</a:t>
            </a:r>
            <a:endParaRPr lang="en-US" sz="1200" dirty="0"/>
          </a:p>
        </p:txBody>
      </p:sp>
      <p:sp>
        <p:nvSpPr>
          <p:cNvPr id="20" name="Text 18"/>
          <p:cNvSpPr/>
          <p:nvPr/>
        </p:nvSpPr>
        <p:spPr>
          <a:xfrm>
            <a:off x="9043416" y="2395728"/>
            <a:ext cx="2377440" cy="411480"/>
          </a:xfrm>
          <a:prstGeom prst="rect">
            <a:avLst/>
          </a:prstGeom>
          <a:noFill/>
          <a:ln/>
        </p:spPr>
        <p:txBody>
          <a:bodyPr wrap="square" rtlCol="0" anchor="ctr"/>
          <a:lstStyle/>
          <a:p>
            <a:pPr marL="0" indent="0">
              <a:lnSpc>
                <a:spcPts val="1200"/>
              </a:lnSpc>
              <a:buNone/>
            </a:pPr>
            <a:r>
              <a:rPr lang="en-US" sz="950" dirty="0">
                <a:solidFill>
                  <a:srgbClr val="5B6472"/>
                </a:solidFill>
                <a:latin typeface="Calibri" pitchFamily="34" charset="0"/>
                <a:ea typeface="Calibri" pitchFamily="34" charset="-122"/>
                <a:cs typeface="Calibri" pitchFamily="34" charset="-120"/>
              </a:rPr>
              <a:t>In der </a:t>
            </a:r>
            <a:r>
              <a:rPr lang="en-US" sz="950" dirty="0" err="1">
                <a:solidFill>
                  <a:srgbClr val="5B6472"/>
                </a:solidFill>
                <a:latin typeface="Calibri" pitchFamily="34" charset="0"/>
                <a:ea typeface="Calibri" pitchFamily="34" charset="-122"/>
                <a:cs typeface="Calibri" pitchFamily="34" charset="-120"/>
              </a:rPr>
              <a:t>Faktentabelle</a:t>
            </a:r>
            <a:endParaRPr lang="en-US" sz="950" dirty="0"/>
          </a:p>
        </p:txBody>
      </p:sp>
      <p:sp>
        <p:nvSpPr>
          <p:cNvPr id="21" name="Text 19"/>
          <p:cNvSpPr/>
          <p:nvPr/>
        </p:nvSpPr>
        <p:spPr>
          <a:xfrm>
            <a:off x="457200" y="2770632"/>
            <a:ext cx="11274552" cy="2624328"/>
          </a:xfrm>
          <a:prstGeom prst="rect">
            <a:avLst/>
          </a:prstGeom>
          <a:noFill/>
          <a:ln/>
        </p:spPr>
        <p:txBody>
          <a:bodyPr wrap="square" rtlCol="0" anchor="ctr"/>
          <a:lstStyle/>
          <a:p>
            <a:pPr marL="0" indent="0">
              <a:lnSpc>
                <a:spcPts val="2000"/>
              </a:lnSpc>
              <a:buNone/>
            </a:pPr>
            <a:r>
              <a:rPr lang="en-US" sz="1300" dirty="0">
                <a:solidFill>
                  <a:srgbClr val="002060"/>
                </a:solidFill>
                <a:latin typeface="Calibri" pitchFamily="34" charset="0"/>
                <a:ea typeface="Calibri" pitchFamily="34" charset="-122"/>
                <a:cs typeface="Calibri" pitchFamily="34" charset="-120"/>
              </a:rPr>
              <a:t>Quelle: Kaggle.com — eigenständig recherchiert und ausgewählt. </a:t>
            </a:r>
          </a:p>
          <a:p>
            <a:pPr marL="0" indent="0">
              <a:lnSpc>
                <a:spcPts val="2000"/>
              </a:lnSpc>
              <a:buNone/>
            </a:pPr>
            <a:r>
              <a:rPr lang="en-US" sz="1300" b="1" dirty="0">
                <a:solidFill>
                  <a:srgbClr val="002060"/>
                </a:solidFill>
                <a:latin typeface="Calibri" pitchFamily="34" charset="0"/>
                <a:ea typeface="Calibri" pitchFamily="34" charset="-122"/>
                <a:cs typeface="Calibri" pitchFamily="34" charset="-120"/>
              </a:rPr>
              <a:t>	</a:t>
            </a:r>
          </a:p>
          <a:p>
            <a:pPr marL="0" indent="0">
              <a:lnSpc>
                <a:spcPts val="2000"/>
              </a:lnSpc>
              <a:spcBef>
                <a:spcPts val="600"/>
              </a:spcBef>
              <a:buNone/>
            </a:pPr>
            <a:r>
              <a:rPr lang="en-US" sz="1300" b="1" dirty="0">
                <a:solidFill>
                  <a:srgbClr val="002060"/>
                </a:solidFill>
                <a:latin typeface="Calibri" pitchFamily="34" charset="0"/>
                <a:ea typeface="Calibri" pitchFamily="34" charset="-122"/>
                <a:cs typeface="Calibri" pitchFamily="34" charset="-120"/>
              </a:rPr>
              <a:t>	</a:t>
            </a:r>
            <a:r>
              <a:rPr lang="en-US" sz="1500" b="1" dirty="0">
                <a:solidFill>
                  <a:srgbClr val="002060"/>
                </a:solidFill>
                <a:latin typeface="Calibri" pitchFamily="34" charset="0"/>
                <a:ea typeface="Calibri" pitchFamily="34" charset="-122"/>
                <a:cs typeface="Calibri" pitchFamily="34" charset="-120"/>
              </a:rPr>
              <a:t>Home &amp; Lifestyle Retail Group: 	Ein </a:t>
            </a:r>
            <a:r>
              <a:rPr lang="en-US" sz="1500" b="1" dirty="0" err="1">
                <a:solidFill>
                  <a:srgbClr val="002060"/>
                </a:solidFill>
                <a:latin typeface="Calibri" pitchFamily="34" charset="0"/>
                <a:ea typeface="Calibri" pitchFamily="34" charset="-122"/>
                <a:cs typeface="Calibri" pitchFamily="34" charset="-120"/>
              </a:rPr>
              <a:t>mittelständisches</a:t>
            </a:r>
            <a:r>
              <a:rPr lang="en-US" sz="1500" b="1" dirty="0">
                <a:solidFill>
                  <a:srgbClr val="002060"/>
                </a:solidFill>
                <a:latin typeface="Calibri" pitchFamily="34" charset="0"/>
                <a:ea typeface="Calibri" pitchFamily="34" charset="-122"/>
                <a:cs typeface="Calibri" pitchFamily="34" charset="-120"/>
              </a:rPr>
              <a:t> </a:t>
            </a:r>
            <a:r>
              <a:rPr lang="en-US" sz="1500" b="1" dirty="0" err="1">
                <a:solidFill>
                  <a:srgbClr val="002060"/>
                </a:solidFill>
                <a:latin typeface="Calibri" pitchFamily="34" charset="0"/>
                <a:ea typeface="Calibri" pitchFamily="34" charset="-122"/>
                <a:cs typeface="Calibri" pitchFamily="34" charset="-120"/>
              </a:rPr>
              <a:t>fiktives</a:t>
            </a:r>
            <a:r>
              <a:rPr lang="en-US" sz="1500" b="1" dirty="0">
                <a:solidFill>
                  <a:srgbClr val="002060"/>
                </a:solidFill>
                <a:latin typeface="Calibri" pitchFamily="34" charset="0"/>
                <a:ea typeface="Calibri" pitchFamily="34" charset="-122"/>
                <a:cs typeface="Calibri" pitchFamily="34" charset="-120"/>
              </a:rPr>
              <a:t> Multi-</a:t>
            </a:r>
            <a:r>
              <a:rPr lang="en-US" sz="1500" b="1" dirty="0" err="1">
                <a:solidFill>
                  <a:srgbClr val="002060"/>
                </a:solidFill>
                <a:latin typeface="Calibri" pitchFamily="34" charset="0"/>
                <a:ea typeface="Calibri" pitchFamily="34" charset="-122"/>
                <a:cs typeface="Calibri" pitchFamily="34" charset="-120"/>
              </a:rPr>
              <a:t>Produkt</a:t>
            </a:r>
            <a:r>
              <a:rPr lang="en-US" sz="1500" b="1" dirty="0">
                <a:solidFill>
                  <a:srgbClr val="002060"/>
                </a:solidFill>
                <a:latin typeface="Calibri" pitchFamily="34" charset="0"/>
                <a:ea typeface="Calibri" pitchFamily="34" charset="-122"/>
                <a:cs typeface="Calibri" pitchFamily="34" charset="-120"/>
              </a:rPr>
              <a:t>-</a:t>
            </a:r>
            <a:r>
              <a:rPr lang="en-US" sz="1500" b="1" dirty="0" err="1">
                <a:solidFill>
                  <a:srgbClr val="002060"/>
                </a:solidFill>
                <a:latin typeface="Calibri" pitchFamily="34" charset="0"/>
                <a:ea typeface="Calibri" pitchFamily="34" charset="-122"/>
                <a:cs typeface="Calibri" pitchFamily="34" charset="-120"/>
              </a:rPr>
              <a:t>Unternehmen</a:t>
            </a:r>
            <a:endParaRPr lang="en-US" sz="1500" b="1" dirty="0">
              <a:solidFill>
                <a:srgbClr val="002060"/>
              </a:solidFill>
              <a:latin typeface="Calibri" pitchFamily="34" charset="0"/>
              <a:ea typeface="Calibri" pitchFamily="34" charset="-122"/>
              <a:cs typeface="Calibri" pitchFamily="34" charset="-120"/>
            </a:endParaRPr>
          </a:p>
          <a:p>
            <a:pPr marL="0" indent="0">
              <a:lnSpc>
                <a:spcPts val="2000"/>
              </a:lnSpc>
              <a:spcBef>
                <a:spcPts val="600"/>
              </a:spcBef>
              <a:buNone/>
            </a:pPr>
            <a:r>
              <a:rPr lang="en-US" sz="1300" dirty="0">
                <a:solidFill>
                  <a:srgbClr val="1F2937"/>
                </a:solidFill>
                <a:latin typeface="Calibri" pitchFamily="34" charset="0"/>
                <a:ea typeface="Calibri" pitchFamily="34" charset="-122"/>
                <a:cs typeface="Calibri" pitchFamily="34" charset="-120"/>
              </a:rPr>
              <a:t>		                    </a:t>
            </a:r>
            <a:r>
              <a:rPr lang="en-US" sz="1300" dirty="0" err="1">
                <a:solidFill>
                  <a:srgbClr val="1B3A57"/>
                </a:solidFill>
                <a:latin typeface="Calibri" pitchFamily="34" charset="0"/>
                <a:ea typeface="Calibri" pitchFamily="34" charset="-122"/>
                <a:cs typeface="Calibri" pitchFamily="34" charset="-120"/>
              </a:rPr>
              <a:t>Kategorien</a:t>
            </a:r>
            <a:r>
              <a:rPr lang="en-US" sz="1300" dirty="0">
                <a:solidFill>
                  <a:srgbClr val="1B3A57"/>
                </a:solidFill>
                <a:latin typeface="Calibri" pitchFamily="34" charset="0"/>
                <a:ea typeface="Calibri" pitchFamily="34" charset="-122"/>
                <a:cs typeface="Calibri" pitchFamily="34" charset="-120"/>
              </a:rPr>
              <a:t>: 	Accessories, </a:t>
            </a:r>
            <a:r>
              <a:rPr lang="en-US" sz="1300" dirty="0" err="1">
                <a:solidFill>
                  <a:srgbClr val="1B3A57"/>
                </a:solidFill>
                <a:latin typeface="Calibri" pitchFamily="34" charset="0"/>
                <a:ea typeface="Calibri" pitchFamily="34" charset="-122"/>
                <a:cs typeface="Calibri" pitchFamily="34" charset="-120"/>
              </a:rPr>
              <a:t>Clothings</a:t>
            </a:r>
            <a:r>
              <a:rPr lang="en-US" sz="1300" dirty="0">
                <a:solidFill>
                  <a:srgbClr val="1B3A57"/>
                </a:solidFill>
                <a:latin typeface="Calibri" pitchFamily="34" charset="0"/>
                <a:ea typeface="Calibri" pitchFamily="34" charset="-122"/>
                <a:cs typeface="Calibri" pitchFamily="34" charset="-120"/>
              </a:rPr>
              <a:t>, Electronics, Kitchen, Outdoors, Furniture</a:t>
            </a:r>
          </a:p>
          <a:p>
            <a:pPr>
              <a:lnSpc>
                <a:spcPts val="2000"/>
              </a:lnSpc>
            </a:pPr>
            <a:endParaRPr lang="en-US" sz="1300" b="1" dirty="0">
              <a:solidFill>
                <a:srgbClr val="002060"/>
              </a:solidFill>
              <a:latin typeface="Calibri" pitchFamily="34" charset="0"/>
              <a:ea typeface="Calibri" pitchFamily="34" charset="-122"/>
              <a:cs typeface="Calibri" pitchFamily="34" charset="-120"/>
            </a:endParaRPr>
          </a:p>
          <a:p>
            <a:pPr>
              <a:lnSpc>
                <a:spcPts val="2000"/>
              </a:lnSpc>
            </a:pPr>
            <a:r>
              <a:rPr lang="en-US" sz="1300" b="1" dirty="0" err="1">
                <a:solidFill>
                  <a:srgbClr val="002060"/>
                </a:solidFill>
                <a:latin typeface="Calibri" pitchFamily="34" charset="0"/>
                <a:ea typeface="Calibri" pitchFamily="34" charset="-122"/>
                <a:cs typeface="Calibri" pitchFamily="34" charset="-120"/>
              </a:rPr>
              <a:t>Auswahlkriterien</a:t>
            </a:r>
            <a:r>
              <a:rPr lang="en-US" sz="1300" dirty="0">
                <a:solidFill>
                  <a:srgbClr val="002060"/>
                </a:solidFill>
                <a:latin typeface="Calibri" pitchFamily="34" charset="0"/>
                <a:ea typeface="Calibri" pitchFamily="34" charset="-122"/>
                <a:cs typeface="Calibri" pitchFamily="34" charset="-120"/>
              </a:rPr>
              <a:t>:</a:t>
            </a:r>
          </a:p>
          <a:p>
            <a:pPr marL="285750" indent="-285750">
              <a:lnSpc>
                <a:spcPts val="2000"/>
              </a:lnSpc>
              <a:buFont typeface="Arial" panose="020B0604020202020204" pitchFamily="34" charset="0"/>
              <a:buChar char="•"/>
            </a:pPr>
            <a:r>
              <a:rPr lang="en-US" sz="1300" dirty="0" err="1">
                <a:solidFill>
                  <a:srgbClr val="1F2937"/>
                </a:solidFill>
                <a:latin typeface="Calibri" pitchFamily="34" charset="0"/>
                <a:ea typeface="Calibri" pitchFamily="34" charset="-122"/>
                <a:cs typeface="Calibri" pitchFamily="34" charset="-120"/>
              </a:rPr>
              <a:t>bereits</a:t>
            </a:r>
            <a:r>
              <a:rPr lang="en-US" sz="1300" dirty="0">
                <a:solidFill>
                  <a:srgbClr val="1F2937"/>
                </a:solidFill>
                <a:latin typeface="Calibri" pitchFamily="34" charset="0"/>
                <a:ea typeface="Calibri" pitchFamily="34" charset="-122"/>
                <a:cs typeface="Calibri" pitchFamily="34" charset="-120"/>
              </a:rPr>
              <a:t> im Sternschema-Format vorliegend (Fact- + 5 Dim-Tabellen), </a:t>
            </a:r>
          </a:p>
          <a:p>
            <a:pPr marL="285750" indent="-285750">
              <a:lnSpc>
                <a:spcPts val="2000"/>
              </a:lnSpc>
              <a:buFont typeface="Arial" panose="020B0604020202020204" pitchFamily="34" charset="0"/>
              <a:buChar char="•"/>
            </a:pPr>
            <a:r>
              <a:rPr lang="en-US" sz="1300" dirty="0" err="1">
                <a:solidFill>
                  <a:srgbClr val="1F2937"/>
                </a:solidFill>
                <a:latin typeface="Calibri" pitchFamily="34" charset="0"/>
                <a:ea typeface="Calibri" pitchFamily="34" charset="-122"/>
                <a:cs typeface="Calibri" pitchFamily="34" charset="-120"/>
              </a:rPr>
              <a:t>mehrjähriger</a:t>
            </a:r>
            <a:r>
              <a:rPr lang="en-US" sz="1300" dirty="0">
                <a:solidFill>
                  <a:srgbClr val="1F2937"/>
                </a:solidFill>
                <a:latin typeface="Calibri" pitchFamily="34" charset="0"/>
                <a:ea typeface="Calibri" pitchFamily="34" charset="-122"/>
                <a:cs typeface="Calibri" pitchFamily="34" charset="-120"/>
              </a:rPr>
              <a:t> Zeithorizont (2018–2024) </a:t>
            </a:r>
          </a:p>
          <a:p>
            <a:pPr marL="285750" indent="-285750">
              <a:lnSpc>
                <a:spcPts val="2000"/>
              </a:lnSpc>
              <a:buFont typeface="Arial" panose="020B0604020202020204" pitchFamily="34" charset="0"/>
              <a:buChar char="•"/>
            </a:pPr>
            <a:r>
              <a:rPr lang="en-US" sz="1300" dirty="0" err="1">
                <a:solidFill>
                  <a:srgbClr val="1F2937"/>
                </a:solidFill>
                <a:latin typeface="Calibri" pitchFamily="34" charset="0"/>
                <a:ea typeface="Calibri" pitchFamily="34" charset="-122"/>
                <a:cs typeface="Calibri" pitchFamily="34" charset="-120"/>
              </a:rPr>
              <a:t>ausreichend</a:t>
            </a:r>
            <a:r>
              <a:rPr lang="en-US" sz="1300" dirty="0">
                <a:solidFill>
                  <a:srgbClr val="1F2937"/>
                </a:solidFill>
                <a:latin typeface="Calibri" pitchFamily="34" charset="0"/>
                <a:ea typeface="Calibri" pitchFamily="34" charset="-122"/>
                <a:cs typeface="Calibri" pitchFamily="34" charset="-120"/>
              </a:rPr>
              <a:t> Analysedimensionen (Kunde, Produkt, Geografie, Mitarbeiter, Kanal)</a:t>
            </a:r>
            <a:endParaRPr lang="en-US" sz="1300" dirty="0"/>
          </a:p>
        </p:txBody>
      </p:sp>
      <p:sp>
        <p:nvSpPr>
          <p:cNvPr id="22" name="Shape 20"/>
          <p:cNvSpPr/>
          <p:nvPr/>
        </p:nvSpPr>
        <p:spPr>
          <a:xfrm>
            <a:off x="457200" y="5394960"/>
            <a:ext cx="11274552" cy="685800"/>
          </a:xfrm>
          <a:prstGeom prst="roundRect">
            <a:avLst>
              <a:gd name="adj" fmla="val 10667"/>
            </a:avLst>
          </a:prstGeom>
          <a:solidFill>
            <a:srgbClr val="F4F6F8"/>
          </a:solidFill>
          <a:ln/>
        </p:spPr>
        <p:txBody>
          <a:bodyPr/>
          <a:lstStyle/>
          <a:p>
            <a:endParaRPr lang="de-DE"/>
          </a:p>
        </p:txBody>
      </p:sp>
      <p:sp>
        <p:nvSpPr>
          <p:cNvPr id="23" name="Text 21"/>
          <p:cNvSpPr/>
          <p:nvPr/>
        </p:nvSpPr>
        <p:spPr>
          <a:xfrm>
            <a:off x="731520" y="5394960"/>
            <a:ext cx="10698480" cy="685800"/>
          </a:xfrm>
          <a:prstGeom prst="rect">
            <a:avLst/>
          </a:prstGeom>
          <a:noFill/>
          <a:ln/>
        </p:spPr>
        <p:txBody>
          <a:bodyPr wrap="square" rtlCol="0" anchor="ctr"/>
          <a:lstStyle/>
          <a:p>
            <a:pPr marL="0" indent="0">
              <a:buNone/>
            </a:pPr>
            <a:r>
              <a:rPr lang="en-US" sz="1200" b="1" dirty="0">
                <a:solidFill>
                  <a:srgbClr val="1B3A57"/>
                </a:solidFill>
                <a:latin typeface="Calibri" pitchFamily="34" charset="0"/>
                <a:ea typeface="Calibri" pitchFamily="34" charset="-122"/>
                <a:cs typeface="Calibri" pitchFamily="34" charset="-120"/>
              </a:rPr>
              <a:t>Sternschema-Tabellen:  </a:t>
            </a:r>
            <a:r>
              <a:rPr lang="en-US" sz="1200" dirty="0">
                <a:solidFill>
                  <a:srgbClr val="1F2937"/>
                </a:solidFill>
                <a:latin typeface="Calibri" pitchFamily="34" charset="0"/>
                <a:ea typeface="Calibri" pitchFamily="34" charset="-122"/>
                <a:cs typeface="Calibri" pitchFamily="34" charset="-120"/>
              </a:rPr>
              <a:t>FactSales  ·  DimCustomer  ·  DimProduct  ·  DimGeography  ·  DimEmployee  ·  DimDate</a:t>
            </a:r>
            <a:endParaRPr lang="en-US" sz="1200" dirty="0"/>
          </a:p>
        </p:txBody>
      </p:sp>
      <p:sp>
        <p:nvSpPr>
          <p:cNvPr id="24" name="Text 22"/>
          <p:cNvSpPr/>
          <p:nvPr/>
        </p:nvSpPr>
        <p:spPr>
          <a:xfrm>
            <a:off x="457200" y="6473952"/>
            <a:ext cx="8229600" cy="274320"/>
          </a:xfrm>
          <a:prstGeom prst="rect">
            <a:avLst/>
          </a:prstGeom>
          <a:noFill/>
          <a:ln/>
        </p:spPr>
        <p:txBody>
          <a:bodyPr wrap="square" rtlCol="0" anchor="ctr"/>
          <a:lstStyle/>
          <a:p>
            <a:pPr marL="0" indent="0">
              <a:buNone/>
            </a:pPr>
            <a:r>
              <a:rPr lang="en-US" sz="850" dirty="0">
                <a:solidFill>
                  <a:srgbClr val="5B6472"/>
                </a:solidFill>
                <a:latin typeface="Calibri" pitchFamily="34" charset="0"/>
                <a:ea typeface="Calibri" pitchFamily="34" charset="-122"/>
                <a:cs typeface="Calibri" pitchFamily="34" charset="-120"/>
              </a:rPr>
              <a:t>Home &amp; Lifestyle Retail Group  ·  Performance &amp; Insights Report</a:t>
            </a:r>
            <a:endParaRPr lang="en-US" sz="850" dirty="0"/>
          </a:p>
        </p:txBody>
      </p:sp>
      <p:sp>
        <p:nvSpPr>
          <p:cNvPr id="25" name="Text 23"/>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5B6472"/>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65760"/>
            <a:ext cx="2377440" cy="310896"/>
          </a:xfrm>
          <a:prstGeom prst="roundRect">
            <a:avLst>
              <a:gd name="adj" fmla="val 50000"/>
            </a:avLst>
          </a:prstGeom>
          <a:solidFill>
            <a:srgbClr val="DCEEE9"/>
          </a:solidFill>
          <a:ln/>
        </p:spPr>
        <p:txBody>
          <a:bodyPr/>
          <a:lstStyle/>
          <a:p>
            <a:endParaRPr lang="de-DE"/>
          </a:p>
        </p:txBody>
      </p:sp>
      <p:sp>
        <p:nvSpPr>
          <p:cNvPr id="3" name="Text 1"/>
          <p:cNvSpPr/>
          <p:nvPr/>
        </p:nvSpPr>
        <p:spPr>
          <a:xfrm>
            <a:off x="457200" y="365760"/>
            <a:ext cx="2377440" cy="310896"/>
          </a:xfrm>
          <a:prstGeom prst="rect">
            <a:avLst/>
          </a:prstGeom>
          <a:noFill/>
          <a:ln/>
        </p:spPr>
        <p:txBody>
          <a:bodyPr wrap="square" rtlCol="0" anchor="ctr"/>
          <a:lstStyle/>
          <a:p>
            <a:pPr marL="0" indent="0" algn="ctr">
              <a:buNone/>
            </a:pPr>
            <a:r>
              <a:rPr lang="en-US" sz="1100" b="1" dirty="0">
                <a:solidFill>
                  <a:srgbClr val="0F6E56"/>
                </a:solidFill>
                <a:latin typeface="Calibri" pitchFamily="34" charset="0"/>
                <a:ea typeface="Calibri" pitchFamily="34" charset="-122"/>
                <a:cs typeface="Calibri" pitchFamily="34" charset="-120"/>
              </a:rPr>
              <a:t>TECHNOLOGIE-STACK &amp; METHODIK</a:t>
            </a:r>
            <a:endParaRPr lang="en-US" sz="1100" dirty="0"/>
          </a:p>
        </p:txBody>
      </p:sp>
      <p:sp>
        <p:nvSpPr>
          <p:cNvPr id="4" name="Text 2"/>
          <p:cNvSpPr/>
          <p:nvPr/>
        </p:nvSpPr>
        <p:spPr>
          <a:xfrm>
            <a:off x="457200" y="777240"/>
            <a:ext cx="11274552" cy="548640"/>
          </a:xfrm>
          <a:prstGeom prst="rect">
            <a:avLst/>
          </a:prstGeom>
          <a:noFill/>
          <a:ln/>
        </p:spPr>
        <p:txBody>
          <a:bodyPr wrap="square" rtlCol="0" anchor="ctr"/>
          <a:lstStyle/>
          <a:p>
            <a:pPr marL="0" indent="0">
              <a:buNone/>
            </a:pPr>
            <a:r>
              <a:rPr lang="en-US" sz="2800" b="1" dirty="0">
                <a:solidFill>
                  <a:srgbClr val="1B3A57"/>
                </a:solidFill>
                <a:latin typeface="Cambria" pitchFamily="34" charset="0"/>
                <a:ea typeface="Cambria" pitchFamily="34" charset="-122"/>
                <a:cs typeface="Cambria" pitchFamily="34" charset="-120"/>
              </a:rPr>
              <a:t>Datenmodell: Sternschema</a:t>
            </a:r>
            <a:endParaRPr lang="en-US" sz="2800" dirty="0"/>
          </a:p>
        </p:txBody>
      </p:sp>
      <p:sp>
        <p:nvSpPr>
          <p:cNvPr id="23" name="Text 21"/>
          <p:cNvSpPr/>
          <p:nvPr/>
        </p:nvSpPr>
        <p:spPr>
          <a:xfrm>
            <a:off x="0" y="6035040"/>
            <a:ext cx="11274552" cy="457200"/>
          </a:xfrm>
          <a:prstGeom prst="rect">
            <a:avLst/>
          </a:prstGeom>
          <a:noFill/>
          <a:ln/>
        </p:spPr>
        <p:txBody>
          <a:bodyPr wrap="square" rtlCol="0" anchor="ctr"/>
          <a:lstStyle/>
          <a:p>
            <a:pPr marL="0" indent="0" algn="ctr">
              <a:lnSpc>
                <a:spcPts val="1600"/>
              </a:lnSpc>
              <a:buNone/>
            </a:pPr>
            <a:r>
              <a:rPr lang="en-US" sz="1200" i="1" dirty="0">
                <a:solidFill>
                  <a:srgbClr val="5B6472"/>
                </a:solidFill>
                <a:latin typeface="Calibri" pitchFamily="34" charset="0"/>
                <a:ea typeface="Calibri" pitchFamily="34" charset="-122"/>
                <a:cs typeface="Calibri" pitchFamily="34" charset="-120"/>
              </a:rPr>
              <a:t>1 Faktentabelle (Kennzahlen) im Zentrum, 5 Dimensionstabellen (Beschreibungen) im Stern angeordnet — Standard-Pattern für performantes, wartbares BI-Reporting.</a:t>
            </a:r>
            <a:endParaRPr lang="en-US" sz="1200" dirty="0"/>
          </a:p>
        </p:txBody>
      </p:sp>
      <p:sp>
        <p:nvSpPr>
          <p:cNvPr id="24" name="Text 22"/>
          <p:cNvSpPr/>
          <p:nvPr/>
        </p:nvSpPr>
        <p:spPr>
          <a:xfrm>
            <a:off x="457200" y="6473952"/>
            <a:ext cx="8229600" cy="274320"/>
          </a:xfrm>
          <a:prstGeom prst="rect">
            <a:avLst/>
          </a:prstGeom>
          <a:noFill/>
          <a:ln/>
        </p:spPr>
        <p:txBody>
          <a:bodyPr wrap="square" rtlCol="0" anchor="ctr"/>
          <a:lstStyle/>
          <a:p>
            <a:pPr marL="0" indent="0">
              <a:buNone/>
            </a:pPr>
            <a:r>
              <a:rPr lang="en-US" sz="850" dirty="0">
                <a:solidFill>
                  <a:srgbClr val="5B6472"/>
                </a:solidFill>
                <a:latin typeface="Calibri" pitchFamily="34" charset="0"/>
                <a:ea typeface="Calibri" pitchFamily="34" charset="-122"/>
                <a:cs typeface="Calibri" pitchFamily="34" charset="-120"/>
              </a:rPr>
              <a:t>Home &amp; Lifestyle Retail Group  ·  Performance &amp; Insights Report</a:t>
            </a:r>
            <a:endParaRPr lang="en-US" sz="850" dirty="0"/>
          </a:p>
        </p:txBody>
      </p:sp>
      <p:sp>
        <p:nvSpPr>
          <p:cNvPr id="25" name="Text 23"/>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5B6472"/>
                </a:solidFill>
                <a:latin typeface="Calibri" pitchFamily="34" charset="0"/>
                <a:ea typeface="Calibri" pitchFamily="34" charset="-122"/>
                <a:cs typeface="Calibri" pitchFamily="34" charset="-120"/>
              </a:rPr>
              <a:t>6</a:t>
            </a:r>
            <a:endParaRPr lang="en-US" sz="850" dirty="0"/>
          </a:p>
        </p:txBody>
      </p:sp>
      <p:pic>
        <p:nvPicPr>
          <p:cNvPr id="6" name="Picture 5">
            <a:extLst>
              <a:ext uri="{FF2B5EF4-FFF2-40B4-BE49-F238E27FC236}">
                <a16:creationId xmlns:a16="http://schemas.microsoft.com/office/drawing/2014/main" id="{8802A4A2-FC13-5488-8551-D81E6773AF99}"/>
              </a:ext>
            </a:extLst>
          </p:cNvPr>
          <p:cNvPicPr>
            <a:picLocks noChangeAspect="1"/>
          </p:cNvPicPr>
          <p:nvPr/>
        </p:nvPicPr>
        <p:blipFill>
          <a:blip r:embed="rId3"/>
          <a:stretch>
            <a:fillRect/>
          </a:stretch>
        </p:blipFill>
        <p:spPr>
          <a:xfrm>
            <a:off x="1645920" y="1292647"/>
            <a:ext cx="8654406" cy="474239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365760"/>
            <a:ext cx="2377440" cy="310896"/>
          </a:xfrm>
          <a:prstGeom prst="roundRect">
            <a:avLst>
              <a:gd name="adj" fmla="val 50000"/>
            </a:avLst>
          </a:prstGeom>
          <a:solidFill>
            <a:srgbClr val="DCEEE9"/>
          </a:solidFill>
          <a:ln/>
        </p:spPr>
        <p:txBody>
          <a:bodyPr/>
          <a:lstStyle/>
          <a:p>
            <a:endParaRPr lang="de-DE"/>
          </a:p>
        </p:txBody>
      </p:sp>
      <p:sp>
        <p:nvSpPr>
          <p:cNvPr id="3" name="Text 1"/>
          <p:cNvSpPr/>
          <p:nvPr/>
        </p:nvSpPr>
        <p:spPr>
          <a:xfrm>
            <a:off x="457200" y="365760"/>
            <a:ext cx="2377440" cy="310896"/>
          </a:xfrm>
          <a:prstGeom prst="rect">
            <a:avLst/>
          </a:prstGeom>
          <a:noFill/>
          <a:ln/>
        </p:spPr>
        <p:txBody>
          <a:bodyPr wrap="square" rtlCol="0" anchor="ctr"/>
          <a:lstStyle/>
          <a:p>
            <a:pPr marL="0" indent="0" algn="ctr">
              <a:buNone/>
            </a:pPr>
            <a:r>
              <a:rPr lang="en-US" sz="1100" b="1" dirty="0">
                <a:solidFill>
                  <a:srgbClr val="0F6E56"/>
                </a:solidFill>
                <a:latin typeface="Calibri" pitchFamily="34" charset="0"/>
                <a:ea typeface="Calibri" pitchFamily="34" charset="-122"/>
                <a:cs typeface="Calibri" pitchFamily="34" charset="-120"/>
              </a:rPr>
              <a:t>TECHNOLOGIE-STACK &amp; METHODIK</a:t>
            </a:r>
            <a:endParaRPr lang="en-US" sz="1100" dirty="0"/>
          </a:p>
        </p:txBody>
      </p:sp>
      <p:sp>
        <p:nvSpPr>
          <p:cNvPr id="4" name="Text 2"/>
          <p:cNvSpPr/>
          <p:nvPr/>
        </p:nvSpPr>
        <p:spPr>
          <a:xfrm>
            <a:off x="457200" y="777240"/>
            <a:ext cx="11274552" cy="548640"/>
          </a:xfrm>
          <a:prstGeom prst="rect">
            <a:avLst/>
          </a:prstGeom>
          <a:noFill/>
          <a:ln/>
        </p:spPr>
        <p:txBody>
          <a:bodyPr wrap="square" rtlCol="0" anchor="ctr"/>
          <a:lstStyle/>
          <a:p>
            <a:pPr marL="0" indent="0">
              <a:buNone/>
            </a:pPr>
            <a:r>
              <a:rPr lang="en-US" sz="2800" b="1" dirty="0">
                <a:solidFill>
                  <a:srgbClr val="1B3A57"/>
                </a:solidFill>
                <a:latin typeface="Cambria" pitchFamily="34" charset="0"/>
                <a:ea typeface="Cambria" pitchFamily="34" charset="-122"/>
                <a:cs typeface="Cambria" pitchFamily="34" charset="-120"/>
              </a:rPr>
              <a:t>Power-Query-Pipeline (ETL)</a:t>
            </a:r>
            <a:endParaRPr lang="en-US" sz="2800" dirty="0"/>
          </a:p>
        </p:txBody>
      </p:sp>
      <p:sp>
        <p:nvSpPr>
          <p:cNvPr id="5" name="Shape 3"/>
          <p:cNvSpPr/>
          <p:nvPr/>
        </p:nvSpPr>
        <p:spPr>
          <a:xfrm>
            <a:off x="457200" y="1828800"/>
            <a:ext cx="3611880" cy="2487168"/>
          </a:xfrm>
          <a:prstGeom prst="roundRect">
            <a:avLst>
              <a:gd name="adj" fmla="val 4545"/>
            </a:avLst>
          </a:prstGeom>
          <a:solidFill>
            <a:srgbClr val="FFFFFF"/>
          </a:solidFill>
          <a:ln w="9525">
            <a:solidFill>
              <a:srgbClr val="DDE3E8"/>
            </a:solidFill>
            <a:prstDash val="solid"/>
          </a:ln>
        </p:spPr>
        <p:txBody>
          <a:bodyPr/>
          <a:lstStyle/>
          <a:p>
            <a:endParaRPr lang="de-DE"/>
          </a:p>
        </p:txBody>
      </p:sp>
      <p:sp>
        <p:nvSpPr>
          <p:cNvPr id="6" name="Shape 4"/>
          <p:cNvSpPr/>
          <p:nvPr/>
        </p:nvSpPr>
        <p:spPr>
          <a:xfrm>
            <a:off x="658368" y="2029968"/>
            <a:ext cx="384048" cy="384048"/>
          </a:xfrm>
          <a:prstGeom prst="ellipse">
            <a:avLst/>
          </a:prstGeom>
          <a:solidFill>
            <a:srgbClr val="DCEEE9"/>
          </a:solidFill>
          <a:ln/>
        </p:spPr>
        <p:txBody>
          <a:bodyPr/>
          <a:lstStyle/>
          <a:p>
            <a:endParaRPr lang="de-DE"/>
          </a:p>
        </p:txBody>
      </p:sp>
      <p:sp>
        <p:nvSpPr>
          <p:cNvPr id="7" name="Text 5"/>
          <p:cNvSpPr/>
          <p:nvPr/>
        </p:nvSpPr>
        <p:spPr>
          <a:xfrm>
            <a:off x="658368" y="2029968"/>
            <a:ext cx="384048" cy="384048"/>
          </a:xfrm>
          <a:prstGeom prst="rect">
            <a:avLst/>
          </a:prstGeom>
          <a:noFill/>
          <a:ln/>
        </p:spPr>
        <p:txBody>
          <a:bodyPr wrap="square" rtlCol="0" anchor="ctr"/>
          <a:lstStyle/>
          <a:p>
            <a:pPr marL="0" indent="0" algn="ctr">
              <a:buNone/>
            </a:pPr>
            <a:r>
              <a:rPr lang="en-US" sz="1300" b="1" dirty="0">
                <a:solidFill>
                  <a:srgbClr val="0F6E56"/>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658368" y="2514600"/>
            <a:ext cx="3209544" cy="320040"/>
          </a:xfrm>
          <a:prstGeom prst="rect">
            <a:avLst/>
          </a:prstGeom>
          <a:noFill/>
          <a:ln/>
        </p:spPr>
        <p:txBody>
          <a:bodyPr wrap="square" rtlCol="0" anchor="ctr"/>
          <a:lstStyle/>
          <a:p>
            <a:pPr marL="0" indent="0">
              <a:buNone/>
            </a:pPr>
            <a:r>
              <a:rPr lang="en-US" sz="1500" b="1" dirty="0">
                <a:solidFill>
                  <a:srgbClr val="1B3A57"/>
                </a:solidFill>
                <a:latin typeface="Cambria" pitchFamily="34" charset="0"/>
                <a:ea typeface="Cambria" pitchFamily="34" charset="-122"/>
                <a:cs typeface="Cambria" pitchFamily="34" charset="-120"/>
              </a:rPr>
              <a:t>Extract</a:t>
            </a:r>
            <a:endParaRPr lang="en-US" sz="1500" dirty="0"/>
          </a:p>
        </p:txBody>
      </p:sp>
      <p:sp>
        <p:nvSpPr>
          <p:cNvPr id="9" name="Text 7"/>
          <p:cNvSpPr/>
          <p:nvPr/>
        </p:nvSpPr>
        <p:spPr>
          <a:xfrm>
            <a:off x="658368" y="2852928"/>
            <a:ext cx="3209544" cy="914400"/>
          </a:xfrm>
          <a:prstGeom prst="rect">
            <a:avLst/>
          </a:prstGeom>
          <a:noFill/>
          <a:ln/>
        </p:spPr>
        <p:txBody>
          <a:bodyPr wrap="square" rtlCol="0" anchor="ctr"/>
          <a:lstStyle/>
          <a:p>
            <a:pPr marL="0" indent="0">
              <a:lnSpc>
                <a:spcPts val="1400"/>
              </a:lnSpc>
              <a:buNone/>
            </a:pPr>
            <a:r>
              <a:rPr lang="en-US" sz="1200" dirty="0">
                <a:solidFill>
                  <a:srgbClr val="1F2937"/>
                </a:solidFill>
                <a:latin typeface="Calibri" pitchFamily="34" charset="0"/>
                <a:ea typeface="Calibri" pitchFamily="34" charset="-122"/>
                <a:cs typeface="Calibri" pitchFamily="34" charset="-120"/>
              </a:rPr>
              <a:t>6 CSV-Quelldateien (Kaggle-Rohdaten) je Dimension/Faktentabelle eingelesen über Csv.Document(File.Contents(...))</a:t>
            </a:r>
            <a:endParaRPr lang="en-US" sz="1200" dirty="0"/>
          </a:p>
        </p:txBody>
      </p:sp>
      <p:sp>
        <p:nvSpPr>
          <p:cNvPr id="10" name="Shape 8"/>
          <p:cNvSpPr/>
          <p:nvPr/>
        </p:nvSpPr>
        <p:spPr>
          <a:xfrm>
            <a:off x="4288536" y="1828800"/>
            <a:ext cx="3630168" cy="3820562"/>
          </a:xfrm>
          <a:prstGeom prst="roundRect">
            <a:avLst>
              <a:gd name="adj" fmla="val 4545"/>
            </a:avLst>
          </a:prstGeom>
          <a:solidFill>
            <a:srgbClr val="0F6E56"/>
          </a:solidFill>
          <a:ln/>
        </p:spPr>
        <p:txBody>
          <a:bodyPr/>
          <a:lstStyle/>
          <a:p>
            <a:endParaRPr lang="de-DE"/>
          </a:p>
        </p:txBody>
      </p:sp>
      <p:sp>
        <p:nvSpPr>
          <p:cNvPr id="11" name="Shape 9"/>
          <p:cNvSpPr/>
          <p:nvPr/>
        </p:nvSpPr>
        <p:spPr>
          <a:xfrm>
            <a:off x="4489704" y="2029968"/>
            <a:ext cx="384048" cy="384048"/>
          </a:xfrm>
          <a:prstGeom prst="ellipse">
            <a:avLst/>
          </a:prstGeom>
          <a:solidFill>
            <a:srgbClr val="FFFFFF"/>
          </a:solidFill>
          <a:ln/>
        </p:spPr>
        <p:txBody>
          <a:bodyPr/>
          <a:lstStyle/>
          <a:p>
            <a:endParaRPr lang="de-DE"/>
          </a:p>
        </p:txBody>
      </p:sp>
      <p:sp>
        <p:nvSpPr>
          <p:cNvPr id="12" name="Text 10"/>
          <p:cNvSpPr/>
          <p:nvPr/>
        </p:nvSpPr>
        <p:spPr>
          <a:xfrm>
            <a:off x="4489704" y="2029968"/>
            <a:ext cx="384048" cy="384048"/>
          </a:xfrm>
          <a:prstGeom prst="rect">
            <a:avLst/>
          </a:prstGeom>
          <a:noFill/>
          <a:ln/>
        </p:spPr>
        <p:txBody>
          <a:bodyPr wrap="square" rtlCol="0" anchor="ctr"/>
          <a:lstStyle/>
          <a:p>
            <a:pPr marL="0" indent="0" algn="ctr">
              <a:buNone/>
            </a:pPr>
            <a:r>
              <a:rPr lang="en-US" sz="1300" b="1" dirty="0">
                <a:solidFill>
                  <a:srgbClr val="0F6E56"/>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489704" y="2514600"/>
            <a:ext cx="3209544"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Transform</a:t>
            </a:r>
            <a:endParaRPr lang="en-US" sz="1500" dirty="0"/>
          </a:p>
        </p:txBody>
      </p:sp>
      <p:sp>
        <p:nvSpPr>
          <p:cNvPr id="15" name="Shape 13"/>
          <p:cNvSpPr/>
          <p:nvPr/>
        </p:nvSpPr>
        <p:spPr>
          <a:xfrm>
            <a:off x="8119872" y="1828800"/>
            <a:ext cx="3611880" cy="2487168"/>
          </a:xfrm>
          <a:prstGeom prst="roundRect">
            <a:avLst>
              <a:gd name="adj" fmla="val 4545"/>
            </a:avLst>
          </a:prstGeom>
          <a:solidFill>
            <a:srgbClr val="FFFFFF"/>
          </a:solidFill>
          <a:ln w="9525">
            <a:solidFill>
              <a:srgbClr val="DDE3E8"/>
            </a:solidFill>
            <a:prstDash val="solid"/>
          </a:ln>
        </p:spPr>
        <p:txBody>
          <a:bodyPr/>
          <a:lstStyle/>
          <a:p>
            <a:endParaRPr lang="de-DE"/>
          </a:p>
        </p:txBody>
      </p:sp>
      <p:sp>
        <p:nvSpPr>
          <p:cNvPr id="16" name="Shape 14"/>
          <p:cNvSpPr/>
          <p:nvPr/>
        </p:nvSpPr>
        <p:spPr>
          <a:xfrm>
            <a:off x="8321040" y="2029968"/>
            <a:ext cx="384048" cy="384048"/>
          </a:xfrm>
          <a:prstGeom prst="ellipse">
            <a:avLst/>
          </a:prstGeom>
          <a:solidFill>
            <a:srgbClr val="DCEEE9"/>
          </a:solidFill>
          <a:ln/>
        </p:spPr>
        <p:txBody>
          <a:bodyPr/>
          <a:lstStyle/>
          <a:p>
            <a:endParaRPr lang="de-DE"/>
          </a:p>
        </p:txBody>
      </p:sp>
      <p:sp>
        <p:nvSpPr>
          <p:cNvPr id="17" name="Text 15"/>
          <p:cNvSpPr/>
          <p:nvPr/>
        </p:nvSpPr>
        <p:spPr>
          <a:xfrm>
            <a:off x="8321040" y="2029968"/>
            <a:ext cx="384048" cy="384048"/>
          </a:xfrm>
          <a:prstGeom prst="rect">
            <a:avLst/>
          </a:prstGeom>
          <a:noFill/>
          <a:ln/>
        </p:spPr>
        <p:txBody>
          <a:bodyPr wrap="square" rtlCol="0" anchor="ctr"/>
          <a:lstStyle/>
          <a:p>
            <a:pPr marL="0" indent="0" algn="ctr">
              <a:buNone/>
            </a:pPr>
            <a:r>
              <a:rPr lang="en-US" sz="1300" b="1" dirty="0">
                <a:solidFill>
                  <a:srgbClr val="0F6E56"/>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321040" y="2514600"/>
            <a:ext cx="3209544" cy="320040"/>
          </a:xfrm>
          <a:prstGeom prst="rect">
            <a:avLst/>
          </a:prstGeom>
          <a:noFill/>
          <a:ln/>
        </p:spPr>
        <p:txBody>
          <a:bodyPr wrap="square" rtlCol="0" anchor="ctr"/>
          <a:lstStyle/>
          <a:p>
            <a:pPr marL="0" indent="0">
              <a:buNone/>
            </a:pPr>
            <a:r>
              <a:rPr lang="en-US" sz="1500" b="1" dirty="0">
                <a:solidFill>
                  <a:srgbClr val="1B3A57"/>
                </a:solidFill>
                <a:latin typeface="Cambria" pitchFamily="34" charset="0"/>
                <a:ea typeface="Cambria" pitchFamily="34" charset="-122"/>
                <a:cs typeface="Cambria" pitchFamily="34" charset="-120"/>
              </a:rPr>
              <a:t>Load</a:t>
            </a:r>
            <a:endParaRPr lang="en-US" sz="1500" dirty="0"/>
          </a:p>
        </p:txBody>
      </p:sp>
      <p:sp>
        <p:nvSpPr>
          <p:cNvPr id="19" name="Text 17"/>
          <p:cNvSpPr/>
          <p:nvPr/>
        </p:nvSpPr>
        <p:spPr>
          <a:xfrm>
            <a:off x="8321040" y="2852928"/>
            <a:ext cx="3209544" cy="914400"/>
          </a:xfrm>
          <a:prstGeom prst="rect">
            <a:avLst/>
          </a:prstGeom>
          <a:noFill/>
          <a:ln/>
        </p:spPr>
        <p:txBody>
          <a:bodyPr wrap="square" rtlCol="0" anchor="ctr"/>
          <a:lstStyle/>
          <a:p>
            <a:pPr marL="0" indent="0">
              <a:lnSpc>
                <a:spcPts val="1400"/>
              </a:lnSpc>
              <a:buNone/>
            </a:pPr>
            <a:r>
              <a:rPr lang="en-US" sz="1200" dirty="0">
                <a:solidFill>
                  <a:srgbClr val="1F2937"/>
                </a:solidFill>
                <a:latin typeface="Calibri" pitchFamily="34" charset="0"/>
                <a:ea typeface="Calibri" pitchFamily="34" charset="-122"/>
                <a:cs typeface="Calibri" pitchFamily="34" charset="-120"/>
              </a:rPr>
              <a:t>Laden als Sternschema mit definierten Beziehungen (FactSales → 5 Dim-Tabellen), zentrale MeasureCollection-Tabelle für alle DAX-Kennzahlen</a:t>
            </a:r>
            <a:endParaRPr lang="en-US" sz="1200" dirty="0"/>
          </a:p>
        </p:txBody>
      </p:sp>
      <p:sp>
        <p:nvSpPr>
          <p:cNvPr id="23" name="Text 21"/>
          <p:cNvSpPr/>
          <p:nvPr/>
        </p:nvSpPr>
        <p:spPr>
          <a:xfrm>
            <a:off x="457200" y="6473952"/>
            <a:ext cx="8229600" cy="274320"/>
          </a:xfrm>
          <a:prstGeom prst="rect">
            <a:avLst/>
          </a:prstGeom>
          <a:noFill/>
          <a:ln/>
        </p:spPr>
        <p:txBody>
          <a:bodyPr wrap="square" rtlCol="0" anchor="ctr"/>
          <a:lstStyle/>
          <a:p>
            <a:pPr marL="0" indent="0">
              <a:buNone/>
            </a:pPr>
            <a:r>
              <a:rPr lang="en-US" sz="850" dirty="0">
                <a:solidFill>
                  <a:srgbClr val="5B6472"/>
                </a:solidFill>
                <a:latin typeface="Calibri" pitchFamily="34" charset="0"/>
                <a:ea typeface="Calibri" pitchFamily="34" charset="-122"/>
                <a:cs typeface="Calibri" pitchFamily="34" charset="-120"/>
              </a:rPr>
              <a:t>Home &amp; Lifestyle Retail Group  ·  Performance &amp; Insights Report</a:t>
            </a:r>
            <a:endParaRPr lang="en-US" sz="850" dirty="0"/>
          </a:p>
        </p:txBody>
      </p:sp>
      <p:sp>
        <p:nvSpPr>
          <p:cNvPr id="24" name="Text 22"/>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5B6472"/>
                </a:solidFill>
                <a:latin typeface="Calibri" pitchFamily="34" charset="0"/>
                <a:ea typeface="Calibri" pitchFamily="34" charset="-122"/>
                <a:cs typeface="Calibri" pitchFamily="34" charset="-120"/>
              </a:rPr>
              <a:t>7</a:t>
            </a:r>
            <a:endParaRPr lang="en-US" sz="850" dirty="0"/>
          </a:p>
        </p:txBody>
      </p:sp>
      <p:sp>
        <p:nvSpPr>
          <p:cNvPr id="26" name="Textfeld 25">
            <a:extLst>
              <a:ext uri="{FF2B5EF4-FFF2-40B4-BE49-F238E27FC236}">
                <a16:creationId xmlns:a16="http://schemas.microsoft.com/office/drawing/2014/main" id="{F34729C5-983A-0E3E-8AF6-586A6E0F5334}"/>
              </a:ext>
            </a:extLst>
          </p:cNvPr>
          <p:cNvSpPr txBox="1"/>
          <p:nvPr/>
        </p:nvSpPr>
        <p:spPr>
          <a:xfrm>
            <a:off x="4428744" y="2991869"/>
            <a:ext cx="3381756" cy="2108269"/>
          </a:xfrm>
          <a:prstGeom prst="rect">
            <a:avLst/>
          </a:prstGeom>
          <a:noFill/>
        </p:spPr>
        <p:txBody>
          <a:bodyPr wrap="square" rtlCol="0">
            <a:spAutoFit/>
          </a:bodyPr>
          <a:lstStyle/>
          <a:p>
            <a:pPr marL="171450" indent="-171450">
              <a:spcAft>
                <a:spcPts val="1200"/>
              </a:spcAft>
              <a:buFont typeface="Arial" panose="020B0604020202020204" pitchFamily="34" charset="0"/>
              <a:buChar char="•"/>
            </a:pPr>
            <a:r>
              <a:rPr lang="de-DE" sz="1300" dirty="0">
                <a:solidFill>
                  <a:schemeClr val="bg1"/>
                </a:solidFill>
                <a:latin typeface="Calibri" pitchFamily="34" charset="0"/>
                <a:ea typeface="Calibri" pitchFamily="34" charset="-122"/>
                <a:cs typeface="Calibri" pitchFamily="34" charset="-120"/>
              </a:rPr>
              <a:t>Datumstabelle formatiert</a:t>
            </a:r>
          </a:p>
          <a:p>
            <a:pPr marL="171450" indent="-171450">
              <a:spcAft>
                <a:spcPts val="1200"/>
              </a:spcAft>
              <a:buFont typeface="Arial" panose="020B0604020202020204" pitchFamily="34" charset="0"/>
              <a:buChar char="•"/>
            </a:pPr>
            <a:r>
              <a:rPr lang="de-DE" sz="1300" dirty="0" err="1">
                <a:solidFill>
                  <a:schemeClr val="bg1"/>
                </a:solidFill>
                <a:latin typeface="Calibri" pitchFamily="34" charset="0"/>
                <a:ea typeface="Calibri" pitchFamily="34" charset="-122"/>
                <a:cs typeface="Calibri" pitchFamily="34" charset="-120"/>
              </a:rPr>
              <a:t>DimGeography</a:t>
            </a:r>
            <a:r>
              <a:rPr lang="de-DE" sz="1300" dirty="0">
                <a:solidFill>
                  <a:schemeClr val="bg1"/>
                </a:solidFill>
                <a:latin typeface="Calibri" pitchFamily="34" charset="0"/>
                <a:ea typeface="Calibri" pitchFamily="34" charset="-122"/>
                <a:cs typeface="Calibri" pitchFamily="34" charset="-120"/>
              </a:rPr>
              <a:t> um Koordinaten erweitert (Merge)</a:t>
            </a:r>
          </a:p>
          <a:p>
            <a:pPr marL="171450" indent="-171450">
              <a:spcAft>
                <a:spcPts val="1200"/>
              </a:spcAft>
              <a:buFont typeface="Arial" panose="020B0604020202020204" pitchFamily="34" charset="0"/>
              <a:buChar char="•"/>
            </a:pPr>
            <a:r>
              <a:rPr lang="de-DE" sz="1300" dirty="0">
                <a:solidFill>
                  <a:schemeClr val="bg1"/>
                </a:solidFill>
                <a:latin typeface="Calibri" pitchFamily="34" charset="0"/>
                <a:ea typeface="Calibri" pitchFamily="34" charset="-122"/>
                <a:cs typeface="Calibri" pitchFamily="34" charset="-120"/>
              </a:rPr>
              <a:t>Überprüfung auf Blanks/Fehler</a:t>
            </a:r>
          </a:p>
          <a:p>
            <a:pPr marL="171450" indent="-171450">
              <a:spcAft>
                <a:spcPts val="1200"/>
              </a:spcAft>
              <a:buFont typeface="Arial" panose="020B0604020202020204" pitchFamily="34" charset="0"/>
              <a:buChar char="•"/>
            </a:pPr>
            <a:r>
              <a:rPr lang="de-DE" sz="1300" dirty="0">
                <a:solidFill>
                  <a:schemeClr val="bg1"/>
                </a:solidFill>
                <a:latin typeface="Calibri" pitchFamily="34" charset="0"/>
                <a:ea typeface="Calibri" pitchFamily="34" charset="-122"/>
                <a:cs typeface="Calibri" pitchFamily="34" charset="-120"/>
              </a:rPr>
              <a:t>Datumstabelle auf Vollständigkeit geprüft</a:t>
            </a:r>
          </a:p>
          <a:p>
            <a:pPr marL="171450" indent="-171450">
              <a:spcAft>
                <a:spcPts val="1200"/>
              </a:spcAft>
              <a:buFont typeface="Arial" panose="020B0604020202020204" pitchFamily="34" charset="0"/>
              <a:buChar char="•"/>
            </a:pPr>
            <a:r>
              <a:rPr lang="de-DE" sz="1300" dirty="0">
                <a:solidFill>
                  <a:schemeClr val="bg1"/>
                </a:solidFill>
                <a:latin typeface="Calibri" pitchFamily="34" charset="0"/>
                <a:ea typeface="Calibri" pitchFamily="34" charset="-122"/>
                <a:cs typeface="Calibri" pitchFamily="34" charset="-120"/>
              </a:rPr>
              <a:t>Währungsformat über Systemeinstellung angepasst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65760"/>
            <a:ext cx="2377440" cy="310896"/>
          </a:xfrm>
          <a:prstGeom prst="roundRect">
            <a:avLst>
              <a:gd name="adj" fmla="val 50000"/>
            </a:avLst>
          </a:prstGeom>
          <a:solidFill>
            <a:srgbClr val="DCEEE9"/>
          </a:solidFill>
          <a:ln/>
        </p:spPr>
        <p:txBody>
          <a:bodyPr/>
          <a:lstStyle/>
          <a:p>
            <a:endParaRPr lang="de-DE"/>
          </a:p>
        </p:txBody>
      </p:sp>
      <p:sp>
        <p:nvSpPr>
          <p:cNvPr id="3" name="Text 1"/>
          <p:cNvSpPr/>
          <p:nvPr/>
        </p:nvSpPr>
        <p:spPr>
          <a:xfrm>
            <a:off x="457200" y="365760"/>
            <a:ext cx="2377440" cy="310896"/>
          </a:xfrm>
          <a:prstGeom prst="rect">
            <a:avLst/>
          </a:prstGeom>
          <a:noFill/>
          <a:ln/>
        </p:spPr>
        <p:txBody>
          <a:bodyPr wrap="square" rtlCol="0" anchor="ctr"/>
          <a:lstStyle/>
          <a:p>
            <a:pPr marL="0" indent="0" algn="ctr">
              <a:buNone/>
            </a:pPr>
            <a:r>
              <a:rPr lang="en-US" sz="1100" b="1" dirty="0">
                <a:solidFill>
                  <a:srgbClr val="0F6E56"/>
                </a:solidFill>
                <a:latin typeface="Calibri" pitchFamily="34" charset="0"/>
                <a:ea typeface="Calibri" pitchFamily="34" charset="-122"/>
                <a:cs typeface="Calibri" pitchFamily="34" charset="-120"/>
              </a:rPr>
              <a:t>TECHNOLOGIE-STACK &amp; METHODIK</a:t>
            </a:r>
            <a:endParaRPr lang="en-US" sz="1100" dirty="0"/>
          </a:p>
        </p:txBody>
      </p:sp>
      <p:sp>
        <p:nvSpPr>
          <p:cNvPr id="4" name="Text 2"/>
          <p:cNvSpPr/>
          <p:nvPr/>
        </p:nvSpPr>
        <p:spPr>
          <a:xfrm>
            <a:off x="457200" y="777240"/>
            <a:ext cx="11274552" cy="548640"/>
          </a:xfrm>
          <a:prstGeom prst="rect">
            <a:avLst/>
          </a:prstGeom>
          <a:noFill/>
          <a:ln/>
        </p:spPr>
        <p:txBody>
          <a:bodyPr wrap="square" rtlCol="0" anchor="ctr"/>
          <a:lstStyle/>
          <a:p>
            <a:pPr marL="0" indent="0">
              <a:buNone/>
            </a:pPr>
            <a:r>
              <a:rPr lang="en-US" sz="2800" b="1" dirty="0">
                <a:solidFill>
                  <a:srgbClr val="1B3A57"/>
                </a:solidFill>
                <a:latin typeface="Cambria" pitchFamily="34" charset="0"/>
                <a:ea typeface="Cambria" pitchFamily="34" charset="-122"/>
                <a:cs typeface="Cambria" pitchFamily="34" charset="-120"/>
              </a:rPr>
              <a:t>Reproduzierbarkeit &amp; Dokumentation</a:t>
            </a:r>
            <a:endParaRPr lang="en-US" sz="2800" dirty="0"/>
          </a:p>
        </p:txBody>
      </p:sp>
      <p:sp>
        <p:nvSpPr>
          <p:cNvPr id="7" name="Text 5"/>
          <p:cNvSpPr/>
          <p:nvPr/>
        </p:nvSpPr>
        <p:spPr>
          <a:xfrm>
            <a:off x="1115568" y="1865376"/>
            <a:ext cx="10058400" cy="365760"/>
          </a:xfrm>
          <a:prstGeom prst="rect">
            <a:avLst/>
          </a:prstGeom>
          <a:noFill/>
          <a:ln/>
        </p:spPr>
        <p:txBody>
          <a:bodyPr wrap="square" rtlCol="0" anchor="ctr"/>
          <a:lstStyle/>
          <a:p>
            <a:pPr marL="0" indent="0">
              <a:buNone/>
            </a:pPr>
            <a:r>
              <a:rPr lang="en-US" sz="1600" b="1" dirty="0">
                <a:solidFill>
                  <a:srgbClr val="1B3A57"/>
                </a:solidFill>
                <a:latin typeface="Calibri" pitchFamily="34" charset="0"/>
                <a:ea typeface="Calibri" pitchFamily="34" charset="-122"/>
                <a:cs typeface="Calibri" pitchFamily="34" charset="-120"/>
              </a:rPr>
              <a:t>Zentrale MeasureCollection</a:t>
            </a:r>
            <a:endParaRPr lang="en-US" sz="1600" dirty="0"/>
          </a:p>
        </p:txBody>
      </p:sp>
      <p:sp>
        <p:nvSpPr>
          <p:cNvPr id="8" name="Text 6"/>
          <p:cNvSpPr/>
          <p:nvPr/>
        </p:nvSpPr>
        <p:spPr>
          <a:xfrm>
            <a:off x="1115568" y="2240280"/>
            <a:ext cx="10058400" cy="548640"/>
          </a:xfrm>
          <a:prstGeom prst="rect">
            <a:avLst/>
          </a:prstGeom>
          <a:noFill/>
          <a:ln/>
        </p:spPr>
        <p:txBody>
          <a:bodyPr wrap="square" rtlCol="0" anchor="ctr"/>
          <a:lstStyle/>
          <a:p>
            <a:pPr marL="0" indent="0">
              <a:lnSpc>
                <a:spcPts val="1600"/>
              </a:lnSpc>
              <a:buNone/>
            </a:pPr>
            <a:r>
              <a:rPr lang="en-US" sz="1400" dirty="0">
                <a:solidFill>
                  <a:srgbClr val="1F2937"/>
                </a:solidFill>
                <a:latin typeface="Calibri" pitchFamily="34" charset="0"/>
                <a:ea typeface="Calibri" pitchFamily="34" charset="-122"/>
                <a:cs typeface="Calibri" pitchFamily="34" charset="-120"/>
              </a:rPr>
              <a:t>Alle DAX-Measures liegen in einer eigenen, tabellenlosen Sammlung statt verstreut in Dim-/Fact-Tabellen — sofort auffindbar für jede weitere Bearbeitung.</a:t>
            </a:r>
            <a:endParaRPr lang="en-US" sz="1400" dirty="0"/>
          </a:p>
        </p:txBody>
      </p:sp>
      <p:sp>
        <p:nvSpPr>
          <p:cNvPr id="11" name="Text 9"/>
          <p:cNvSpPr/>
          <p:nvPr/>
        </p:nvSpPr>
        <p:spPr>
          <a:xfrm>
            <a:off x="1115568" y="2916936"/>
            <a:ext cx="10058400" cy="365760"/>
          </a:xfrm>
          <a:prstGeom prst="rect">
            <a:avLst/>
          </a:prstGeom>
          <a:noFill/>
          <a:ln/>
        </p:spPr>
        <p:txBody>
          <a:bodyPr wrap="square" rtlCol="0" anchor="ctr"/>
          <a:lstStyle/>
          <a:p>
            <a:pPr marL="0" indent="0">
              <a:buNone/>
            </a:pPr>
            <a:r>
              <a:rPr lang="en-US" sz="1600" b="1" dirty="0">
                <a:solidFill>
                  <a:srgbClr val="1B3A57"/>
                </a:solidFill>
                <a:latin typeface="Calibri" pitchFamily="34" charset="0"/>
                <a:ea typeface="Calibri" pitchFamily="34" charset="-122"/>
                <a:cs typeface="Calibri" pitchFamily="34" charset="-120"/>
              </a:rPr>
              <a:t>Konsistente Namenskonvention</a:t>
            </a:r>
            <a:endParaRPr lang="en-US" sz="1600" dirty="0"/>
          </a:p>
        </p:txBody>
      </p:sp>
      <p:sp>
        <p:nvSpPr>
          <p:cNvPr id="12" name="Text 10"/>
          <p:cNvSpPr/>
          <p:nvPr/>
        </p:nvSpPr>
        <p:spPr>
          <a:xfrm>
            <a:off x="1115568" y="3273552"/>
            <a:ext cx="10058400" cy="548640"/>
          </a:xfrm>
          <a:prstGeom prst="rect">
            <a:avLst/>
          </a:prstGeom>
          <a:noFill/>
          <a:ln/>
        </p:spPr>
        <p:txBody>
          <a:bodyPr wrap="square" rtlCol="0" anchor="ctr"/>
          <a:lstStyle/>
          <a:p>
            <a:pPr marL="0" indent="0">
              <a:lnSpc>
                <a:spcPts val="1600"/>
              </a:lnSpc>
              <a:buNone/>
            </a:pPr>
            <a:r>
              <a:rPr lang="en-US" sz="1400" dirty="0">
                <a:solidFill>
                  <a:srgbClr val="1F2937"/>
                </a:solidFill>
                <a:latin typeface="Calibri" pitchFamily="34" charset="0"/>
                <a:ea typeface="Calibri" pitchFamily="34" charset="-122"/>
                <a:cs typeface="Calibri" pitchFamily="34" charset="-120"/>
              </a:rPr>
              <a:t>Einheitliche Muster wie „X YoY %“, „Fastest Growing X“, „Top X“ machen die Logik einer Measure bereits am Namen erkennbar.</a:t>
            </a:r>
            <a:endParaRPr lang="en-US" sz="1400" dirty="0"/>
          </a:p>
        </p:txBody>
      </p:sp>
      <p:sp>
        <p:nvSpPr>
          <p:cNvPr id="15" name="Text 13"/>
          <p:cNvSpPr/>
          <p:nvPr/>
        </p:nvSpPr>
        <p:spPr>
          <a:xfrm>
            <a:off x="1115568" y="3968496"/>
            <a:ext cx="10058400" cy="365760"/>
          </a:xfrm>
          <a:prstGeom prst="rect">
            <a:avLst/>
          </a:prstGeom>
          <a:noFill/>
          <a:ln/>
        </p:spPr>
        <p:txBody>
          <a:bodyPr wrap="square" rtlCol="0" anchor="ctr"/>
          <a:lstStyle/>
          <a:p>
            <a:pPr marL="0" indent="0">
              <a:buNone/>
            </a:pPr>
            <a:r>
              <a:rPr lang="en-US" sz="1600" b="1" dirty="0">
                <a:solidFill>
                  <a:srgbClr val="1B3A57"/>
                </a:solidFill>
                <a:latin typeface="Calibri" pitchFamily="34" charset="0"/>
                <a:ea typeface="Calibri" pitchFamily="34" charset="-122"/>
                <a:cs typeface="Calibri" pitchFamily="34" charset="-120"/>
              </a:rPr>
              <a:t>Standard-Sternschema</a:t>
            </a:r>
            <a:endParaRPr lang="en-US" sz="1600" dirty="0"/>
          </a:p>
        </p:txBody>
      </p:sp>
      <p:sp>
        <p:nvSpPr>
          <p:cNvPr id="16" name="Text 14"/>
          <p:cNvSpPr/>
          <p:nvPr/>
        </p:nvSpPr>
        <p:spPr>
          <a:xfrm>
            <a:off x="1115568" y="4343400"/>
            <a:ext cx="10058400" cy="548640"/>
          </a:xfrm>
          <a:prstGeom prst="rect">
            <a:avLst/>
          </a:prstGeom>
          <a:noFill/>
          <a:ln/>
        </p:spPr>
        <p:txBody>
          <a:bodyPr wrap="square" rtlCol="0" anchor="ctr"/>
          <a:lstStyle/>
          <a:p>
            <a:pPr marL="0" indent="0">
              <a:lnSpc>
                <a:spcPts val="1600"/>
              </a:lnSpc>
              <a:buNone/>
            </a:pPr>
            <a:r>
              <a:rPr lang="en-US" sz="1400" dirty="0">
                <a:solidFill>
                  <a:srgbClr val="1F2937"/>
                </a:solidFill>
                <a:latin typeface="Calibri" pitchFamily="34" charset="0"/>
                <a:ea typeface="Calibri" pitchFamily="34" charset="-122"/>
                <a:cs typeface="Calibri" pitchFamily="34" charset="-120"/>
              </a:rPr>
              <a:t>Jeder Power-BI-Entwickler erkennt Struktur und Beziehungen ohne Zusatzerklärung — keine projektspezifischen Sonderlösungen.</a:t>
            </a:r>
            <a:endParaRPr lang="en-US" sz="1400" dirty="0"/>
          </a:p>
        </p:txBody>
      </p:sp>
      <p:sp>
        <p:nvSpPr>
          <p:cNvPr id="19" name="Text 17"/>
          <p:cNvSpPr/>
          <p:nvPr/>
        </p:nvSpPr>
        <p:spPr>
          <a:xfrm>
            <a:off x="1115568" y="5020056"/>
            <a:ext cx="10058400" cy="365760"/>
          </a:xfrm>
          <a:prstGeom prst="rect">
            <a:avLst/>
          </a:prstGeom>
          <a:noFill/>
          <a:ln/>
        </p:spPr>
        <p:txBody>
          <a:bodyPr wrap="square" rtlCol="0" anchor="ctr"/>
          <a:lstStyle/>
          <a:p>
            <a:pPr marL="0" indent="0">
              <a:buNone/>
            </a:pPr>
            <a:r>
              <a:rPr lang="en-US" sz="1600" b="1" dirty="0">
                <a:solidFill>
                  <a:srgbClr val="1B3A57"/>
                </a:solidFill>
                <a:latin typeface="Calibri" pitchFamily="34" charset="0"/>
                <a:ea typeface="Calibri" pitchFamily="34" charset="-122"/>
                <a:cs typeface="Calibri" pitchFamily="34" charset="-120"/>
              </a:rPr>
              <a:t>Versionierte Iteration</a:t>
            </a:r>
            <a:endParaRPr lang="en-US" sz="1600" dirty="0"/>
          </a:p>
        </p:txBody>
      </p:sp>
      <p:sp>
        <p:nvSpPr>
          <p:cNvPr id="20" name="Text 18"/>
          <p:cNvSpPr/>
          <p:nvPr/>
        </p:nvSpPr>
        <p:spPr>
          <a:xfrm>
            <a:off x="1115568" y="5394960"/>
            <a:ext cx="10058400" cy="548640"/>
          </a:xfrm>
          <a:prstGeom prst="rect">
            <a:avLst/>
          </a:prstGeom>
          <a:noFill/>
          <a:ln/>
        </p:spPr>
        <p:txBody>
          <a:bodyPr wrap="square" rtlCol="0" anchor="ctr"/>
          <a:lstStyle/>
          <a:p>
            <a:pPr marL="0" indent="0">
              <a:lnSpc>
                <a:spcPts val="1600"/>
              </a:lnSpc>
              <a:buNone/>
            </a:pPr>
            <a:r>
              <a:rPr lang="en-US" sz="1400" dirty="0">
                <a:solidFill>
                  <a:srgbClr val="1F2937"/>
                </a:solidFill>
                <a:latin typeface="Calibri" pitchFamily="34" charset="0"/>
                <a:ea typeface="Calibri" pitchFamily="34" charset="-122"/>
                <a:cs typeface="Calibri" pitchFamily="34" charset="-120"/>
              </a:rPr>
              <a:t>Der Report wurde in dokumentierten Etappen weiterentwickelt (v1 → v</a:t>
            </a:r>
            <a:r>
              <a:rPr lang="en-US" sz="1400" dirty="0">
                <a:solidFill>
                  <a:srgbClr val="1F2937"/>
                </a:solidFill>
                <a:highlight>
                  <a:srgbClr val="FFFFFF"/>
                </a:highlight>
                <a:latin typeface="Calibri" pitchFamily="34" charset="0"/>
                <a:ea typeface="Calibri" pitchFamily="34" charset="-122"/>
                <a:cs typeface="Calibri" pitchFamily="34" charset="-120"/>
              </a:rPr>
              <a:t>11</a:t>
            </a:r>
            <a:r>
              <a:rPr lang="en-US" sz="1400" dirty="0">
                <a:solidFill>
                  <a:srgbClr val="1F2937"/>
                </a:solidFill>
                <a:latin typeface="Calibri" pitchFamily="34" charset="0"/>
                <a:ea typeface="Calibri" pitchFamily="34" charset="-122"/>
                <a:cs typeface="Calibri" pitchFamily="34" charset="-120"/>
              </a:rPr>
              <a:t>), inklusive Review und Korrektur einzelner Kennzahlen (siehe Selbstreflexion).</a:t>
            </a:r>
            <a:endParaRPr lang="en-US" sz="1400" dirty="0"/>
          </a:p>
        </p:txBody>
      </p:sp>
      <p:sp>
        <p:nvSpPr>
          <p:cNvPr id="21" name="Text 19"/>
          <p:cNvSpPr/>
          <p:nvPr/>
        </p:nvSpPr>
        <p:spPr>
          <a:xfrm>
            <a:off x="457200" y="6473952"/>
            <a:ext cx="8229600" cy="274320"/>
          </a:xfrm>
          <a:prstGeom prst="rect">
            <a:avLst/>
          </a:prstGeom>
          <a:noFill/>
          <a:ln/>
        </p:spPr>
        <p:txBody>
          <a:bodyPr wrap="square" rtlCol="0" anchor="ctr"/>
          <a:lstStyle/>
          <a:p>
            <a:pPr marL="0" indent="0">
              <a:buNone/>
            </a:pPr>
            <a:r>
              <a:rPr lang="en-US" sz="850" dirty="0">
                <a:solidFill>
                  <a:srgbClr val="5B6472"/>
                </a:solidFill>
                <a:latin typeface="Calibri" pitchFamily="34" charset="0"/>
                <a:ea typeface="Calibri" pitchFamily="34" charset="-122"/>
                <a:cs typeface="Calibri" pitchFamily="34" charset="-120"/>
              </a:rPr>
              <a:t>Home &amp; Lifestyle Retail Group  ·  Performance &amp; Insights Report</a:t>
            </a:r>
            <a:endParaRPr lang="en-US" sz="850" dirty="0"/>
          </a:p>
        </p:txBody>
      </p:sp>
      <p:sp>
        <p:nvSpPr>
          <p:cNvPr id="22" name="Text 20"/>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5B6472"/>
                </a:solidFill>
                <a:latin typeface="Calibri" pitchFamily="34" charset="0"/>
                <a:ea typeface="Calibri" pitchFamily="34" charset="-122"/>
                <a:cs typeface="Calibri" pitchFamily="34" charset="-120"/>
              </a:rPr>
              <a:t>9</a:t>
            </a:r>
            <a:endParaRPr lang="en-US" sz="850" dirty="0"/>
          </a:p>
        </p:txBody>
      </p:sp>
      <p:sp>
        <p:nvSpPr>
          <p:cNvPr id="44" name="Shape 3">
            <a:extLst>
              <a:ext uri="{FF2B5EF4-FFF2-40B4-BE49-F238E27FC236}">
                <a16:creationId xmlns:a16="http://schemas.microsoft.com/office/drawing/2014/main" id="{42900C1F-0AC8-F97F-508A-FB658BBA5C00}"/>
              </a:ext>
            </a:extLst>
          </p:cNvPr>
          <p:cNvSpPr/>
          <p:nvPr/>
        </p:nvSpPr>
        <p:spPr>
          <a:xfrm>
            <a:off x="457200" y="1895856"/>
            <a:ext cx="457200" cy="457200"/>
          </a:xfrm>
          <a:prstGeom prst="ellipse">
            <a:avLst/>
          </a:prstGeom>
          <a:solidFill>
            <a:srgbClr val="DCEEE9"/>
          </a:solidFill>
          <a:ln/>
        </p:spPr>
        <p:txBody>
          <a:bodyPr/>
          <a:lstStyle/>
          <a:p>
            <a:endParaRPr lang="de-DE"/>
          </a:p>
        </p:txBody>
      </p:sp>
      <p:sp>
        <p:nvSpPr>
          <p:cNvPr id="46" name="Text 4">
            <a:extLst>
              <a:ext uri="{FF2B5EF4-FFF2-40B4-BE49-F238E27FC236}">
                <a16:creationId xmlns:a16="http://schemas.microsoft.com/office/drawing/2014/main" id="{5A60F680-26DD-9102-C0C9-F749161E02D0}"/>
              </a:ext>
            </a:extLst>
          </p:cNvPr>
          <p:cNvSpPr/>
          <p:nvPr/>
        </p:nvSpPr>
        <p:spPr>
          <a:xfrm>
            <a:off x="457200" y="1895856"/>
            <a:ext cx="457200" cy="457200"/>
          </a:xfrm>
          <a:prstGeom prst="rect">
            <a:avLst/>
          </a:prstGeom>
          <a:noFill/>
          <a:ln/>
        </p:spPr>
        <p:txBody>
          <a:bodyPr wrap="square" rtlCol="0" anchor="ctr"/>
          <a:lstStyle/>
          <a:p>
            <a:pPr marL="0" indent="0" algn="ctr">
              <a:buNone/>
            </a:pPr>
            <a:r>
              <a:rPr lang="en-US" sz="1300" b="1" dirty="0">
                <a:solidFill>
                  <a:srgbClr val="0F6E56"/>
                </a:solidFill>
                <a:latin typeface="Calibri" pitchFamily="34" charset="0"/>
                <a:ea typeface="Calibri" pitchFamily="34" charset="-122"/>
                <a:cs typeface="Calibri" pitchFamily="34" charset="-120"/>
              </a:rPr>
              <a:t>01</a:t>
            </a:r>
            <a:endParaRPr lang="en-US" sz="1300" dirty="0"/>
          </a:p>
        </p:txBody>
      </p:sp>
      <p:sp>
        <p:nvSpPr>
          <p:cNvPr id="48" name="Shape 7">
            <a:extLst>
              <a:ext uri="{FF2B5EF4-FFF2-40B4-BE49-F238E27FC236}">
                <a16:creationId xmlns:a16="http://schemas.microsoft.com/office/drawing/2014/main" id="{FA48DD35-913A-B7B0-D57F-3CEB7F59DB94}"/>
              </a:ext>
            </a:extLst>
          </p:cNvPr>
          <p:cNvSpPr/>
          <p:nvPr/>
        </p:nvSpPr>
        <p:spPr>
          <a:xfrm>
            <a:off x="457200" y="2916936"/>
            <a:ext cx="457200" cy="457200"/>
          </a:xfrm>
          <a:prstGeom prst="ellipse">
            <a:avLst/>
          </a:prstGeom>
          <a:solidFill>
            <a:srgbClr val="DCEEE9"/>
          </a:solidFill>
          <a:ln/>
        </p:spPr>
        <p:txBody>
          <a:bodyPr/>
          <a:lstStyle/>
          <a:p>
            <a:endParaRPr lang="de-DE"/>
          </a:p>
        </p:txBody>
      </p:sp>
      <p:sp>
        <p:nvSpPr>
          <p:cNvPr id="50" name="Text 8">
            <a:extLst>
              <a:ext uri="{FF2B5EF4-FFF2-40B4-BE49-F238E27FC236}">
                <a16:creationId xmlns:a16="http://schemas.microsoft.com/office/drawing/2014/main" id="{9B6BB29F-D4F5-3CF8-B081-3656A977FA20}"/>
              </a:ext>
            </a:extLst>
          </p:cNvPr>
          <p:cNvSpPr/>
          <p:nvPr/>
        </p:nvSpPr>
        <p:spPr>
          <a:xfrm>
            <a:off x="457200" y="2916936"/>
            <a:ext cx="457200" cy="457200"/>
          </a:xfrm>
          <a:prstGeom prst="rect">
            <a:avLst/>
          </a:prstGeom>
          <a:noFill/>
          <a:ln/>
        </p:spPr>
        <p:txBody>
          <a:bodyPr wrap="square" rtlCol="0" anchor="ctr"/>
          <a:lstStyle/>
          <a:p>
            <a:pPr marL="0" indent="0" algn="ctr">
              <a:buNone/>
            </a:pPr>
            <a:r>
              <a:rPr lang="en-US" sz="1300" b="1" dirty="0">
                <a:solidFill>
                  <a:srgbClr val="0F6E56"/>
                </a:solidFill>
                <a:latin typeface="Calibri" pitchFamily="34" charset="0"/>
                <a:ea typeface="Calibri" pitchFamily="34" charset="-122"/>
                <a:cs typeface="Calibri" pitchFamily="34" charset="-120"/>
              </a:rPr>
              <a:t>02</a:t>
            </a:r>
            <a:endParaRPr lang="en-US" sz="1300" dirty="0"/>
          </a:p>
        </p:txBody>
      </p:sp>
      <p:sp>
        <p:nvSpPr>
          <p:cNvPr id="52" name="Shape 11">
            <a:extLst>
              <a:ext uri="{FF2B5EF4-FFF2-40B4-BE49-F238E27FC236}">
                <a16:creationId xmlns:a16="http://schemas.microsoft.com/office/drawing/2014/main" id="{FA22D714-0079-6619-026F-BA1420D1B668}"/>
              </a:ext>
            </a:extLst>
          </p:cNvPr>
          <p:cNvSpPr/>
          <p:nvPr/>
        </p:nvSpPr>
        <p:spPr>
          <a:xfrm>
            <a:off x="457200" y="3968496"/>
            <a:ext cx="457200" cy="457200"/>
          </a:xfrm>
          <a:prstGeom prst="ellipse">
            <a:avLst/>
          </a:prstGeom>
          <a:solidFill>
            <a:srgbClr val="DCEEE9"/>
          </a:solidFill>
          <a:ln/>
        </p:spPr>
        <p:txBody>
          <a:bodyPr/>
          <a:lstStyle/>
          <a:p>
            <a:endParaRPr lang="de-DE"/>
          </a:p>
        </p:txBody>
      </p:sp>
      <p:sp>
        <p:nvSpPr>
          <p:cNvPr id="54" name="Text 12">
            <a:extLst>
              <a:ext uri="{FF2B5EF4-FFF2-40B4-BE49-F238E27FC236}">
                <a16:creationId xmlns:a16="http://schemas.microsoft.com/office/drawing/2014/main" id="{641B944E-3313-56FC-D1BE-9B489CD35989}"/>
              </a:ext>
            </a:extLst>
          </p:cNvPr>
          <p:cNvSpPr/>
          <p:nvPr/>
        </p:nvSpPr>
        <p:spPr>
          <a:xfrm>
            <a:off x="457200" y="3968496"/>
            <a:ext cx="457200" cy="457200"/>
          </a:xfrm>
          <a:prstGeom prst="rect">
            <a:avLst/>
          </a:prstGeom>
          <a:noFill/>
          <a:ln/>
        </p:spPr>
        <p:txBody>
          <a:bodyPr wrap="square" rtlCol="0" anchor="ctr"/>
          <a:lstStyle/>
          <a:p>
            <a:pPr marL="0" indent="0" algn="ctr">
              <a:buNone/>
            </a:pPr>
            <a:r>
              <a:rPr lang="en-US" sz="1300" b="1" dirty="0">
                <a:solidFill>
                  <a:srgbClr val="0F6E56"/>
                </a:solidFill>
                <a:latin typeface="Calibri" pitchFamily="34" charset="0"/>
                <a:ea typeface="Calibri" pitchFamily="34" charset="-122"/>
                <a:cs typeface="Calibri" pitchFamily="34" charset="-120"/>
              </a:rPr>
              <a:t>03</a:t>
            </a:r>
            <a:endParaRPr lang="en-US" sz="1300" dirty="0"/>
          </a:p>
        </p:txBody>
      </p:sp>
      <p:sp>
        <p:nvSpPr>
          <p:cNvPr id="56" name="Shape 15">
            <a:extLst>
              <a:ext uri="{FF2B5EF4-FFF2-40B4-BE49-F238E27FC236}">
                <a16:creationId xmlns:a16="http://schemas.microsoft.com/office/drawing/2014/main" id="{7D337F7E-A535-B015-E87E-66B6F7722DDF}"/>
              </a:ext>
            </a:extLst>
          </p:cNvPr>
          <p:cNvSpPr/>
          <p:nvPr/>
        </p:nvSpPr>
        <p:spPr>
          <a:xfrm>
            <a:off x="457200" y="5020056"/>
            <a:ext cx="457200" cy="457200"/>
          </a:xfrm>
          <a:prstGeom prst="ellipse">
            <a:avLst/>
          </a:prstGeom>
          <a:solidFill>
            <a:srgbClr val="DCEEE9"/>
          </a:solidFill>
          <a:ln/>
        </p:spPr>
        <p:txBody>
          <a:bodyPr/>
          <a:lstStyle/>
          <a:p>
            <a:endParaRPr lang="de-DE"/>
          </a:p>
        </p:txBody>
      </p:sp>
      <p:sp>
        <p:nvSpPr>
          <p:cNvPr id="58" name="Text 16">
            <a:extLst>
              <a:ext uri="{FF2B5EF4-FFF2-40B4-BE49-F238E27FC236}">
                <a16:creationId xmlns:a16="http://schemas.microsoft.com/office/drawing/2014/main" id="{6DD58C8A-9FCD-EBF7-99A0-9E4E59E17FA3}"/>
              </a:ext>
            </a:extLst>
          </p:cNvPr>
          <p:cNvSpPr/>
          <p:nvPr/>
        </p:nvSpPr>
        <p:spPr>
          <a:xfrm>
            <a:off x="457200" y="5020056"/>
            <a:ext cx="457200" cy="457200"/>
          </a:xfrm>
          <a:prstGeom prst="rect">
            <a:avLst/>
          </a:prstGeom>
          <a:noFill/>
          <a:ln/>
        </p:spPr>
        <p:txBody>
          <a:bodyPr wrap="square" rtlCol="0" anchor="ctr"/>
          <a:lstStyle/>
          <a:p>
            <a:pPr marL="0" indent="0" algn="ctr">
              <a:buNone/>
            </a:pPr>
            <a:r>
              <a:rPr lang="en-US" sz="1300" b="1" dirty="0">
                <a:solidFill>
                  <a:srgbClr val="0F6E56"/>
                </a:solidFill>
                <a:latin typeface="Calibri" pitchFamily="34" charset="0"/>
                <a:ea typeface="Calibri" pitchFamily="34" charset="-122"/>
                <a:cs typeface="Calibri" pitchFamily="34" charset="-120"/>
              </a:rPr>
              <a:t>04</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1" title="Microsoft Power BI">
                <a:extLst>
                  <a:ext uri="{FF2B5EF4-FFF2-40B4-BE49-F238E27FC236}">
                    <a16:creationId xmlns:a16="http://schemas.microsoft.com/office/drawing/2014/main" id="{75CCEB05-2397-8216-E354-AACC8739ECF4}"/>
                  </a:ext>
                </a:extLst>
              </p:cNvPr>
              <p:cNvGraphicFramePr>
                <a:graphicFrameLocks noGrp="1"/>
              </p:cNvGraphicFramePr>
              <p:nvPr>
                <p:extLst>
                  <p:ext uri="{D42A27DB-BD31-4B8C-83A1-F6EECF244321}">
                    <p14:modId xmlns:p14="http://schemas.microsoft.com/office/powerpoint/2010/main" val="1563940573"/>
                  </p:ext>
                </p:extLst>
              </p:nvPr>
            </p:nvGraphicFramePr>
            <p:xfrm>
              <a:off x="0" y="0"/>
              <a:ext cx="12192000" cy="68580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2" name="Add-in 1" title="Microsoft Power BI">
                <a:extLst>
                  <a:ext uri="{FF2B5EF4-FFF2-40B4-BE49-F238E27FC236}">
                    <a16:creationId xmlns:a16="http://schemas.microsoft.com/office/drawing/2014/main" id="{75CCEB05-2397-8216-E354-AACC8739ECF4}"/>
                  </a:ext>
                </a:extLst>
              </p:cNvPr>
              <p:cNvPicPr>
                <a:picLocks noGrp="1" noRot="1" noChangeAspect="1" noMove="1" noResize="1" noEditPoints="1" noAdjustHandles="1" noChangeArrowheads="1" noChangeShapeType="1"/>
              </p:cNvPicPr>
              <p:nvPr/>
            </p:nvPicPr>
            <p:blipFill>
              <a:blip r:embed="rId3"/>
              <a:stretch>
                <a:fillRect/>
              </a:stretch>
            </p:blipFill>
            <p:spPr>
              <a:xfrm>
                <a:off x="0" y="0"/>
                <a:ext cx="12192000" cy="6858000"/>
              </a:xfrm>
              <a:prstGeom prst="rect">
                <a:avLst/>
              </a:prstGeom>
            </p:spPr>
          </p:pic>
        </mc:Fallback>
      </mc:AlternateContent>
    </p:spTree>
    <p:extLst>
      <p:ext uri="{BB962C8B-B14F-4D97-AF65-F5344CB8AC3E}">
        <p14:creationId xmlns:p14="http://schemas.microsoft.com/office/powerpoint/2010/main" val="458060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chemeClr val="bg1"/>
          </a:solidFill>
          <a:ln/>
        </p:spPr>
        <p:txBody>
          <a:bodyPr/>
          <a:lstStyle/>
          <a:p>
            <a:endParaRPr lang="de-DE"/>
          </a:p>
        </p:txBody>
      </p:sp>
      <p:sp>
        <p:nvSpPr>
          <p:cNvPr id="4" name="Text 2"/>
          <p:cNvSpPr/>
          <p:nvPr/>
        </p:nvSpPr>
        <p:spPr>
          <a:xfrm>
            <a:off x="502920" y="563544"/>
            <a:ext cx="10515600" cy="640080"/>
          </a:xfrm>
          <a:prstGeom prst="rect">
            <a:avLst/>
          </a:prstGeom>
          <a:noFill/>
          <a:ln/>
        </p:spPr>
        <p:txBody>
          <a:bodyPr wrap="square" lIns="0" tIns="0" rIns="0" bIns="0" rtlCol="0" anchor="ctr"/>
          <a:lstStyle/>
          <a:p>
            <a:pPr marL="0" indent="0">
              <a:buNone/>
            </a:pPr>
            <a:r>
              <a:rPr lang="en-US" sz="2600" b="1" dirty="0">
                <a:solidFill>
                  <a:srgbClr val="1B3A57"/>
                </a:solidFill>
                <a:latin typeface="Cambria" pitchFamily="34" charset="0"/>
                <a:ea typeface="Cambria" pitchFamily="34" charset="-122"/>
                <a:cs typeface="Cambria" pitchFamily="34" charset="-120"/>
              </a:rPr>
              <a:t>Warum das RFM-Modell?</a:t>
            </a:r>
            <a:endParaRPr lang="en-US" sz="2600" dirty="0">
              <a:solidFill>
                <a:srgbClr val="1B3A57"/>
              </a:solidFill>
            </a:endParaRPr>
          </a:p>
        </p:txBody>
      </p:sp>
      <p:sp>
        <p:nvSpPr>
          <p:cNvPr id="5" name="Text 3"/>
          <p:cNvSpPr/>
          <p:nvPr/>
        </p:nvSpPr>
        <p:spPr>
          <a:xfrm>
            <a:off x="502920" y="1376172"/>
            <a:ext cx="4846320" cy="274320"/>
          </a:xfrm>
          <a:prstGeom prst="rect">
            <a:avLst/>
          </a:prstGeom>
          <a:noFill/>
          <a:ln/>
        </p:spPr>
        <p:txBody>
          <a:bodyPr wrap="square" lIns="0" tIns="0" rIns="0" bIns="0" rtlCol="0" anchor="ctr"/>
          <a:lstStyle/>
          <a:p>
            <a:pPr marL="0" indent="0">
              <a:buNone/>
            </a:pPr>
            <a:r>
              <a:rPr lang="en-US" sz="1400" b="1" kern="0" spc="150" dirty="0">
                <a:solidFill>
                  <a:srgbClr val="12294F"/>
                </a:solidFill>
                <a:latin typeface="Calibri" pitchFamily="34" charset="0"/>
                <a:ea typeface="Calibri" pitchFamily="34" charset="-122"/>
                <a:cs typeface="Calibri" pitchFamily="34" charset="-120"/>
              </a:rPr>
              <a:t>DAS PROBLEM</a:t>
            </a:r>
            <a:endParaRPr lang="en-US" sz="1400" dirty="0"/>
          </a:p>
        </p:txBody>
      </p:sp>
      <p:sp>
        <p:nvSpPr>
          <p:cNvPr id="6" name="Text 4"/>
          <p:cNvSpPr/>
          <p:nvPr/>
        </p:nvSpPr>
        <p:spPr>
          <a:xfrm>
            <a:off x="502920" y="1696212"/>
            <a:ext cx="4846320" cy="1370967"/>
          </a:xfrm>
          <a:prstGeom prst="rect">
            <a:avLst/>
          </a:prstGeom>
          <a:noFill/>
          <a:ln/>
        </p:spPr>
        <p:txBody>
          <a:bodyPr wrap="square" lIns="0" tIns="0" rIns="0" bIns="0" rtlCol="0" anchor="t"/>
          <a:lstStyle/>
          <a:p>
            <a:pPr marL="285750" indent="-285750">
              <a:lnSpc>
                <a:spcPct val="115000"/>
              </a:lnSpc>
              <a:spcAft>
                <a:spcPts val="600"/>
              </a:spcAft>
              <a:buFont typeface="Arial" panose="020B0604020202020204" pitchFamily="34" charset="0"/>
              <a:buChar char="•"/>
            </a:pPr>
            <a:r>
              <a:rPr lang="en-US" sz="1300" dirty="0">
                <a:solidFill>
                  <a:srgbClr val="2B3446"/>
                </a:solidFill>
                <a:latin typeface="Calibri" pitchFamily="34" charset="0"/>
                <a:ea typeface="Calibri" pitchFamily="34" charset="-122"/>
                <a:cs typeface="Calibri" pitchFamily="34" charset="-120"/>
              </a:rPr>
              <a:t>1.500 Kunden - aber </a:t>
            </a:r>
            <a:r>
              <a:rPr lang="en-US" sz="1300" b="1" dirty="0">
                <a:solidFill>
                  <a:srgbClr val="2B3446"/>
                </a:solidFill>
                <a:latin typeface="Calibri" pitchFamily="34" charset="0"/>
                <a:ea typeface="Calibri" pitchFamily="34" charset="-122"/>
                <a:cs typeface="Calibri" pitchFamily="34" charset="-120"/>
              </a:rPr>
              <a:t>nicht alle sind </a:t>
            </a:r>
            <a:r>
              <a:rPr lang="en-US" sz="1300" b="1" dirty="0" err="1">
                <a:solidFill>
                  <a:srgbClr val="2B3446"/>
                </a:solidFill>
                <a:latin typeface="Calibri" pitchFamily="34" charset="0"/>
                <a:ea typeface="Calibri" pitchFamily="34" charset="-122"/>
                <a:cs typeface="Calibri" pitchFamily="34" charset="-120"/>
              </a:rPr>
              <a:t>gleich</a:t>
            </a:r>
            <a:r>
              <a:rPr lang="en-US" sz="1300" b="1" dirty="0">
                <a:solidFill>
                  <a:srgbClr val="2B3446"/>
                </a:solidFill>
                <a:latin typeface="Calibri" pitchFamily="34" charset="0"/>
                <a:ea typeface="Calibri" pitchFamily="34" charset="-122"/>
                <a:cs typeface="Calibri" pitchFamily="34" charset="-120"/>
              </a:rPr>
              <a:t> </a:t>
            </a:r>
            <a:r>
              <a:rPr lang="en-US" sz="1300" b="1" dirty="0" err="1">
                <a:solidFill>
                  <a:srgbClr val="2B3446"/>
                </a:solidFill>
                <a:latin typeface="Calibri" pitchFamily="34" charset="0"/>
                <a:ea typeface="Calibri" pitchFamily="34" charset="-122"/>
                <a:cs typeface="Calibri" pitchFamily="34" charset="-120"/>
              </a:rPr>
              <a:t>wertvoll</a:t>
            </a:r>
            <a:endParaRPr lang="en-US" sz="1300" b="1" dirty="0">
              <a:solidFill>
                <a:srgbClr val="2B3446"/>
              </a:solidFill>
              <a:latin typeface="Calibri" pitchFamily="34" charset="0"/>
              <a:ea typeface="Calibri" pitchFamily="34" charset="-122"/>
              <a:cs typeface="Calibri" pitchFamily="34" charset="-120"/>
            </a:endParaRPr>
          </a:p>
          <a:p>
            <a:pPr marL="285750" indent="-285750">
              <a:lnSpc>
                <a:spcPct val="115000"/>
              </a:lnSpc>
              <a:spcAft>
                <a:spcPts val="600"/>
              </a:spcAft>
              <a:buFont typeface="Arial" panose="020B0604020202020204" pitchFamily="34" charset="0"/>
              <a:buChar char="•"/>
            </a:pPr>
            <a:r>
              <a:rPr lang="de-DE" sz="1300" dirty="0">
                <a:solidFill>
                  <a:srgbClr val="2B3446"/>
                </a:solidFill>
                <a:latin typeface="Calibri" pitchFamily="34" charset="0"/>
                <a:ea typeface="Calibri" pitchFamily="34" charset="-122"/>
                <a:cs typeface="Calibri" pitchFamily="34" charset="-120"/>
              </a:rPr>
              <a:t>ursprüngliche Loyalitätssystem (Bronze/</a:t>
            </a:r>
            <a:r>
              <a:rPr lang="de-DE" sz="1300" dirty="0" err="1">
                <a:solidFill>
                  <a:srgbClr val="2B3446"/>
                </a:solidFill>
                <a:latin typeface="Calibri" pitchFamily="34" charset="0"/>
                <a:ea typeface="Calibri" pitchFamily="34" charset="-122"/>
                <a:cs typeface="Calibri" pitchFamily="34" charset="-120"/>
              </a:rPr>
              <a:t>Silver</a:t>
            </a:r>
            <a:r>
              <a:rPr lang="de-DE" sz="1300" dirty="0">
                <a:solidFill>
                  <a:srgbClr val="2B3446"/>
                </a:solidFill>
                <a:latin typeface="Calibri" pitchFamily="34" charset="0"/>
                <a:ea typeface="Calibri" pitchFamily="34" charset="-122"/>
                <a:cs typeface="Calibri" pitchFamily="34" charset="-120"/>
              </a:rPr>
              <a:t>/Gold/Platinum) war nur </a:t>
            </a:r>
            <a:r>
              <a:rPr lang="de-DE" sz="1300" b="1" dirty="0">
                <a:solidFill>
                  <a:srgbClr val="2B3446"/>
                </a:solidFill>
                <a:latin typeface="Calibri" pitchFamily="34" charset="0"/>
                <a:ea typeface="Calibri" pitchFamily="34" charset="-122"/>
                <a:cs typeface="Calibri" pitchFamily="34" charset="-120"/>
              </a:rPr>
              <a:t>zugewiesenes Label ohne Bezug </a:t>
            </a:r>
            <a:r>
              <a:rPr lang="de-DE" sz="1300" dirty="0">
                <a:solidFill>
                  <a:srgbClr val="2B3446"/>
                </a:solidFill>
                <a:latin typeface="Calibri" pitchFamily="34" charset="0"/>
                <a:ea typeface="Calibri" pitchFamily="34" charset="-122"/>
                <a:cs typeface="Calibri" pitchFamily="34" charset="-120"/>
              </a:rPr>
              <a:t>zu echtem Kaufverhalten</a:t>
            </a:r>
          </a:p>
          <a:p>
            <a:pPr marL="285750" indent="-285750">
              <a:lnSpc>
                <a:spcPct val="115000"/>
              </a:lnSpc>
              <a:spcAft>
                <a:spcPts val="600"/>
              </a:spcAft>
              <a:buFont typeface="Arial" panose="020B0604020202020204" pitchFamily="34" charset="0"/>
              <a:buChar char="•"/>
            </a:pPr>
            <a:r>
              <a:rPr lang="en-US" sz="1300" dirty="0" err="1">
                <a:solidFill>
                  <a:srgbClr val="2B3446"/>
                </a:solidFill>
                <a:latin typeface="Calibri" pitchFamily="34" charset="0"/>
                <a:ea typeface="Calibri" pitchFamily="34" charset="-122"/>
                <a:cs typeface="Calibri" pitchFamily="34" charset="-120"/>
              </a:rPr>
              <a:t>Ohne</a:t>
            </a:r>
            <a:r>
              <a:rPr lang="en-US" sz="1300" dirty="0">
                <a:solidFill>
                  <a:srgbClr val="2B3446"/>
                </a:solidFill>
                <a:latin typeface="Calibri" pitchFamily="34" charset="0"/>
                <a:ea typeface="Calibri" pitchFamily="34" charset="-122"/>
                <a:cs typeface="Calibri" pitchFamily="34" charset="-120"/>
              </a:rPr>
              <a:t> </a:t>
            </a:r>
            <a:r>
              <a:rPr lang="en-US" sz="1300" dirty="0" err="1">
                <a:solidFill>
                  <a:srgbClr val="2B3446"/>
                </a:solidFill>
                <a:latin typeface="Calibri" pitchFamily="34" charset="0"/>
                <a:ea typeface="Calibri" pitchFamily="34" charset="-122"/>
                <a:cs typeface="Calibri" pitchFamily="34" charset="-120"/>
              </a:rPr>
              <a:t>Segmentierung</a:t>
            </a:r>
            <a:r>
              <a:rPr lang="en-US" sz="1300" dirty="0">
                <a:solidFill>
                  <a:srgbClr val="2B3446"/>
                </a:solidFill>
                <a:latin typeface="Calibri" pitchFamily="34" charset="0"/>
                <a:ea typeface="Calibri" pitchFamily="34" charset="-122"/>
                <a:cs typeface="Calibri" pitchFamily="34" charset="-120"/>
              </a:rPr>
              <a:t> </a:t>
            </a:r>
            <a:r>
              <a:rPr lang="en-US" sz="1300" dirty="0" err="1">
                <a:solidFill>
                  <a:srgbClr val="2B3446"/>
                </a:solidFill>
                <a:latin typeface="Calibri" pitchFamily="34" charset="0"/>
                <a:ea typeface="Calibri" pitchFamily="34" charset="-122"/>
                <a:cs typeface="Calibri" pitchFamily="34" charset="-120"/>
              </a:rPr>
              <a:t>bleibt</a:t>
            </a:r>
            <a:r>
              <a:rPr lang="en-US" sz="1300" dirty="0">
                <a:solidFill>
                  <a:srgbClr val="2B3446"/>
                </a:solidFill>
                <a:latin typeface="Calibri" pitchFamily="34" charset="0"/>
                <a:ea typeface="Calibri" pitchFamily="34" charset="-122"/>
                <a:cs typeface="Calibri" pitchFamily="34" charset="-120"/>
              </a:rPr>
              <a:t> </a:t>
            </a:r>
            <a:r>
              <a:rPr lang="en-US" sz="1300" dirty="0" err="1">
                <a:solidFill>
                  <a:srgbClr val="2B3446"/>
                </a:solidFill>
                <a:latin typeface="Calibri" pitchFamily="34" charset="0"/>
                <a:ea typeface="Calibri" pitchFamily="34" charset="-122"/>
                <a:cs typeface="Calibri" pitchFamily="34" charset="-120"/>
              </a:rPr>
              <a:t>Kaufmuster</a:t>
            </a:r>
            <a:r>
              <a:rPr lang="en-US" sz="1300" dirty="0">
                <a:solidFill>
                  <a:srgbClr val="2B3446"/>
                </a:solidFill>
                <a:latin typeface="Calibri" pitchFamily="34" charset="0"/>
                <a:ea typeface="Calibri" pitchFamily="34" charset="-122"/>
                <a:cs typeface="Calibri" pitchFamily="34" charset="-120"/>
              </a:rPr>
              <a:t> </a:t>
            </a:r>
            <a:r>
              <a:rPr lang="en-US" sz="1300" dirty="0" err="1">
                <a:solidFill>
                  <a:srgbClr val="2B3446"/>
                </a:solidFill>
                <a:latin typeface="Calibri" pitchFamily="34" charset="0"/>
                <a:ea typeface="Calibri" pitchFamily="34" charset="-122"/>
                <a:cs typeface="Calibri" pitchFamily="34" charset="-120"/>
              </a:rPr>
              <a:t>unklar</a:t>
            </a:r>
            <a:endParaRPr lang="en-US" sz="1300" dirty="0">
              <a:solidFill>
                <a:srgbClr val="2B3446"/>
              </a:solidFill>
              <a:latin typeface="Calibri" pitchFamily="34" charset="0"/>
              <a:ea typeface="Calibri" pitchFamily="34" charset="-122"/>
              <a:cs typeface="Calibri" pitchFamily="34" charset="-120"/>
            </a:endParaRPr>
          </a:p>
        </p:txBody>
      </p:sp>
      <p:sp>
        <p:nvSpPr>
          <p:cNvPr id="7" name="Text 5"/>
          <p:cNvSpPr/>
          <p:nvPr/>
        </p:nvSpPr>
        <p:spPr>
          <a:xfrm>
            <a:off x="548640" y="3196403"/>
            <a:ext cx="4846320" cy="274320"/>
          </a:xfrm>
          <a:prstGeom prst="rect">
            <a:avLst/>
          </a:prstGeom>
          <a:noFill/>
          <a:ln/>
        </p:spPr>
        <p:txBody>
          <a:bodyPr wrap="square" lIns="0" tIns="0" rIns="0" bIns="0" rtlCol="0" anchor="ctr"/>
          <a:lstStyle/>
          <a:p>
            <a:pPr marL="0" indent="0">
              <a:buNone/>
            </a:pPr>
            <a:r>
              <a:rPr lang="en-US" sz="1400" b="1" kern="0" spc="150" dirty="0">
                <a:solidFill>
                  <a:srgbClr val="12294F"/>
                </a:solidFill>
                <a:latin typeface="Calibri" pitchFamily="34" charset="0"/>
                <a:ea typeface="Calibri" pitchFamily="34" charset="-122"/>
                <a:cs typeface="Calibri" pitchFamily="34" charset="-120"/>
              </a:rPr>
              <a:t>WARUM RFM?</a:t>
            </a:r>
            <a:endParaRPr lang="en-US" sz="1400" dirty="0"/>
          </a:p>
        </p:txBody>
      </p:sp>
      <p:sp>
        <p:nvSpPr>
          <p:cNvPr id="8" name="Shape 6"/>
          <p:cNvSpPr/>
          <p:nvPr/>
        </p:nvSpPr>
        <p:spPr>
          <a:xfrm>
            <a:off x="548640" y="3634148"/>
            <a:ext cx="91440" cy="91440"/>
          </a:xfrm>
          <a:prstGeom prst="ellipse">
            <a:avLst/>
          </a:prstGeom>
          <a:solidFill>
            <a:srgbClr val="14B8A6"/>
          </a:solidFill>
          <a:ln/>
        </p:spPr>
        <p:txBody>
          <a:bodyPr/>
          <a:lstStyle/>
          <a:p>
            <a:endParaRPr lang="de-DE"/>
          </a:p>
        </p:txBody>
      </p:sp>
      <p:sp>
        <p:nvSpPr>
          <p:cNvPr id="9" name="Text 7"/>
          <p:cNvSpPr/>
          <p:nvPr/>
        </p:nvSpPr>
        <p:spPr>
          <a:xfrm>
            <a:off x="777240" y="3506132"/>
            <a:ext cx="4480560" cy="365760"/>
          </a:xfrm>
          <a:prstGeom prst="rect">
            <a:avLst/>
          </a:prstGeom>
          <a:noFill/>
          <a:ln/>
        </p:spPr>
        <p:txBody>
          <a:bodyPr wrap="square" lIns="0" tIns="0" rIns="0" bIns="0" rtlCol="0" anchor="t"/>
          <a:lstStyle/>
          <a:p>
            <a:pPr marL="0" indent="0">
              <a:buNone/>
            </a:pPr>
            <a:r>
              <a:rPr lang="en-US" sz="1300" b="1" dirty="0">
                <a:solidFill>
                  <a:srgbClr val="12294F"/>
                </a:solidFill>
                <a:latin typeface="Calibri" pitchFamily="34" charset="0"/>
                <a:ea typeface="Calibri" pitchFamily="34" charset="-122"/>
                <a:cs typeface="Calibri" pitchFamily="34" charset="-120"/>
              </a:rPr>
              <a:t>Recency:  </a:t>
            </a:r>
          </a:p>
          <a:p>
            <a:pPr marL="0" indent="0">
              <a:buNone/>
            </a:pPr>
            <a:r>
              <a:rPr lang="en-US" sz="1300" dirty="0">
                <a:solidFill>
                  <a:srgbClr val="2B3446"/>
                </a:solidFill>
                <a:latin typeface="Calibri" pitchFamily="34" charset="0"/>
                <a:ea typeface="Calibri" pitchFamily="34" charset="-122"/>
                <a:cs typeface="Calibri" pitchFamily="34" charset="-120"/>
              </a:rPr>
              <a:t>Wie kürzlich </a:t>
            </a:r>
            <a:r>
              <a:rPr lang="en-US" sz="1300" dirty="0" err="1">
                <a:solidFill>
                  <a:srgbClr val="2B3446"/>
                </a:solidFill>
                <a:latin typeface="Calibri" pitchFamily="34" charset="0"/>
                <a:ea typeface="Calibri" pitchFamily="34" charset="-122"/>
                <a:cs typeface="Calibri" pitchFamily="34" charset="-120"/>
              </a:rPr>
              <a:t>zuletzt</a:t>
            </a:r>
            <a:r>
              <a:rPr lang="en-US" sz="1300" dirty="0">
                <a:solidFill>
                  <a:srgbClr val="2B3446"/>
                </a:solidFill>
                <a:latin typeface="Calibri" pitchFamily="34" charset="0"/>
                <a:ea typeface="Calibri" pitchFamily="34" charset="-122"/>
                <a:cs typeface="Calibri" pitchFamily="34" charset="-120"/>
              </a:rPr>
              <a:t> </a:t>
            </a:r>
            <a:r>
              <a:rPr lang="en-US" sz="1300" dirty="0" err="1">
                <a:solidFill>
                  <a:srgbClr val="2B3446"/>
                </a:solidFill>
                <a:latin typeface="Calibri" pitchFamily="34" charset="0"/>
                <a:ea typeface="Calibri" pitchFamily="34" charset="-122"/>
                <a:cs typeface="Calibri" pitchFamily="34" charset="-120"/>
              </a:rPr>
              <a:t>gekauft</a:t>
            </a:r>
            <a:r>
              <a:rPr lang="en-US" sz="1300" dirty="0">
                <a:solidFill>
                  <a:srgbClr val="2B3446"/>
                </a:solidFill>
                <a:latin typeface="Calibri" pitchFamily="34" charset="0"/>
                <a:ea typeface="Calibri" pitchFamily="34" charset="-122"/>
                <a:cs typeface="Calibri" pitchFamily="34" charset="-120"/>
              </a:rPr>
              <a:t> - signalisiert Abwanderungsrisiko</a:t>
            </a:r>
            <a:endParaRPr lang="en-US" sz="1300" dirty="0"/>
          </a:p>
        </p:txBody>
      </p:sp>
      <p:sp>
        <p:nvSpPr>
          <p:cNvPr id="10" name="Shape 8"/>
          <p:cNvSpPr/>
          <p:nvPr/>
        </p:nvSpPr>
        <p:spPr>
          <a:xfrm>
            <a:off x="548640" y="4109636"/>
            <a:ext cx="91440" cy="91440"/>
          </a:xfrm>
          <a:prstGeom prst="ellipse">
            <a:avLst/>
          </a:prstGeom>
          <a:solidFill>
            <a:srgbClr val="14B8A6"/>
          </a:solidFill>
          <a:ln/>
        </p:spPr>
        <p:txBody>
          <a:bodyPr/>
          <a:lstStyle/>
          <a:p>
            <a:endParaRPr lang="de-DE"/>
          </a:p>
        </p:txBody>
      </p:sp>
      <p:sp>
        <p:nvSpPr>
          <p:cNvPr id="11" name="Text 9"/>
          <p:cNvSpPr/>
          <p:nvPr/>
        </p:nvSpPr>
        <p:spPr>
          <a:xfrm>
            <a:off x="777240" y="4044420"/>
            <a:ext cx="4480560" cy="365760"/>
          </a:xfrm>
          <a:prstGeom prst="rect">
            <a:avLst/>
          </a:prstGeom>
          <a:noFill/>
          <a:ln/>
        </p:spPr>
        <p:txBody>
          <a:bodyPr wrap="square" lIns="0" tIns="0" rIns="0" bIns="0" rtlCol="0" anchor="t"/>
          <a:lstStyle/>
          <a:p>
            <a:pPr marL="0" indent="0">
              <a:buNone/>
            </a:pPr>
            <a:r>
              <a:rPr lang="en-US" sz="1300" b="1" dirty="0">
                <a:solidFill>
                  <a:srgbClr val="12294F"/>
                </a:solidFill>
                <a:latin typeface="Calibri" pitchFamily="34" charset="0"/>
                <a:ea typeface="Calibri" pitchFamily="34" charset="-122"/>
                <a:cs typeface="Calibri" pitchFamily="34" charset="-120"/>
              </a:rPr>
              <a:t>Frequency:  </a:t>
            </a:r>
          </a:p>
          <a:p>
            <a:pPr marL="0" indent="0">
              <a:buNone/>
            </a:pPr>
            <a:r>
              <a:rPr lang="en-US" sz="1300" dirty="0">
                <a:solidFill>
                  <a:srgbClr val="2B3446"/>
                </a:solidFill>
                <a:latin typeface="Calibri" pitchFamily="34" charset="0"/>
                <a:ea typeface="Calibri" pitchFamily="34" charset="-122"/>
                <a:cs typeface="Calibri" pitchFamily="34" charset="-120"/>
              </a:rPr>
              <a:t>Wie oft </a:t>
            </a:r>
            <a:r>
              <a:rPr lang="en-US" sz="1300" dirty="0" err="1">
                <a:solidFill>
                  <a:srgbClr val="2B3446"/>
                </a:solidFill>
                <a:latin typeface="Calibri" pitchFamily="34" charset="0"/>
                <a:ea typeface="Calibri" pitchFamily="34" charset="-122"/>
                <a:cs typeface="Calibri" pitchFamily="34" charset="-120"/>
              </a:rPr>
              <a:t>gekauft</a:t>
            </a:r>
            <a:r>
              <a:rPr lang="en-US" sz="1300" dirty="0">
                <a:solidFill>
                  <a:srgbClr val="2B3446"/>
                </a:solidFill>
                <a:latin typeface="Calibri" pitchFamily="34" charset="0"/>
                <a:ea typeface="Calibri" pitchFamily="34" charset="-122"/>
                <a:cs typeface="Calibri" pitchFamily="34" charset="-120"/>
              </a:rPr>
              <a:t> - signalisiert Loyalität</a:t>
            </a:r>
            <a:endParaRPr lang="en-US" sz="1300" dirty="0"/>
          </a:p>
        </p:txBody>
      </p:sp>
      <p:sp>
        <p:nvSpPr>
          <p:cNvPr id="12" name="Shape 10"/>
          <p:cNvSpPr/>
          <p:nvPr/>
        </p:nvSpPr>
        <p:spPr>
          <a:xfrm>
            <a:off x="548640" y="4585124"/>
            <a:ext cx="91440" cy="91440"/>
          </a:xfrm>
          <a:prstGeom prst="ellipse">
            <a:avLst/>
          </a:prstGeom>
          <a:solidFill>
            <a:srgbClr val="14B8A6"/>
          </a:solidFill>
          <a:ln/>
        </p:spPr>
        <p:txBody>
          <a:bodyPr/>
          <a:lstStyle/>
          <a:p>
            <a:endParaRPr lang="de-DE"/>
          </a:p>
        </p:txBody>
      </p:sp>
      <p:sp>
        <p:nvSpPr>
          <p:cNvPr id="13" name="Text 11"/>
          <p:cNvSpPr/>
          <p:nvPr/>
        </p:nvSpPr>
        <p:spPr>
          <a:xfrm>
            <a:off x="777240" y="4527930"/>
            <a:ext cx="4480560" cy="365760"/>
          </a:xfrm>
          <a:prstGeom prst="rect">
            <a:avLst/>
          </a:prstGeom>
          <a:noFill/>
          <a:ln/>
        </p:spPr>
        <p:txBody>
          <a:bodyPr wrap="square" lIns="0" tIns="0" rIns="0" bIns="0" rtlCol="0" anchor="t"/>
          <a:lstStyle/>
          <a:p>
            <a:pPr marL="0" indent="0">
              <a:buNone/>
            </a:pPr>
            <a:r>
              <a:rPr lang="en-US" sz="1300" b="1" dirty="0">
                <a:solidFill>
                  <a:srgbClr val="12294F"/>
                </a:solidFill>
                <a:latin typeface="Calibri" pitchFamily="34" charset="0"/>
                <a:ea typeface="Calibri" pitchFamily="34" charset="-122"/>
                <a:cs typeface="Calibri" pitchFamily="34" charset="-120"/>
              </a:rPr>
              <a:t>Monetary:  </a:t>
            </a:r>
          </a:p>
          <a:p>
            <a:pPr marL="0" indent="0">
              <a:buNone/>
            </a:pPr>
            <a:r>
              <a:rPr lang="en-US" sz="1300" dirty="0">
                <a:solidFill>
                  <a:srgbClr val="2B3446"/>
                </a:solidFill>
                <a:latin typeface="Calibri" pitchFamily="34" charset="0"/>
                <a:ea typeface="Calibri" pitchFamily="34" charset="-122"/>
                <a:cs typeface="Calibri" pitchFamily="34" charset="-120"/>
              </a:rPr>
              <a:t>Wie viel </a:t>
            </a:r>
            <a:r>
              <a:rPr lang="en-US" sz="1300" dirty="0" err="1">
                <a:solidFill>
                  <a:srgbClr val="2B3446"/>
                </a:solidFill>
                <a:latin typeface="Calibri" pitchFamily="34" charset="0"/>
                <a:ea typeface="Calibri" pitchFamily="34" charset="-122"/>
                <a:cs typeface="Calibri" pitchFamily="34" charset="-120"/>
              </a:rPr>
              <a:t>ausgegeben</a:t>
            </a:r>
            <a:r>
              <a:rPr lang="en-US" sz="1300" dirty="0">
                <a:solidFill>
                  <a:srgbClr val="2B3446"/>
                </a:solidFill>
                <a:latin typeface="Calibri" pitchFamily="34" charset="0"/>
                <a:ea typeface="Calibri" pitchFamily="34" charset="-122"/>
                <a:cs typeface="Calibri" pitchFamily="34" charset="-120"/>
              </a:rPr>
              <a:t> - signalisiert Wert</a:t>
            </a:r>
            <a:endParaRPr lang="en-US" sz="1300" dirty="0"/>
          </a:p>
        </p:txBody>
      </p:sp>
      <p:sp>
        <p:nvSpPr>
          <p:cNvPr id="14" name="Text 12"/>
          <p:cNvSpPr/>
          <p:nvPr/>
        </p:nvSpPr>
        <p:spPr>
          <a:xfrm>
            <a:off x="502920" y="5384608"/>
            <a:ext cx="4200885" cy="960120"/>
          </a:xfrm>
          <a:prstGeom prst="rect">
            <a:avLst/>
          </a:prstGeom>
          <a:noFill/>
          <a:ln/>
        </p:spPr>
        <p:txBody>
          <a:bodyPr wrap="square" lIns="0" tIns="0" rIns="0" bIns="0" rtlCol="0" anchor="t"/>
          <a:lstStyle/>
          <a:p>
            <a:pPr marL="0" indent="0">
              <a:lnSpc>
                <a:spcPct val="120000"/>
              </a:lnSpc>
              <a:buNone/>
            </a:pPr>
            <a:r>
              <a:rPr lang="en-US" sz="1250" i="1" dirty="0">
                <a:solidFill>
                  <a:srgbClr val="5B6B82"/>
                </a:solidFill>
                <a:latin typeface="Calibri" pitchFamily="34" charset="0"/>
                <a:ea typeface="Calibri" pitchFamily="34" charset="-122"/>
                <a:cs typeface="Calibri" pitchFamily="34" charset="-120"/>
              </a:rPr>
              <a:t>Drei einfache Kennzahlen aus vorhandenen </a:t>
            </a:r>
            <a:r>
              <a:rPr lang="en-US" sz="1250" i="1" dirty="0" err="1">
                <a:solidFill>
                  <a:srgbClr val="5B6B82"/>
                </a:solidFill>
                <a:latin typeface="Calibri" pitchFamily="34" charset="0"/>
                <a:ea typeface="Calibri" pitchFamily="34" charset="-122"/>
                <a:cs typeface="Calibri" pitchFamily="34" charset="-120"/>
              </a:rPr>
              <a:t>Bestelldaten</a:t>
            </a:r>
            <a:r>
              <a:rPr lang="en-US" sz="1250" i="1" dirty="0">
                <a:solidFill>
                  <a:srgbClr val="5B6B82"/>
                </a:solidFill>
                <a:latin typeface="Calibri" pitchFamily="34" charset="0"/>
                <a:ea typeface="Calibri" pitchFamily="34" charset="-122"/>
                <a:cs typeface="Calibri" pitchFamily="34" charset="-120"/>
              </a:rPr>
              <a:t> - ohne </a:t>
            </a:r>
            <a:r>
              <a:rPr lang="en-US" sz="1250" i="1" dirty="0" err="1">
                <a:solidFill>
                  <a:srgbClr val="5B6B82"/>
                </a:solidFill>
                <a:latin typeface="Calibri" pitchFamily="34" charset="0"/>
                <a:ea typeface="Calibri" pitchFamily="34" charset="-122"/>
                <a:cs typeface="Calibri" pitchFamily="34" charset="-120"/>
              </a:rPr>
              <a:t>zusätzliche</a:t>
            </a:r>
            <a:r>
              <a:rPr lang="en-US" sz="1250" i="1" dirty="0">
                <a:solidFill>
                  <a:srgbClr val="5B6B82"/>
                </a:solidFill>
                <a:latin typeface="Calibri" pitchFamily="34" charset="0"/>
                <a:ea typeface="Calibri" pitchFamily="34" charset="-122"/>
                <a:cs typeface="Calibri" pitchFamily="34" charset="-120"/>
              </a:rPr>
              <a:t> </a:t>
            </a:r>
            <a:r>
              <a:rPr lang="en-US" sz="1250" i="1" dirty="0" err="1">
                <a:solidFill>
                  <a:srgbClr val="5B6B82"/>
                </a:solidFill>
                <a:latin typeface="Calibri" pitchFamily="34" charset="0"/>
                <a:ea typeface="Calibri" pitchFamily="34" charset="-122"/>
                <a:cs typeface="Calibri" pitchFamily="34" charset="-120"/>
              </a:rPr>
              <a:t>Datenerhebung</a:t>
            </a:r>
            <a:r>
              <a:rPr lang="en-US" sz="1250" i="1" dirty="0">
                <a:solidFill>
                  <a:srgbClr val="5B6B82"/>
                </a:solidFill>
                <a:latin typeface="Calibri" pitchFamily="34" charset="0"/>
                <a:ea typeface="Calibri" pitchFamily="34" charset="-122"/>
                <a:cs typeface="Calibri" pitchFamily="34" charset="-120"/>
              </a:rPr>
              <a:t>. </a:t>
            </a:r>
          </a:p>
          <a:p>
            <a:pPr marL="0" indent="0">
              <a:lnSpc>
                <a:spcPct val="120000"/>
              </a:lnSpc>
              <a:buNone/>
            </a:pPr>
            <a:r>
              <a:rPr lang="en-US" sz="1250" i="1" dirty="0" err="1">
                <a:solidFill>
                  <a:srgbClr val="5B6B82"/>
                </a:solidFill>
                <a:latin typeface="Calibri" pitchFamily="34" charset="0"/>
                <a:ea typeface="Calibri" pitchFamily="34" charset="-122"/>
                <a:cs typeface="Calibri" pitchFamily="34" charset="-120"/>
              </a:rPr>
              <a:t>Ergeben</a:t>
            </a:r>
            <a:r>
              <a:rPr lang="en-US" sz="1250" i="1" dirty="0">
                <a:solidFill>
                  <a:srgbClr val="5B6B82"/>
                </a:solidFill>
                <a:latin typeface="Calibri" pitchFamily="34" charset="0"/>
                <a:ea typeface="Calibri" pitchFamily="34" charset="-122"/>
                <a:cs typeface="Calibri" pitchFamily="34" charset="-120"/>
              </a:rPr>
              <a:t> </a:t>
            </a:r>
            <a:r>
              <a:rPr lang="en-US" sz="1250" i="1" dirty="0" err="1">
                <a:solidFill>
                  <a:srgbClr val="5B6B82"/>
                </a:solidFill>
                <a:latin typeface="Calibri" pitchFamily="34" charset="0"/>
                <a:ea typeface="Calibri" pitchFamily="34" charset="-122"/>
                <a:cs typeface="Calibri" pitchFamily="34" charset="-120"/>
              </a:rPr>
              <a:t>ein</a:t>
            </a:r>
            <a:r>
              <a:rPr lang="en-US" sz="1250" dirty="0"/>
              <a:t> </a:t>
            </a:r>
            <a:r>
              <a:rPr lang="en-US" sz="1250" i="1" dirty="0" err="1">
                <a:solidFill>
                  <a:srgbClr val="5B6B82"/>
                </a:solidFill>
                <a:latin typeface="Calibri" pitchFamily="34" charset="0"/>
                <a:ea typeface="Calibri" pitchFamily="34" charset="-122"/>
                <a:cs typeface="Calibri" pitchFamily="34" charset="-120"/>
              </a:rPr>
              <a:t>validiertes</a:t>
            </a:r>
            <a:r>
              <a:rPr lang="en-US" sz="1250" i="1" dirty="0">
                <a:solidFill>
                  <a:srgbClr val="5B6B82"/>
                </a:solidFill>
                <a:latin typeface="Calibri" pitchFamily="34" charset="0"/>
                <a:ea typeface="Calibri" pitchFamily="34" charset="-122"/>
                <a:cs typeface="Calibri" pitchFamily="34" charset="-120"/>
              </a:rPr>
              <a:t>, handlungsleitendes Kundensegment.</a:t>
            </a:r>
            <a:endParaRPr lang="en-US" sz="1250" dirty="0"/>
          </a:p>
        </p:txBody>
      </p:sp>
      <p:sp>
        <p:nvSpPr>
          <p:cNvPr id="15" name="Text 13"/>
          <p:cNvSpPr/>
          <p:nvPr/>
        </p:nvSpPr>
        <p:spPr>
          <a:xfrm>
            <a:off x="5637276" y="1376172"/>
            <a:ext cx="5669280" cy="274320"/>
          </a:xfrm>
          <a:prstGeom prst="rect">
            <a:avLst/>
          </a:prstGeom>
          <a:noFill/>
          <a:ln/>
        </p:spPr>
        <p:txBody>
          <a:bodyPr wrap="square" lIns="0" tIns="0" rIns="0" bIns="0" rtlCol="0" anchor="ctr"/>
          <a:lstStyle/>
          <a:p>
            <a:pPr marL="0" indent="0">
              <a:buNone/>
            </a:pPr>
            <a:r>
              <a:rPr lang="en-US" sz="1400" b="1" kern="0" spc="150" dirty="0">
                <a:solidFill>
                  <a:srgbClr val="12294F"/>
                </a:solidFill>
                <a:latin typeface="Calibri" pitchFamily="34" charset="0"/>
                <a:ea typeface="Calibri" pitchFamily="34" charset="-122"/>
                <a:cs typeface="Calibri" pitchFamily="34" charset="-120"/>
              </a:rPr>
              <a:t>MODELL-ANWENDUNG</a:t>
            </a:r>
            <a:endParaRPr lang="en-US" sz="1400" dirty="0"/>
          </a:p>
        </p:txBody>
      </p:sp>
      <p:sp>
        <p:nvSpPr>
          <p:cNvPr id="16" name="Shape 14"/>
          <p:cNvSpPr/>
          <p:nvPr/>
        </p:nvSpPr>
        <p:spPr>
          <a:xfrm>
            <a:off x="6550473" y="2459255"/>
            <a:ext cx="960120" cy="960120"/>
          </a:xfrm>
          <a:prstGeom prst="ellipse">
            <a:avLst/>
          </a:prstGeom>
          <a:solidFill>
            <a:srgbClr val="12294F"/>
          </a:solidFill>
          <a:ln/>
          <a:effectLst>
            <a:outerShdw blurRad="76200" dist="25400" dir="5400000" algn="bl" rotWithShape="0">
              <a:srgbClr val="000000">
                <a:alpha val="25000"/>
              </a:srgbClr>
            </a:outerShdw>
          </a:effectLst>
        </p:spPr>
        <p:txBody>
          <a:bodyPr/>
          <a:lstStyle/>
          <a:p>
            <a:endParaRPr lang="de-DE"/>
          </a:p>
        </p:txBody>
      </p:sp>
      <p:sp>
        <p:nvSpPr>
          <p:cNvPr id="17" name="Text 15"/>
          <p:cNvSpPr/>
          <p:nvPr/>
        </p:nvSpPr>
        <p:spPr>
          <a:xfrm>
            <a:off x="6321873" y="2802155"/>
            <a:ext cx="1417320" cy="2743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Recency</a:t>
            </a:r>
            <a:endParaRPr lang="en-US" sz="1150" dirty="0"/>
          </a:p>
        </p:txBody>
      </p:sp>
      <p:sp>
        <p:nvSpPr>
          <p:cNvPr id="18" name="Text 16"/>
          <p:cNvSpPr/>
          <p:nvPr/>
        </p:nvSpPr>
        <p:spPr>
          <a:xfrm>
            <a:off x="6321873" y="3474239"/>
            <a:ext cx="1417320" cy="228600"/>
          </a:xfrm>
          <a:prstGeom prst="rect">
            <a:avLst/>
          </a:prstGeom>
          <a:noFill/>
          <a:ln/>
        </p:spPr>
        <p:txBody>
          <a:bodyPr wrap="square" lIns="0" tIns="0" rIns="0" bIns="0" rtlCol="0" anchor="ctr"/>
          <a:lstStyle/>
          <a:p>
            <a:pPr marL="0" indent="0" algn="ctr">
              <a:buNone/>
            </a:pPr>
            <a:r>
              <a:rPr lang="en-US" sz="1000" i="1" dirty="0">
                <a:solidFill>
                  <a:srgbClr val="5B6B82"/>
                </a:solidFill>
                <a:latin typeface="Calibri" pitchFamily="34" charset="0"/>
                <a:ea typeface="Calibri" pitchFamily="34" charset="-122"/>
                <a:cs typeface="Calibri" pitchFamily="34" charset="-120"/>
              </a:rPr>
              <a:t>Score 1–4</a:t>
            </a:r>
            <a:endParaRPr lang="en-US" sz="1000" dirty="0"/>
          </a:p>
        </p:txBody>
      </p:sp>
      <p:sp>
        <p:nvSpPr>
          <p:cNvPr id="19" name="Shape 17"/>
          <p:cNvSpPr/>
          <p:nvPr/>
        </p:nvSpPr>
        <p:spPr>
          <a:xfrm>
            <a:off x="7858065" y="2466554"/>
            <a:ext cx="960120" cy="960120"/>
          </a:xfrm>
          <a:prstGeom prst="ellipse">
            <a:avLst/>
          </a:prstGeom>
          <a:solidFill>
            <a:srgbClr val="14B8A6"/>
          </a:solidFill>
          <a:ln/>
          <a:effectLst>
            <a:outerShdw blurRad="76200" dist="25400" dir="5400000" algn="bl" rotWithShape="0">
              <a:srgbClr val="000000">
                <a:alpha val="25000"/>
              </a:srgbClr>
            </a:outerShdw>
          </a:effectLst>
        </p:spPr>
        <p:txBody>
          <a:bodyPr/>
          <a:lstStyle/>
          <a:p>
            <a:endParaRPr lang="de-DE"/>
          </a:p>
        </p:txBody>
      </p:sp>
      <p:sp>
        <p:nvSpPr>
          <p:cNvPr id="20" name="Text 18"/>
          <p:cNvSpPr/>
          <p:nvPr/>
        </p:nvSpPr>
        <p:spPr>
          <a:xfrm>
            <a:off x="7629465" y="2802155"/>
            <a:ext cx="1417320" cy="2743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Frequency</a:t>
            </a:r>
            <a:endParaRPr lang="en-US" sz="1150" dirty="0"/>
          </a:p>
        </p:txBody>
      </p:sp>
      <p:sp>
        <p:nvSpPr>
          <p:cNvPr id="21" name="Text 19"/>
          <p:cNvSpPr/>
          <p:nvPr/>
        </p:nvSpPr>
        <p:spPr>
          <a:xfrm>
            <a:off x="7650801" y="3474239"/>
            <a:ext cx="1417320" cy="228600"/>
          </a:xfrm>
          <a:prstGeom prst="rect">
            <a:avLst/>
          </a:prstGeom>
          <a:noFill/>
          <a:ln/>
        </p:spPr>
        <p:txBody>
          <a:bodyPr wrap="square" lIns="0" tIns="0" rIns="0" bIns="0" rtlCol="0" anchor="ctr"/>
          <a:lstStyle/>
          <a:p>
            <a:pPr marL="0" indent="0" algn="ctr">
              <a:buNone/>
            </a:pPr>
            <a:r>
              <a:rPr lang="en-US" sz="1000" i="1" dirty="0">
                <a:solidFill>
                  <a:srgbClr val="5B6B82"/>
                </a:solidFill>
                <a:latin typeface="Calibri" pitchFamily="34" charset="0"/>
                <a:ea typeface="Calibri" pitchFamily="34" charset="-122"/>
                <a:cs typeface="Calibri" pitchFamily="34" charset="-120"/>
              </a:rPr>
              <a:t>Score 1–4</a:t>
            </a:r>
            <a:endParaRPr lang="en-US" sz="1000" dirty="0"/>
          </a:p>
        </p:txBody>
      </p:sp>
      <p:sp>
        <p:nvSpPr>
          <p:cNvPr id="22" name="Shape 20"/>
          <p:cNvSpPr/>
          <p:nvPr/>
        </p:nvSpPr>
        <p:spPr>
          <a:xfrm>
            <a:off x="9156994" y="2466554"/>
            <a:ext cx="960120" cy="960120"/>
          </a:xfrm>
          <a:prstGeom prst="ellipse">
            <a:avLst/>
          </a:prstGeom>
          <a:solidFill>
            <a:srgbClr val="7DD3FC"/>
          </a:solidFill>
          <a:ln/>
          <a:effectLst>
            <a:outerShdw blurRad="76200" dist="25400" dir="5400000" algn="bl" rotWithShape="0">
              <a:srgbClr val="000000">
                <a:alpha val="25000"/>
              </a:srgbClr>
            </a:outerShdw>
          </a:effectLst>
        </p:spPr>
        <p:txBody>
          <a:bodyPr/>
          <a:lstStyle/>
          <a:p>
            <a:endParaRPr lang="de-DE"/>
          </a:p>
        </p:txBody>
      </p:sp>
      <p:sp>
        <p:nvSpPr>
          <p:cNvPr id="23" name="Text 21"/>
          <p:cNvSpPr/>
          <p:nvPr/>
        </p:nvSpPr>
        <p:spPr>
          <a:xfrm>
            <a:off x="8928394" y="2809454"/>
            <a:ext cx="1417320" cy="274320"/>
          </a:xfrm>
          <a:prstGeom prst="rect">
            <a:avLst/>
          </a:prstGeom>
          <a:noFill/>
          <a:ln/>
        </p:spPr>
        <p:txBody>
          <a:bodyPr wrap="square" lIns="0" tIns="0" rIns="0" bIns="0" rtlCol="0" anchor="ctr"/>
          <a:lstStyle/>
          <a:p>
            <a:pPr marL="0" indent="0" algn="ctr">
              <a:buNone/>
            </a:pPr>
            <a:r>
              <a:rPr lang="en-US" sz="1150" b="1" dirty="0">
                <a:solidFill>
                  <a:srgbClr val="12294F"/>
                </a:solidFill>
                <a:latin typeface="Calibri" pitchFamily="34" charset="0"/>
                <a:ea typeface="Calibri" pitchFamily="34" charset="-122"/>
                <a:cs typeface="Calibri" pitchFamily="34" charset="-120"/>
              </a:rPr>
              <a:t>Monetary</a:t>
            </a:r>
            <a:endParaRPr lang="en-US" sz="1150" dirty="0"/>
          </a:p>
        </p:txBody>
      </p:sp>
      <p:sp>
        <p:nvSpPr>
          <p:cNvPr id="24" name="Text 22"/>
          <p:cNvSpPr/>
          <p:nvPr/>
        </p:nvSpPr>
        <p:spPr>
          <a:xfrm>
            <a:off x="8928394" y="3481538"/>
            <a:ext cx="1417320" cy="228600"/>
          </a:xfrm>
          <a:prstGeom prst="rect">
            <a:avLst/>
          </a:prstGeom>
          <a:noFill/>
          <a:ln/>
        </p:spPr>
        <p:txBody>
          <a:bodyPr wrap="square" lIns="0" tIns="0" rIns="0" bIns="0" rtlCol="0" anchor="ctr"/>
          <a:lstStyle/>
          <a:p>
            <a:pPr marL="0" indent="0" algn="ctr">
              <a:buNone/>
            </a:pPr>
            <a:r>
              <a:rPr lang="en-US" sz="1000" i="1" dirty="0">
                <a:solidFill>
                  <a:srgbClr val="5B6B82"/>
                </a:solidFill>
                <a:latin typeface="Calibri" pitchFamily="34" charset="0"/>
                <a:ea typeface="Calibri" pitchFamily="34" charset="-122"/>
                <a:cs typeface="Calibri" pitchFamily="34" charset="-120"/>
              </a:rPr>
              <a:t>Score 1–4</a:t>
            </a:r>
            <a:endParaRPr lang="en-US" sz="1000" dirty="0"/>
          </a:p>
        </p:txBody>
      </p:sp>
      <p:sp>
        <p:nvSpPr>
          <p:cNvPr id="25" name="Shape 23"/>
          <p:cNvSpPr/>
          <p:nvPr/>
        </p:nvSpPr>
        <p:spPr>
          <a:xfrm>
            <a:off x="8150673" y="3805683"/>
            <a:ext cx="457200" cy="299491"/>
          </a:xfrm>
          <a:prstGeom prst="downArrow">
            <a:avLst/>
          </a:prstGeom>
          <a:solidFill>
            <a:srgbClr val="5B6B82"/>
          </a:solidFill>
          <a:ln/>
        </p:spPr>
        <p:txBody>
          <a:bodyPr/>
          <a:lstStyle/>
          <a:p>
            <a:endParaRPr lang="de-DE"/>
          </a:p>
        </p:txBody>
      </p:sp>
      <p:sp>
        <p:nvSpPr>
          <p:cNvPr id="26" name="Shape 24"/>
          <p:cNvSpPr/>
          <p:nvPr/>
        </p:nvSpPr>
        <p:spPr>
          <a:xfrm>
            <a:off x="6942141" y="4206584"/>
            <a:ext cx="2926080" cy="548640"/>
          </a:xfrm>
          <a:prstGeom prst="roundRect">
            <a:avLst>
              <a:gd name="adj" fmla="val 13333"/>
            </a:avLst>
          </a:prstGeom>
          <a:solidFill>
            <a:srgbClr val="F4F7FB"/>
          </a:solidFill>
          <a:ln w="12700">
            <a:solidFill>
              <a:srgbClr val="12294F"/>
            </a:solidFill>
            <a:prstDash val="solid"/>
          </a:ln>
        </p:spPr>
        <p:txBody>
          <a:bodyPr/>
          <a:lstStyle/>
          <a:p>
            <a:endParaRPr lang="de-DE"/>
          </a:p>
        </p:txBody>
      </p:sp>
      <p:sp>
        <p:nvSpPr>
          <p:cNvPr id="27" name="Text 25"/>
          <p:cNvSpPr/>
          <p:nvPr/>
        </p:nvSpPr>
        <p:spPr>
          <a:xfrm>
            <a:off x="7094541" y="4215728"/>
            <a:ext cx="2926080" cy="548640"/>
          </a:xfrm>
          <a:prstGeom prst="rect">
            <a:avLst/>
          </a:prstGeom>
          <a:noFill/>
          <a:ln/>
        </p:spPr>
        <p:txBody>
          <a:bodyPr wrap="square" lIns="0" tIns="0" rIns="0" bIns="0" rtlCol="0" anchor="ctr"/>
          <a:lstStyle/>
          <a:p>
            <a:pPr marL="0" indent="0" algn="ctr">
              <a:buNone/>
            </a:pPr>
            <a:r>
              <a:rPr lang="en-US" sz="1250" b="1" dirty="0">
                <a:solidFill>
                  <a:srgbClr val="12294F"/>
                </a:solidFill>
                <a:latin typeface="Calibri" pitchFamily="34" charset="0"/>
                <a:ea typeface="Calibri" pitchFamily="34" charset="-122"/>
                <a:cs typeface="Calibri" pitchFamily="34" charset="-120"/>
              </a:rPr>
              <a:t>RFM-Score je Kunde</a:t>
            </a:r>
            <a:r>
              <a:rPr lang="en-US" sz="1050" i="1" dirty="0">
                <a:solidFill>
                  <a:srgbClr val="5B6B82"/>
                </a:solidFill>
                <a:latin typeface="Calibri" pitchFamily="34" charset="0"/>
                <a:ea typeface="Calibri" pitchFamily="34" charset="-122"/>
                <a:cs typeface="Calibri" pitchFamily="34" charset="-120"/>
              </a:rPr>
              <a:t>  (Summe 3–12)</a:t>
            </a:r>
            <a:endParaRPr lang="en-US" sz="1250" dirty="0"/>
          </a:p>
        </p:txBody>
      </p:sp>
      <p:sp>
        <p:nvSpPr>
          <p:cNvPr id="28" name="Shape 26"/>
          <p:cNvSpPr/>
          <p:nvPr/>
        </p:nvSpPr>
        <p:spPr>
          <a:xfrm>
            <a:off x="8174977" y="4827311"/>
            <a:ext cx="457200" cy="292608"/>
          </a:xfrm>
          <a:prstGeom prst="downArrow">
            <a:avLst/>
          </a:prstGeom>
          <a:solidFill>
            <a:srgbClr val="5B6B82"/>
          </a:solidFill>
          <a:ln/>
        </p:spPr>
        <p:txBody>
          <a:bodyPr/>
          <a:lstStyle/>
          <a:p>
            <a:endParaRPr lang="de-DE"/>
          </a:p>
        </p:txBody>
      </p:sp>
      <p:sp>
        <p:nvSpPr>
          <p:cNvPr id="29" name="Shape 27"/>
          <p:cNvSpPr/>
          <p:nvPr/>
        </p:nvSpPr>
        <p:spPr>
          <a:xfrm>
            <a:off x="5415093" y="5202455"/>
            <a:ext cx="1417320" cy="960120"/>
          </a:xfrm>
          <a:prstGeom prst="roundRect">
            <a:avLst>
              <a:gd name="adj" fmla="val 5714"/>
            </a:avLst>
          </a:prstGeom>
          <a:solidFill>
            <a:srgbClr val="1E8A6E"/>
          </a:solidFill>
          <a:ln/>
          <a:effectLst>
            <a:outerShdw blurRad="50800" dist="12700" dir="5400000" algn="bl" rotWithShape="0">
              <a:srgbClr val="000000">
                <a:alpha val="20000"/>
              </a:srgbClr>
            </a:outerShdw>
          </a:effectLst>
        </p:spPr>
        <p:txBody>
          <a:bodyPr/>
          <a:lstStyle/>
          <a:p>
            <a:endParaRPr lang="de-DE"/>
          </a:p>
        </p:txBody>
      </p:sp>
      <p:sp>
        <p:nvSpPr>
          <p:cNvPr id="30" name="Text 28"/>
          <p:cNvSpPr/>
          <p:nvPr/>
        </p:nvSpPr>
        <p:spPr>
          <a:xfrm>
            <a:off x="5460813" y="5275607"/>
            <a:ext cx="1325880" cy="50292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Champions</a:t>
            </a:r>
          </a:p>
          <a:p>
            <a:pPr marL="0" indent="0" algn="ctr">
              <a:buNone/>
            </a:pPr>
            <a:endParaRPr lang="en-US" sz="1050" b="1" dirty="0">
              <a:solidFill>
                <a:srgbClr val="FFFFFF"/>
              </a:solidFill>
              <a:latin typeface="Calibri" pitchFamily="34" charset="0"/>
              <a:ea typeface="Calibri" pitchFamily="34" charset="-122"/>
              <a:cs typeface="Calibri" pitchFamily="34" charset="-120"/>
            </a:endParaRPr>
          </a:p>
          <a:p>
            <a:pPr algn="ctr"/>
            <a:r>
              <a:rPr lang="en-US" sz="1050" b="1" dirty="0">
                <a:solidFill>
                  <a:srgbClr val="FFFFFF"/>
                </a:solidFill>
                <a:latin typeface="Calibri" pitchFamily="34" charset="0"/>
                <a:ea typeface="Calibri" pitchFamily="34" charset="-122"/>
                <a:cs typeface="Calibri" pitchFamily="34" charset="-120"/>
              </a:rPr>
              <a:t>Range 10-12</a:t>
            </a:r>
            <a:endParaRPr lang="en-US" sz="1050" dirty="0"/>
          </a:p>
          <a:p>
            <a:pPr marL="0" indent="0" algn="ctr">
              <a:buNone/>
            </a:pPr>
            <a:endParaRPr lang="en-US" sz="1050" dirty="0"/>
          </a:p>
        </p:txBody>
      </p:sp>
      <p:sp>
        <p:nvSpPr>
          <p:cNvPr id="31" name="Text 29"/>
          <p:cNvSpPr/>
          <p:nvPr/>
        </p:nvSpPr>
        <p:spPr>
          <a:xfrm>
            <a:off x="5460813" y="5833391"/>
            <a:ext cx="1325880" cy="27432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26,6% Umsatz</a:t>
            </a:r>
            <a:endParaRPr lang="en-US" sz="950" dirty="0"/>
          </a:p>
        </p:txBody>
      </p:sp>
      <p:sp>
        <p:nvSpPr>
          <p:cNvPr id="32" name="Shape 30"/>
          <p:cNvSpPr/>
          <p:nvPr/>
        </p:nvSpPr>
        <p:spPr>
          <a:xfrm>
            <a:off x="6942141" y="5202455"/>
            <a:ext cx="1417320" cy="960120"/>
          </a:xfrm>
          <a:prstGeom prst="roundRect">
            <a:avLst>
              <a:gd name="adj" fmla="val 5714"/>
            </a:avLst>
          </a:prstGeom>
          <a:solidFill>
            <a:srgbClr val="2DBFAE"/>
          </a:solidFill>
          <a:ln/>
          <a:effectLst>
            <a:outerShdw blurRad="50800" dist="12700" dir="5400000" algn="bl" rotWithShape="0">
              <a:srgbClr val="000000">
                <a:alpha val="20000"/>
              </a:srgbClr>
            </a:outerShdw>
          </a:effectLst>
        </p:spPr>
        <p:txBody>
          <a:bodyPr/>
          <a:lstStyle/>
          <a:p>
            <a:endParaRPr lang="de-DE"/>
          </a:p>
        </p:txBody>
      </p:sp>
      <p:sp>
        <p:nvSpPr>
          <p:cNvPr id="33" name="Text 31"/>
          <p:cNvSpPr/>
          <p:nvPr/>
        </p:nvSpPr>
        <p:spPr>
          <a:xfrm>
            <a:off x="6987861" y="5275607"/>
            <a:ext cx="1325880" cy="50292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Loyal Customers</a:t>
            </a:r>
          </a:p>
          <a:p>
            <a:pPr marL="0" indent="0" algn="ctr">
              <a:buNone/>
            </a:pPr>
            <a:endParaRPr lang="en-US" sz="1050" b="1" dirty="0">
              <a:solidFill>
                <a:srgbClr val="FFFFFF"/>
              </a:solidFill>
              <a:latin typeface="Calibri" pitchFamily="34" charset="0"/>
              <a:ea typeface="Calibri" pitchFamily="34" charset="-122"/>
              <a:cs typeface="Calibri" pitchFamily="34" charset="-120"/>
            </a:endParaRPr>
          </a:p>
          <a:p>
            <a:pPr algn="ctr"/>
            <a:r>
              <a:rPr lang="en-US" sz="1050" b="1" dirty="0">
                <a:solidFill>
                  <a:srgbClr val="FFFFFF"/>
                </a:solidFill>
                <a:latin typeface="Calibri" pitchFamily="34" charset="0"/>
                <a:ea typeface="Calibri" pitchFamily="34" charset="-122"/>
                <a:cs typeface="Calibri" pitchFamily="34" charset="-120"/>
              </a:rPr>
              <a:t>Range 7-9</a:t>
            </a:r>
            <a:endParaRPr lang="en-US" sz="1050" dirty="0"/>
          </a:p>
          <a:p>
            <a:pPr marL="0" indent="0" algn="ctr">
              <a:buNone/>
            </a:pPr>
            <a:endParaRPr lang="en-US" sz="1050" dirty="0"/>
          </a:p>
        </p:txBody>
      </p:sp>
      <p:sp>
        <p:nvSpPr>
          <p:cNvPr id="34" name="Text 32"/>
          <p:cNvSpPr/>
          <p:nvPr/>
        </p:nvSpPr>
        <p:spPr>
          <a:xfrm>
            <a:off x="6987861" y="5833391"/>
            <a:ext cx="1325880" cy="27432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41,6% Umsatz</a:t>
            </a:r>
            <a:endParaRPr lang="en-US" sz="950" dirty="0"/>
          </a:p>
        </p:txBody>
      </p:sp>
      <p:sp>
        <p:nvSpPr>
          <p:cNvPr id="35" name="Shape 33"/>
          <p:cNvSpPr/>
          <p:nvPr/>
        </p:nvSpPr>
        <p:spPr>
          <a:xfrm>
            <a:off x="8469189" y="5202455"/>
            <a:ext cx="1417320" cy="960120"/>
          </a:xfrm>
          <a:prstGeom prst="roundRect">
            <a:avLst>
              <a:gd name="adj" fmla="val 5714"/>
            </a:avLst>
          </a:prstGeom>
          <a:solidFill>
            <a:srgbClr val="E8A23D"/>
          </a:solidFill>
          <a:ln/>
          <a:effectLst>
            <a:outerShdw blurRad="50800" dist="12700" dir="5400000" algn="bl" rotWithShape="0">
              <a:srgbClr val="000000">
                <a:alpha val="20000"/>
              </a:srgbClr>
            </a:outerShdw>
          </a:effectLst>
        </p:spPr>
        <p:txBody>
          <a:bodyPr/>
          <a:lstStyle/>
          <a:p>
            <a:endParaRPr lang="de-DE"/>
          </a:p>
        </p:txBody>
      </p:sp>
      <p:sp>
        <p:nvSpPr>
          <p:cNvPr id="36" name="Text 34"/>
          <p:cNvSpPr/>
          <p:nvPr/>
        </p:nvSpPr>
        <p:spPr>
          <a:xfrm>
            <a:off x="8514909" y="5275607"/>
            <a:ext cx="1325880" cy="50292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At Risk</a:t>
            </a:r>
          </a:p>
          <a:p>
            <a:pPr marL="0" indent="0" algn="ctr">
              <a:buNone/>
            </a:pPr>
            <a:endParaRPr lang="en-US" sz="1050" b="1" dirty="0">
              <a:solidFill>
                <a:srgbClr val="FFFFFF"/>
              </a:solidFill>
              <a:latin typeface="Calibri" pitchFamily="34" charset="0"/>
              <a:ea typeface="Calibri" pitchFamily="34" charset="-122"/>
              <a:cs typeface="Calibri" pitchFamily="34" charset="-120"/>
            </a:endParaRPr>
          </a:p>
          <a:p>
            <a:pPr algn="ctr"/>
            <a:r>
              <a:rPr lang="en-US" sz="1050" b="1" dirty="0">
                <a:solidFill>
                  <a:srgbClr val="FFFFFF"/>
                </a:solidFill>
                <a:latin typeface="Calibri" pitchFamily="34" charset="0"/>
                <a:ea typeface="Calibri" pitchFamily="34" charset="-122"/>
                <a:cs typeface="Calibri" pitchFamily="34" charset="-120"/>
              </a:rPr>
              <a:t>Range 5-6</a:t>
            </a:r>
            <a:endParaRPr lang="en-US" sz="1050" dirty="0"/>
          </a:p>
          <a:p>
            <a:pPr marL="0" indent="0" algn="ctr">
              <a:buNone/>
            </a:pPr>
            <a:endParaRPr lang="en-US" sz="1050" dirty="0"/>
          </a:p>
        </p:txBody>
      </p:sp>
      <p:sp>
        <p:nvSpPr>
          <p:cNvPr id="37" name="Text 35"/>
          <p:cNvSpPr/>
          <p:nvPr/>
        </p:nvSpPr>
        <p:spPr>
          <a:xfrm>
            <a:off x="8514909" y="5833391"/>
            <a:ext cx="1325880" cy="27432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21,9% Umsatz</a:t>
            </a:r>
            <a:endParaRPr lang="en-US" sz="950" dirty="0"/>
          </a:p>
        </p:txBody>
      </p:sp>
      <p:sp>
        <p:nvSpPr>
          <p:cNvPr id="38" name="Shape 36"/>
          <p:cNvSpPr/>
          <p:nvPr/>
        </p:nvSpPr>
        <p:spPr>
          <a:xfrm>
            <a:off x="9996237" y="5202455"/>
            <a:ext cx="1417320" cy="960120"/>
          </a:xfrm>
          <a:prstGeom prst="roundRect">
            <a:avLst>
              <a:gd name="adj" fmla="val 5714"/>
            </a:avLst>
          </a:prstGeom>
          <a:solidFill>
            <a:srgbClr val="D65C5C"/>
          </a:solidFill>
          <a:ln/>
          <a:effectLst>
            <a:outerShdw blurRad="50800" dist="12700" dir="5400000" algn="bl" rotWithShape="0">
              <a:srgbClr val="000000">
                <a:alpha val="20000"/>
              </a:srgbClr>
            </a:outerShdw>
          </a:effectLst>
        </p:spPr>
        <p:txBody>
          <a:bodyPr/>
          <a:lstStyle/>
          <a:p>
            <a:endParaRPr lang="de-DE"/>
          </a:p>
        </p:txBody>
      </p:sp>
      <p:sp>
        <p:nvSpPr>
          <p:cNvPr id="39" name="Text 37"/>
          <p:cNvSpPr/>
          <p:nvPr/>
        </p:nvSpPr>
        <p:spPr>
          <a:xfrm>
            <a:off x="10041957" y="5275607"/>
            <a:ext cx="1325880" cy="50292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Low Value / Lost</a:t>
            </a:r>
          </a:p>
          <a:p>
            <a:pPr marL="0" indent="0" algn="ctr">
              <a:buNone/>
            </a:pPr>
            <a:endParaRPr lang="en-US" sz="1050" b="1" dirty="0">
              <a:solidFill>
                <a:srgbClr val="FFFFFF"/>
              </a:solidFill>
              <a:latin typeface="Calibri" pitchFamily="34" charset="0"/>
              <a:ea typeface="Calibri" pitchFamily="34" charset="-122"/>
              <a:cs typeface="Calibri" pitchFamily="34" charset="-120"/>
            </a:endParaRPr>
          </a:p>
          <a:p>
            <a:pPr marL="0" indent="0" algn="ctr">
              <a:buNone/>
            </a:pPr>
            <a:r>
              <a:rPr lang="en-US" sz="1050" b="1" dirty="0">
                <a:solidFill>
                  <a:srgbClr val="FFFFFF"/>
                </a:solidFill>
                <a:latin typeface="Calibri" pitchFamily="34" charset="0"/>
                <a:ea typeface="Calibri" pitchFamily="34" charset="-122"/>
                <a:cs typeface="Calibri" pitchFamily="34" charset="-120"/>
              </a:rPr>
              <a:t>Range 3-4</a:t>
            </a:r>
            <a:endParaRPr lang="en-US" sz="1050" dirty="0"/>
          </a:p>
        </p:txBody>
      </p:sp>
      <p:sp>
        <p:nvSpPr>
          <p:cNvPr id="40" name="Text 38"/>
          <p:cNvSpPr/>
          <p:nvPr/>
        </p:nvSpPr>
        <p:spPr>
          <a:xfrm>
            <a:off x="10041957" y="5833391"/>
            <a:ext cx="1325880" cy="27432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9,9% Umsatz</a:t>
            </a:r>
            <a:endParaRPr lang="en-US" sz="950" dirty="0"/>
          </a:p>
        </p:txBody>
      </p:sp>
      <p:sp>
        <p:nvSpPr>
          <p:cNvPr id="43" name="Text 41"/>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a:t>
            </a:r>
            <a:endParaRPr lang="en-US" sz="900" dirty="0"/>
          </a:p>
        </p:txBody>
      </p:sp>
      <p:sp>
        <p:nvSpPr>
          <p:cNvPr id="45" name="Shape 0">
            <a:extLst>
              <a:ext uri="{FF2B5EF4-FFF2-40B4-BE49-F238E27FC236}">
                <a16:creationId xmlns:a16="http://schemas.microsoft.com/office/drawing/2014/main" id="{33F7A4A0-3DBB-A7C4-8E63-62A761A35D90}"/>
              </a:ext>
            </a:extLst>
          </p:cNvPr>
          <p:cNvSpPr/>
          <p:nvPr/>
        </p:nvSpPr>
        <p:spPr>
          <a:xfrm>
            <a:off x="446772" y="201168"/>
            <a:ext cx="3463748" cy="347472"/>
          </a:xfrm>
          <a:prstGeom prst="roundRect">
            <a:avLst>
              <a:gd name="adj" fmla="val 50000"/>
            </a:avLst>
          </a:prstGeom>
          <a:solidFill>
            <a:srgbClr val="DCEEE9"/>
          </a:solidFill>
          <a:ln/>
        </p:spPr>
        <p:txBody>
          <a:bodyPr/>
          <a:lstStyle/>
          <a:p>
            <a:r>
              <a:rPr lang="en-US" sz="1100" b="1" kern="0" spc="200" dirty="0">
                <a:solidFill>
                  <a:srgbClr val="0F6E56"/>
                </a:solidFill>
                <a:latin typeface="Calibri" pitchFamily="34" charset="0"/>
                <a:ea typeface="Calibri" pitchFamily="34" charset="-122"/>
                <a:cs typeface="Calibri" pitchFamily="34" charset="-120"/>
              </a:rPr>
              <a:t>CUSTOMER LOYALTY &amp; SEGMENTATION</a:t>
            </a:r>
            <a:endParaRPr lang="en-US" sz="1100" dirty="0">
              <a:solidFill>
                <a:srgbClr val="0F6E56"/>
              </a:solidFill>
            </a:endParaRPr>
          </a:p>
        </p:txBody>
      </p:sp>
      <p:sp>
        <p:nvSpPr>
          <p:cNvPr id="47" name="Text 12">
            <a:extLst>
              <a:ext uri="{FF2B5EF4-FFF2-40B4-BE49-F238E27FC236}">
                <a16:creationId xmlns:a16="http://schemas.microsoft.com/office/drawing/2014/main" id="{DE68176A-0AD9-FB7C-2CCF-3FC698088D64}"/>
              </a:ext>
            </a:extLst>
          </p:cNvPr>
          <p:cNvSpPr/>
          <p:nvPr/>
        </p:nvSpPr>
        <p:spPr>
          <a:xfrm>
            <a:off x="457200" y="6473952"/>
            <a:ext cx="8229600" cy="274320"/>
          </a:xfrm>
          <a:prstGeom prst="rect">
            <a:avLst/>
          </a:prstGeom>
          <a:noFill/>
          <a:ln/>
        </p:spPr>
        <p:txBody>
          <a:bodyPr wrap="square" rtlCol="0" anchor="ctr"/>
          <a:lstStyle/>
          <a:p>
            <a:pPr marL="0" indent="0">
              <a:buNone/>
            </a:pPr>
            <a:r>
              <a:rPr lang="en-US" sz="850" dirty="0">
                <a:solidFill>
                  <a:srgbClr val="5B6472"/>
                </a:solidFill>
                <a:latin typeface="Calibri" pitchFamily="34" charset="0"/>
                <a:ea typeface="Calibri" pitchFamily="34" charset="-122"/>
                <a:cs typeface="Calibri" pitchFamily="34" charset="-120"/>
              </a:rPr>
              <a:t>Home &amp; Lifestyle Retail Group  ·  Performance &amp; Insights Report</a:t>
            </a:r>
            <a:endParaRPr lang="en-US" sz="850" dirty="0"/>
          </a:p>
        </p:txBody>
      </p:sp>
      <p:sp>
        <p:nvSpPr>
          <p:cNvPr id="49" name="Shape 24">
            <a:extLst>
              <a:ext uri="{FF2B5EF4-FFF2-40B4-BE49-F238E27FC236}">
                <a16:creationId xmlns:a16="http://schemas.microsoft.com/office/drawing/2014/main" id="{4DCEE546-685B-927D-CFCE-9BD15BFF1F3A}"/>
              </a:ext>
            </a:extLst>
          </p:cNvPr>
          <p:cNvSpPr/>
          <p:nvPr/>
        </p:nvSpPr>
        <p:spPr>
          <a:xfrm>
            <a:off x="6550473" y="1988339"/>
            <a:ext cx="960120" cy="329184"/>
          </a:xfrm>
          <a:prstGeom prst="roundRect">
            <a:avLst>
              <a:gd name="adj" fmla="val 13333"/>
            </a:avLst>
          </a:prstGeom>
          <a:solidFill>
            <a:srgbClr val="F4F7FB"/>
          </a:solidFill>
          <a:ln w="12700">
            <a:solidFill>
              <a:srgbClr val="12294F"/>
            </a:solidFill>
            <a:prstDash val="solid"/>
          </a:ln>
        </p:spPr>
        <p:txBody>
          <a:bodyPr/>
          <a:lstStyle/>
          <a:p>
            <a:pPr algn="ctr"/>
            <a:r>
              <a:rPr lang="de-DE" sz="1050" dirty="0"/>
              <a:t>Order Date</a:t>
            </a:r>
          </a:p>
        </p:txBody>
      </p:sp>
      <p:sp>
        <p:nvSpPr>
          <p:cNvPr id="51" name="Shape 24">
            <a:extLst>
              <a:ext uri="{FF2B5EF4-FFF2-40B4-BE49-F238E27FC236}">
                <a16:creationId xmlns:a16="http://schemas.microsoft.com/office/drawing/2014/main" id="{254E8ED6-C47A-F359-C3F4-2661D980FFB9}"/>
              </a:ext>
            </a:extLst>
          </p:cNvPr>
          <p:cNvSpPr/>
          <p:nvPr/>
        </p:nvSpPr>
        <p:spPr>
          <a:xfrm>
            <a:off x="7879401" y="1988339"/>
            <a:ext cx="960120" cy="329184"/>
          </a:xfrm>
          <a:prstGeom prst="roundRect">
            <a:avLst>
              <a:gd name="adj" fmla="val 13333"/>
            </a:avLst>
          </a:prstGeom>
          <a:solidFill>
            <a:srgbClr val="F4F7FB"/>
          </a:solidFill>
          <a:ln w="12700">
            <a:solidFill>
              <a:srgbClr val="12294F"/>
            </a:solidFill>
            <a:prstDash val="solid"/>
          </a:ln>
        </p:spPr>
        <p:txBody>
          <a:bodyPr/>
          <a:lstStyle/>
          <a:p>
            <a:pPr algn="ctr"/>
            <a:r>
              <a:rPr lang="de-DE" sz="1050" dirty="0"/>
              <a:t>Order Count</a:t>
            </a:r>
          </a:p>
        </p:txBody>
      </p:sp>
      <p:sp>
        <p:nvSpPr>
          <p:cNvPr id="53" name="Shape 24">
            <a:extLst>
              <a:ext uri="{FF2B5EF4-FFF2-40B4-BE49-F238E27FC236}">
                <a16:creationId xmlns:a16="http://schemas.microsoft.com/office/drawing/2014/main" id="{91402750-EAC6-BF38-38AE-FE199EA1BA63}"/>
              </a:ext>
            </a:extLst>
          </p:cNvPr>
          <p:cNvSpPr/>
          <p:nvPr/>
        </p:nvSpPr>
        <p:spPr>
          <a:xfrm>
            <a:off x="9132610" y="1978714"/>
            <a:ext cx="960120" cy="329184"/>
          </a:xfrm>
          <a:prstGeom prst="roundRect">
            <a:avLst>
              <a:gd name="adj" fmla="val 13333"/>
            </a:avLst>
          </a:prstGeom>
          <a:solidFill>
            <a:srgbClr val="F4F7FB"/>
          </a:solidFill>
          <a:ln w="12700">
            <a:solidFill>
              <a:srgbClr val="12294F"/>
            </a:solidFill>
            <a:prstDash val="solid"/>
          </a:ln>
        </p:spPr>
        <p:txBody>
          <a:bodyPr/>
          <a:lstStyle/>
          <a:p>
            <a:pPr algn="ctr"/>
            <a:r>
              <a:rPr lang="de-DE" sz="1050" dirty="0"/>
              <a:t>Total </a:t>
            </a:r>
            <a:r>
              <a:rPr lang="de-DE" sz="1050" dirty="0" err="1"/>
              <a:t>Spend</a:t>
            </a:r>
            <a:endParaRPr lang="de-DE"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we="http://schemas.microsoft.com/office/webextensions/webextension/2010/11" xmlns:pca="http://schemas.microsoft.com/office/powerpoint/2013/contentapp">
        <mc:Choice Requires="we pca">
          <p:graphicFrame>
            <p:nvGraphicFramePr>
              <p:cNvPr id="2" name="Add-in 1" title="Microsoft Power BI">
                <a:extLst>
                  <a:ext uri="{FF2B5EF4-FFF2-40B4-BE49-F238E27FC236}">
                    <a16:creationId xmlns:a16="http://schemas.microsoft.com/office/drawing/2014/main" id="{F77CE905-13A2-EA5F-EA8B-9151559B5EEB}"/>
                  </a:ext>
                </a:extLst>
              </p:cNvPr>
              <p:cNvGraphicFramePr>
                <a:graphicFrameLocks noGrp="1"/>
              </p:cNvGraphicFramePr>
              <p:nvPr>
                <p:extLst>
                  <p:ext uri="{D42A27DB-BD31-4B8C-83A1-F6EECF244321}">
                    <p14:modId xmlns:p14="http://schemas.microsoft.com/office/powerpoint/2010/main" val="2795073972"/>
                  </p:ext>
                </p:extLst>
              </p:nvPr>
            </p:nvGraphicFramePr>
            <p:xfrm>
              <a:off x="0" y="0"/>
              <a:ext cx="12192000" cy="685800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2" name="Add-in 1" title="Microsoft Power BI">
                <a:extLst>
                  <a:ext uri="{FF2B5EF4-FFF2-40B4-BE49-F238E27FC236}">
                    <a16:creationId xmlns:a16="http://schemas.microsoft.com/office/drawing/2014/main" id="{F77CE905-13A2-EA5F-EA8B-9151559B5EEB}"/>
                  </a:ext>
                </a:extLst>
              </p:cNvPr>
              <p:cNvPicPr>
                <a:picLocks noGrp="1" noRot="1" noChangeAspect="1" noMove="1" noResize="1" noEditPoints="1" noAdjustHandles="1" noChangeArrowheads="1" noChangeShapeType="1"/>
              </p:cNvPicPr>
              <p:nvPr/>
            </p:nvPicPr>
            <p:blipFill>
              <a:blip r:embed="rId4"/>
              <a:stretch>
                <a:fillRect/>
              </a:stretch>
            </p:blipFill>
            <p:spPr>
              <a:xfrm>
                <a:off x="0" y="0"/>
                <a:ext cx="12192000" cy="6858000"/>
              </a:xfrm>
              <a:prstGeom prst="rect">
                <a:avLst/>
              </a:prstGeom>
            </p:spPr>
          </p:pic>
        </mc:Fallback>
      </mc:AlternateContent>
    </p:spTree>
    <p:extLst>
      <p:ext uri="{BB962C8B-B14F-4D97-AF65-F5344CB8AC3E}">
        <p14:creationId xmlns:p14="http://schemas.microsoft.com/office/powerpoint/2010/main" val="2438531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chemeClr val="bg1"/>
          </a:solidFill>
          <a:ln/>
        </p:spPr>
        <p:txBody>
          <a:bodyPr/>
          <a:lstStyle/>
          <a:p>
            <a:endParaRPr lang="de-DE"/>
          </a:p>
        </p:txBody>
      </p:sp>
      <p:sp>
        <p:nvSpPr>
          <p:cNvPr id="4" name="Text 2"/>
          <p:cNvSpPr/>
          <p:nvPr/>
        </p:nvSpPr>
        <p:spPr>
          <a:xfrm>
            <a:off x="502920" y="571500"/>
            <a:ext cx="10515600" cy="640080"/>
          </a:xfrm>
          <a:prstGeom prst="rect">
            <a:avLst/>
          </a:prstGeom>
          <a:noFill/>
          <a:ln/>
        </p:spPr>
        <p:txBody>
          <a:bodyPr wrap="square" lIns="0" tIns="0" rIns="0" bIns="0" rtlCol="0" anchor="ctr"/>
          <a:lstStyle/>
          <a:p>
            <a:pPr marL="0" indent="0">
              <a:buNone/>
            </a:pPr>
            <a:r>
              <a:rPr lang="en-US" sz="2600" b="1" dirty="0">
                <a:solidFill>
                  <a:srgbClr val="1B3A57"/>
                </a:solidFill>
                <a:latin typeface="Cambria" pitchFamily="34" charset="0"/>
                <a:ea typeface="Cambria" pitchFamily="34" charset="-122"/>
                <a:cs typeface="Cambria" pitchFamily="34" charset="-120"/>
              </a:rPr>
              <a:t>Warum drei verschiedene Methoden?</a:t>
            </a:r>
            <a:endParaRPr lang="en-US" sz="2600" dirty="0">
              <a:solidFill>
                <a:srgbClr val="1B3A57"/>
              </a:solidFill>
            </a:endParaRPr>
          </a:p>
        </p:txBody>
      </p:sp>
      <p:sp>
        <p:nvSpPr>
          <p:cNvPr id="5" name="Text 3"/>
          <p:cNvSpPr/>
          <p:nvPr/>
        </p:nvSpPr>
        <p:spPr>
          <a:xfrm>
            <a:off x="446771" y="1531620"/>
            <a:ext cx="4846320" cy="274320"/>
          </a:xfrm>
          <a:prstGeom prst="rect">
            <a:avLst/>
          </a:prstGeom>
          <a:noFill/>
          <a:ln/>
        </p:spPr>
        <p:txBody>
          <a:bodyPr wrap="square" lIns="0" tIns="0" rIns="0" bIns="0" rtlCol="0" anchor="ctr"/>
          <a:lstStyle/>
          <a:p>
            <a:pPr marL="0" indent="0">
              <a:buNone/>
            </a:pPr>
            <a:r>
              <a:rPr lang="en-US" sz="1200" b="1" kern="0" spc="150" dirty="0">
                <a:solidFill>
                  <a:srgbClr val="12294F"/>
                </a:solidFill>
                <a:latin typeface="Calibri" pitchFamily="34" charset="0"/>
                <a:ea typeface="Calibri" pitchFamily="34" charset="-122"/>
                <a:cs typeface="Calibri" pitchFamily="34" charset="-120"/>
              </a:rPr>
              <a:t>DAS PROBLEM</a:t>
            </a:r>
            <a:endParaRPr lang="en-US" sz="1200" dirty="0"/>
          </a:p>
        </p:txBody>
      </p:sp>
      <p:sp>
        <p:nvSpPr>
          <p:cNvPr id="6" name="Text 4"/>
          <p:cNvSpPr/>
          <p:nvPr/>
        </p:nvSpPr>
        <p:spPr>
          <a:xfrm>
            <a:off x="446771" y="1851660"/>
            <a:ext cx="4846320" cy="1005840"/>
          </a:xfrm>
          <a:prstGeom prst="rect">
            <a:avLst/>
          </a:prstGeom>
          <a:noFill/>
          <a:ln/>
        </p:spPr>
        <p:txBody>
          <a:bodyPr wrap="square" lIns="0" tIns="0" rIns="0" bIns="0" rtlCol="0" anchor="t"/>
          <a:lstStyle/>
          <a:p>
            <a:pPr marL="285750" indent="-285750">
              <a:lnSpc>
                <a:spcPct val="115000"/>
              </a:lnSpc>
              <a:spcAft>
                <a:spcPts val="600"/>
              </a:spcAft>
              <a:buFont typeface="Arial" panose="020B0604020202020204" pitchFamily="34" charset="0"/>
              <a:buChar char="•"/>
            </a:pPr>
            <a:r>
              <a:rPr lang="en-US" sz="1300" dirty="0">
                <a:solidFill>
                  <a:srgbClr val="2B3446"/>
                </a:solidFill>
                <a:latin typeface="Calibri" pitchFamily="34" charset="0"/>
                <a:ea typeface="Calibri" pitchFamily="34" charset="-122"/>
                <a:cs typeface="Calibri" pitchFamily="34" charset="-120"/>
              </a:rPr>
              <a:t>Verkaufsdaten </a:t>
            </a:r>
            <a:r>
              <a:rPr lang="en-US" sz="1300" dirty="0" err="1">
                <a:solidFill>
                  <a:srgbClr val="2B3446"/>
                </a:solidFill>
                <a:latin typeface="Calibri" pitchFamily="34" charset="0"/>
                <a:ea typeface="Calibri" pitchFamily="34" charset="-122"/>
                <a:cs typeface="Calibri" pitchFamily="34" charset="-120"/>
              </a:rPr>
              <a:t>schwanken</a:t>
            </a:r>
            <a:r>
              <a:rPr lang="en-US" sz="1300" dirty="0">
                <a:solidFill>
                  <a:srgbClr val="2B3446"/>
                </a:solidFill>
                <a:latin typeface="Calibri" pitchFamily="34" charset="0"/>
                <a:ea typeface="Calibri" pitchFamily="34" charset="-122"/>
                <a:cs typeface="Calibri" pitchFamily="34" charset="-120"/>
              </a:rPr>
              <a:t> </a:t>
            </a:r>
            <a:r>
              <a:rPr lang="en-US" sz="1300" dirty="0" err="1">
                <a:solidFill>
                  <a:srgbClr val="2B3446"/>
                </a:solidFill>
                <a:latin typeface="Calibri" pitchFamily="34" charset="0"/>
                <a:ea typeface="Calibri" pitchFamily="34" charset="-122"/>
                <a:cs typeface="Calibri" pitchFamily="34" charset="-120"/>
              </a:rPr>
              <a:t>ständig</a:t>
            </a:r>
            <a:r>
              <a:rPr lang="en-US" sz="1300" dirty="0">
                <a:solidFill>
                  <a:srgbClr val="2B3446"/>
                </a:solidFill>
                <a:latin typeface="Calibri" pitchFamily="34" charset="0"/>
                <a:ea typeface="Calibri" pitchFamily="34" charset="-122"/>
                <a:cs typeface="Calibri" pitchFamily="34" charset="-120"/>
              </a:rPr>
              <a:t>.</a:t>
            </a:r>
          </a:p>
          <a:p>
            <a:pPr marL="285750" indent="-285750">
              <a:lnSpc>
                <a:spcPct val="115000"/>
              </a:lnSpc>
              <a:spcAft>
                <a:spcPts val="600"/>
              </a:spcAft>
              <a:buFont typeface="Arial" panose="020B0604020202020204" pitchFamily="34" charset="0"/>
              <a:buChar char="•"/>
            </a:pPr>
            <a:r>
              <a:rPr lang="en-US" sz="1300" dirty="0" err="1">
                <a:solidFill>
                  <a:srgbClr val="2B3446"/>
                </a:solidFill>
                <a:latin typeface="Calibri" pitchFamily="34" charset="0"/>
                <a:ea typeface="Calibri" pitchFamily="34" charset="-122"/>
                <a:cs typeface="Calibri" pitchFamily="34" charset="-120"/>
              </a:rPr>
              <a:t>Ohne</a:t>
            </a:r>
            <a:r>
              <a:rPr lang="en-US" sz="1300" dirty="0">
                <a:solidFill>
                  <a:srgbClr val="2B3446"/>
                </a:solidFill>
                <a:latin typeface="Calibri" pitchFamily="34" charset="0"/>
                <a:ea typeface="Calibri" pitchFamily="34" charset="-122"/>
                <a:cs typeface="Calibri" pitchFamily="34" charset="-120"/>
              </a:rPr>
              <a:t> statistische Einordnung lässt sich nicht unterscheiden, welche Abweichungen echtes Signal sind — und welche normales Rauschen.</a:t>
            </a:r>
            <a:endParaRPr lang="en-US" sz="1300" dirty="0"/>
          </a:p>
        </p:txBody>
      </p:sp>
      <p:sp>
        <p:nvSpPr>
          <p:cNvPr id="7" name="Text 5"/>
          <p:cNvSpPr/>
          <p:nvPr/>
        </p:nvSpPr>
        <p:spPr>
          <a:xfrm>
            <a:off x="446771" y="3296412"/>
            <a:ext cx="4846320" cy="274320"/>
          </a:xfrm>
          <a:prstGeom prst="rect">
            <a:avLst/>
          </a:prstGeom>
          <a:noFill/>
          <a:ln/>
        </p:spPr>
        <p:txBody>
          <a:bodyPr wrap="square" lIns="0" tIns="0" rIns="0" bIns="0" rtlCol="0" anchor="ctr"/>
          <a:lstStyle/>
          <a:p>
            <a:pPr marL="0" indent="0">
              <a:buNone/>
            </a:pPr>
            <a:r>
              <a:rPr lang="en-US" sz="1200" b="1" kern="0" spc="150" dirty="0">
                <a:solidFill>
                  <a:srgbClr val="12294F"/>
                </a:solidFill>
                <a:latin typeface="Calibri" pitchFamily="34" charset="0"/>
                <a:ea typeface="Calibri" pitchFamily="34" charset="-122"/>
                <a:cs typeface="Calibri" pitchFamily="34" charset="-120"/>
              </a:rPr>
              <a:t>WARUM DREI METHODEN?</a:t>
            </a:r>
            <a:endParaRPr lang="en-US" sz="1200" dirty="0"/>
          </a:p>
        </p:txBody>
      </p:sp>
      <p:sp>
        <p:nvSpPr>
          <p:cNvPr id="8" name="Text 6"/>
          <p:cNvSpPr/>
          <p:nvPr/>
        </p:nvSpPr>
        <p:spPr>
          <a:xfrm>
            <a:off x="446771" y="3598164"/>
            <a:ext cx="4846320" cy="502920"/>
          </a:xfrm>
          <a:prstGeom prst="rect">
            <a:avLst/>
          </a:prstGeom>
          <a:noFill/>
          <a:ln/>
        </p:spPr>
        <p:txBody>
          <a:bodyPr wrap="square" lIns="0" tIns="0" rIns="0" bIns="0" rtlCol="0" anchor="t"/>
          <a:lstStyle/>
          <a:p>
            <a:pPr marL="0" indent="0">
              <a:lnSpc>
                <a:spcPct val="115000"/>
              </a:lnSpc>
              <a:buNone/>
            </a:pPr>
            <a:r>
              <a:rPr lang="en-US" sz="1250" dirty="0">
                <a:solidFill>
                  <a:srgbClr val="2B3446"/>
                </a:solidFill>
                <a:latin typeface="Calibri" pitchFamily="34" charset="0"/>
                <a:ea typeface="Calibri" pitchFamily="34" charset="-122"/>
                <a:cs typeface="Calibri" pitchFamily="34" charset="-120"/>
              </a:rPr>
              <a:t>Jede Datenebene hat eine andere Verteilung — eine einzelne Methode würde auf mindestens einer Ebene falsche Ausreißer liefern:</a:t>
            </a:r>
            <a:endParaRPr lang="en-US" sz="1250" dirty="0"/>
          </a:p>
        </p:txBody>
      </p:sp>
      <p:sp>
        <p:nvSpPr>
          <p:cNvPr id="9" name="Shape 7"/>
          <p:cNvSpPr/>
          <p:nvPr/>
        </p:nvSpPr>
        <p:spPr>
          <a:xfrm>
            <a:off x="446771" y="4265676"/>
            <a:ext cx="91440" cy="91440"/>
          </a:xfrm>
          <a:prstGeom prst="ellipse">
            <a:avLst/>
          </a:prstGeom>
          <a:solidFill>
            <a:srgbClr val="14B8A6"/>
          </a:solidFill>
          <a:ln/>
        </p:spPr>
        <p:txBody>
          <a:bodyPr/>
          <a:lstStyle/>
          <a:p>
            <a:endParaRPr lang="de-DE"/>
          </a:p>
        </p:txBody>
      </p:sp>
      <p:sp>
        <p:nvSpPr>
          <p:cNvPr id="10" name="Text 8"/>
          <p:cNvSpPr/>
          <p:nvPr/>
        </p:nvSpPr>
        <p:spPr>
          <a:xfrm>
            <a:off x="675371" y="4119372"/>
            <a:ext cx="4617720" cy="502920"/>
          </a:xfrm>
          <a:prstGeom prst="rect">
            <a:avLst/>
          </a:prstGeom>
          <a:noFill/>
          <a:ln/>
        </p:spPr>
        <p:txBody>
          <a:bodyPr wrap="square" lIns="0" tIns="0" rIns="0" bIns="0" rtlCol="0" anchor="t"/>
          <a:lstStyle/>
          <a:p>
            <a:pPr marL="0" indent="0">
              <a:lnSpc>
                <a:spcPct val="110000"/>
              </a:lnSpc>
              <a:buNone/>
            </a:pPr>
            <a:r>
              <a:rPr lang="en-US" sz="1200" b="1" dirty="0">
                <a:solidFill>
                  <a:srgbClr val="12294F"/>
                </a:solidFill>
                <a:latin typeface="Calibri" pitchFamily="34" charset="0"/>
                <a:ea typeface="Calibri" pitchFamily="34" charset="-122"/>
                <a:cs typeface="Calibri" pitchFamily="34" charset="-120"/>
              </a:rPr>
              <a:t>Kontrollkarte (2σ):  </a:t>
            </a:r>
            <a:r>
              <a:rPr lang="en-US" sz="1200" dirty="0">
                <a:solidFill>
                  <a:srgbClr val="2B3446"/>
                </a:solidFill>
                <a:latin typeface="Calibri" pitchFamily="34" charset="0"/>
                <a:ea typeface="Calibri" pitchFamily="34" charset="-122"/>
                <a:cs typeface="Calibri" pitchFamily="34" charset="-120"/>
              </a:rPr>
              <a:t>Monatswerte sind annähernd normalverteilt — Standard aus der Controlling-Praxis</a:t>
            </a:r>
            <a:endParaRPr lang="en-US" sz="1200" dirty="0"/>
          </a:p>
        </p:txBody>
      </p:sp>
      <p:sp>
        <p:nvSpPr>
          <p:cNvPr id="11" name="Shape 9"/>
          <p:cNvSpPr/>
          <p:nvPr/>
        </p:nvSpPr>
        <p:spPr>
          <a:xfrm>
            <a:off x="446771" y="4887468"/>
            <a:ext cx="91440" cy="91440"/>
          </a:xfrm>
          <a:prstGeom prst="ellipse">
            <a:avLst/>
          </a:prstGeom>
          <a:solidFill>
            <a:srgbClr val="14B8A6"/>
          </a:solidFill>
          <a:ln/>
        </p:spPr>
        <p:txBody>
          <a:bodyPr/>
          <a:lstStyle/>
          <a:p>
            <a:endParaRPr lang="de-DE"/>
          </a:p>
        </p:txBody>
      </p:sp>
      <p:sp>
        <p:nvSpPr>
          <p:cNvPr id="12" name="Text 10"/>
          <p:cNvSpPr/>
          <p:nvPr/>
        </p:nvSpPr>
        <p:spPr>
          <a:xfrm>
            <a:off x="675371" y="4741164"/>
            <a:ext cx="4617720" cy="502920"/>
          </a:xfrm>
          <a:prstGeom prst="rect">
            <a:avLst/>
          </a:prstGeom>
          <a:noFill/>
          <a:ln/>
        </p:spPr>
        <p:txBody>
          <a:bodyPr wrap="square" lIns="0" tIns="0" rIns="0" bIns="0" rtlCol="0" anchor="t"/>
          <a:lstStyle/>
          <a:p>
            <a:pPr marL="0" indent="0">
              <a:lnSpc>
                <a:spcPct val="110000"/>
              </a:lnSpc>
              <a:buNone/>
            </a:pPr>
            <a:r>
              <a:rPr lang="en-US" sz="1200" b="1" dirty="0">
                <a:solidFill>
                  <a:srgbClr val="12294F"/>
                </a:solidFill>
                <a:latin typeface="Calibri" pitchFamily="34" charset="0"/>
                <a:ea typeface="Calibri" pitchFamily="34" charset="-122"/>
                <a:cs typeface="Calibri" pitchFamily="34" charset="-120"/>
              </a:rPr>
              <a:t>IQR-Methode:  </a:t>
            </a:r>
            <a:r>
              <a:rPr lang="en-US" sz="1200" dirty="0">
                <a:solidFill>
                  <a:srgbClr val="2B3446"/>
                </a:solidFill>
                <a:latin typeface="Calibri" pitchFamily="34" charset="0"/>
                <a:ea typeface="Calibri" pitchFamily="34" charset="-122"/>
                <a:cs typeface="Calibri" pitchFamily="34" charset="-120"/>
              </a:rPr>
              <a:t>Transaktionsbeträge sind rechtsschief — robust gegen Verzerrung durch Ausreißer selbst</a:t>
            </a:r>
            <a:endParaRPr lang="en-US" sz="1200" dirty="0"/>
          </a:p>
        </p:txBody>
      </p:sp>
      <p:sp>
        <p:nvSpPr>
          <p:cNvPr id="13" name="Shape 11"/>
          <p:cNvSpPr/>
          <p:nvPr/>
        </p:nvSpPr>
        <p:spPr>
          <a:xfrm>
            <a:off x="446771" y="5509260"/>
            <a:ext cx="91440" cy="91440"/>
          </a:xfrm>
          <a:prstGeom prst="ellipse">
            <a:avLst/>
          </a:prstGeom>
          <a:solidFill>
            <a:srgbClr val="14B8A6"/>
          </a:solidFill>
          <a:ln/>
        </p:spPr>
        <p:txBody>
          <a:bodyPr/>
          <a:lstStyle/>
          <a:p>
            <a:endParaRPr lang="de-DE"/>
          </a:p>
        </p:txBody>
      </p:sp>
      <p:sp>
        <p:nvSpPr>
          <p:cNvPr id="14" name="Text 12"/>
          <p:cNvSpPr/>
          <p:nvPr/>
        </p:nvSpPr>
        <p:spPr>
          <a:xfrm>
            <a:off x="675371" y="5362956"/>
            <a:ext cx="4617720" cy="502920"/>
          </a:xfrm>
          <a:prstGeom prst="rect">
            <a:avLst/>
          </a:prstGeom>
          <a:noFill/>
          <a:ln/>
        </p:spPr>
        <p:txBody>
          <a:bodyPr wrap="square" lIns="0" tIns="0" rIns="0" bIns="0" rtlCol="0" anchor="t"/>
          <a:lstStyle/>
          <a:p>
            <a:pPr marL="0" indent="0">
              <a:lnSpc>
                <a:spcPct val="110000"/>
              </a:lnSpc>
              <a:buNone/>
            </a:pPr>
            <a:r>
              <a:rPr lang="en-US" sz="1200" b="1" dirty="0">
                <a:solidFill>
                  <a:srgbClr val="12294F"/>
                </a:solidFill>
                <a:latin typeface="Calibri" pitchFamily="34" charset="0"/>
                <a:ea typeface="Calibri" pitchFamily="34" charset="-122"/>
                <a:cs typeface="Calibri" pitchFamily="34" charset="-120"/>
              </a:rPr>
              <a:t>Variationskoeffizient:  </a:t>
            </a:r>
            <a:r>
              <a:rPr lang="en-US" sz="1200" dirty="0">
                <a:solidFill>
                  <a:srgbClr val="2B3446"/>
                </a:solidFill>
                <a:latin typeface="Calibri" pitchFamily="34" charset="0"/>
                <a:ea typeface="Calibri" pitchFamily="34" charset="-122"/>
                <a:cs typeface="Calibri" pitchFamily="34" charset="-120"/>
              </a:rPr>
              <a:t>Vergleicht Streuung fair über Kategorien mit unterschiedlichem Preisniveau</a:t>
            </a:r>
            <a:endParaRPr lang="en-US" sz="1200" dirty="0"/>
          </a:p>
        </p:txBody>
      </p:sp>
      <p:sp>
        <p:nvSpPr>
          <p:cNvPr id="15" name="Text 13"/>
          <p:cNvSpPr/>
          <p:nvPr/>
        </p:nvSpPr>
        <p:spPr>
          <a:xfrm>
            <a:off x="5750291" y="1531620"/>
            <a:ext cx="5669280" cy="274320"/>
          </a:xfrm>
          <a:prstGeom prst="rect">
            <a:avLst/>
          </a:prstGeom>
          <a:noFill/>
          <a:ln/>
        </p:spPr>
        <p:txBody>
          <a:bodyPr wrap="square" lIns="0" tIns="0" rIns="0" bIns="0" rtlCol="0" anchor="ctr"/>
          <a:lstStyle/>
          <a:p>
            <a:pPr marL="0" indent="0">
              <a:buNone/>
            </a:pPr>
            <a:r>
              <a:rPr lang="en-US" sz="1200" b="1" kern="0" spc="150" dirty="0">
                <a:solidFill>
                  <a:srgbClr val="12294F"/>
                </a:solidFill>
                <a:latin typeface="Calibri" pitchFamily="34" charset="0"/>
                <a:ea typeface="Calibri" pitchFamily="34" charset="-122"/>
                <a:cs typeface="Calibri" pitchFamily="34" charset="-120"/>
              </a:rPr>
              <a:t>MODELL-ANWENDUNG: DREI EBENEN</a:t>
            </a:r>
            <a:endParaRPr lang="en-US" sz="1200" dirty="0"/>
          </a:p>
        </p:txBody>
      </p:sp>
      <p:sp>
        <p:nvSpPr>
          <p:cNvPr id="16" name="Shape 14"/>
          <p:cNvSpPr/>
          <p:nvPr/>
        </p:nvSpPr>
        <p:spPr>
          <a:xfrm>
            <a:off x="5750291" y="2121408"/>
            <a:ext cx="5852160" cy="960120"/>
          </a:xfrm>
          <a:prstGeom prst="roundRect">
            <a:avLst>
              <a:gd name="adj" fmla="val 7619"/>
            </a:avLst>
          </a:prstGeom>
          <a:solidFill>
            <a:srgbClr val="12294F"/>
          </a:solidFill>
          <a:ln/>
          <a:effectLst>
            <a:outerShdw blurRad="63500" dist="25400" dir="5400000" algn="bl" rotWithShape="0">
              <a:srgbClr val="000000">
                <a:alpha val="22000"/>
              </a:srgbClr>
            </a:outerShdw>
          </a:effectLst>
        </p:spPr>
        <p:txBody>
          <a:bodyPr/>
          <a:lstStyle/>
          <a:p>
            <a:endParaRPr lang="de-DE"/>
          </a:p>
        </p:txBody>
      </p:sp>
      <p:sp>
        <p:nvSpPr>
          <p:cNvPr id="17" name="Text 15"/>
          <p:cNvSpPr/>
          <p:nvPr/>
        </p:nvSpPr>
        <p:spPr>
          <a:xfrm>
            <a:off x="5978891" y="2212848"/>
            <a:ext cx="539496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Zeitreihe  </a:t>
            </a:r>
            <a:r>
              <a:rPr lang="en-US" sz="1050" i="1" dirty="0">
                <a:solidFill>
                  <a:srgbClr val="FFFFFF"/>
                </a:solidFill>
                <a:latin typeface="Calibri" pitchFamily="34" charset="0"/>
                <a:ea typeface="Calibri" pitchFamily="34" charset="-122"/>
                <a:cs typeface="Calibri" pitchFamily="34" charset="-120"/>
              </a:rPr>
              <a:t>(84 Monate)</a:t>
            </a:r>
            <a:endParaRPr lang="en-US" sz="1400" dirty="0"/>
          </a:p>
        </p:txBody>
      </p:sp>
      <p:sp>
        <p:nvSpPr>
          <p:cNvPr id="18" name="Text 16"/>
          <p:cNvSpPr/>
          <p:nvPr/>
        </p:nvSpPr>
        <p:spPr>
          <a:xfrm>
            <a:off x="5978891" y="2505456"/>
            <a:ext cx="5394960" cy="27432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Kontrollkarte  ·  UCL / LCL = Ø ± 2σ</a:t>
            </a:r>
            <a:endParaRPr lang="en-US" sz="1150" dirty="0"/>
          </a:p>
        </p:txBody>
      </p:sp>
      <p:sp>
        <p:nvSpPr>
          <p:cNvPr id="19" name="Text 17"/>
          <p:cNvSpPr/>
          <p:nvPr/>
        </p:nvSpPr>
        <p:spPr>
          <a:xfrm>
            <a:off x="5978891" y="2761488"/>
            <a:ext cx="5394960" cy="274320"/>
          </a:xfrm>
          <a:prstGeom prst="rect">
            <a:avLst/>
          </a:prstGeom>
          <a:noFill/>
          <a:ln/>
        </p:spPr>
        <p:txBody>
          <a:bodyPr wrap="square" lIns="0" tIns="0" rIns="0" bIns="0" rtlCol="0" anchor="ctr"/>
          <a:lstStyle/>
          <a:p>
            <a:pPr marL="0" indent="0" algn="ctr">
              <a:buNone/>
            </a:pPr>
            <a:r>
              <a:rPr lang="en-US" sz="1050" i="1" dirty="0">
                <a:solidFill>
                  <a:srgbClr val="FFFFFF"/>
                </a:solidFill>
                <a:latin typeface="Calibri" pitchFamily="34" charset="0"/>
                <a:ea typeface="Calibri" pitchFamily="34" charset="-122"/>
                <a:cs typeface="Calibri" pitchFamily="34" charset="-120"/>
              </a:rPr>
              <a:t>3 Monate außerhalb der Grenzen</a:t>
            </a:r>
            <a:endParaRPr lang="en-US" sz="1050" dirty="0"/>
          </a:p>
        </p:txBody>
      </p:sp>
      <p:sp>
        <p:nvSpPr>
          <p:cNvPr id="20" name="Shape 18"/>
          <p:cNvSpPr/>
          <p:nvPr/>
        </p:nvSpPr>
        <p:spPr>
          <a:xfrm>
            <a:off x="6207491" y="3355848"/>
            <a:ext cx="4937760" cy="960120"/>
          </a:xfrm>
          <a:prstGeom prst="roundRect">
            <a:avLst>
              <a:gd name="adj" fmla="val 7619"/>
            </a:avLst>
          </a:prstGeom>
          <a:solidFill>
            <a:srgbClr val="14B8A6"/>
          </a:solidFill>
          <a:ln/>
          <a:effectLst>
            <a:outerShdw blurRad="63500" dist="25400" dir="5400000" algn="bl" rotWithShape="0">
              <a:srgbClr val="000000">
                <a:alpha val="22000"/>
              </a:srgbClr>
            </a:outerShdw>
          </a:effectLst>
        </p:spPr>
        <p:txBody>
          <a:bodyPr/>
          <a:lstStyle/>
          <a:p>
            <a:endParaRPr lang="de-DE"/>
          </a:p>
        </p:txBody>
      </p:sp>
      <p:sp>
        <p:nvSpPr>
          <p:cNvPr id="21" name="Text 19"/>
          <p:cNvSpPr/>
          <p:nvPr/>
        </p:nvSpPr>
        <p:spPr>
          <a:xfrm>
            <a:off x="6436091" y="3447288"/>
            <a:ext cx="4480560" cy="292608"/>
          </a:xfrm>
          <a:prstGeom prst="rect">
            <a:avLst/>
          </a:prstGeom>
          <a:noFill/>
          <a:ln/>
        </p:spPr>
        <p:txBody>
          <a:bodyPr wrap="square" lIns="0" tIns="0" rIns="0" bIns="0" rtlCol="0" anchor="ctr"/>
          <a:lstStyle/>
          <a:p>
            <a:pPr marL="0" indent="0" algn="ctr">
              <a:buNone/>
            </a:pPr>
            <a:r>
              <a:rPr lang="en-US" sz="1400" b="1" dirty="0" err="1">
                <a:solidFill>
                  <a:srgbClr val="FFFFFF"/>
                </a:solidFill>
                <a:latin typeface="Calibri" pitchFamily="34" charset="0"/>
                <a:ea typeface="Calibri" pitchFamily="34" charset="-122"/>
                <a:cs typeface="Calibri" pitchFamily="34" charset="-120"/>
              </a:rPr>
              <a:t>Transaktionen</a:t>
            </a:r>
            <a:r>
              <a:rPr lang="en-US" sz="1400" b="1" dirty="0">
                <a:solidFill>
                  <a:srgbClr val="FFFFFF"/>
                </a:solidFill>
                <a:latin typeface="Calibri" pitchFamily="34" charset="0"/>
                <a:ea typeface="Calibri" pitchFamily="34" charset="-122"/>
                <a:cs typeface="Calibri" pitchFamily="34" charset="-120"/>
              </a:rPr>
              <a:t>  </a:t>
            </a:r>
            <a:r>
              <a:rPr lang="en-US" sz="1050" i="1" dirty="0">
                <a:solidFill>
                  <a:srgbClr val="FFFFFF"/>
                </a:solidFill>
                <a:latin typeface="Calibri" pitchFamily="34" charset="0"/>
                <a:ea typeface="Calibri" pitchFamily="34" charset="-122"/>
                <a:cs typeface="Calibri" pitchFamily="34" charset="-120"/>
              </a:rPr>
              <a:t>(100.000 Belege)</a:t>
            </a:r>
            <a:endParaRPr lang="en-US" sz="1400" dirty="0"/>
          </a:p>
        </p:txBody>
      </p:sp>
      <p:sp>
        <p:nvSpPr>
          <p:cNvPr id="22" name="Text 20"/>
          <p:cNvSpPr/>
          <p:nvPr/>
        </p:nvSpPr>
        <p:spPr>
          <a:xfrm>
            <a:off x="6436091" y="3739896"/>
            <a:ext cx="4480560" cy="27432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IQR  ·  Obergrenze = Q3 + 1,5×IQR</a:t>
            </a:r>
            <a:endParaRPr lang="en-US" sz="1150" dirty="0"/>
          </a:p>
        </p:txBody>
      </p:sp>
      <p:sp>
        <p:nvSpPr>
          <p:cNvPr id="23" name="Text 21"/>
          <p:cNvSpPr/>
          <p:nvPr/>
        </p:nvSpPr>
        <p:spPr>
          <a:xfrm>
            <a:off x="6436091" y="3995928"/>
            <a:ext cx="4480560" cy="274320"/>
          </a:xfrm>
          <a:prstGeom prst="rect">
            <a:avLst/>
          </a:prstGeom>
          <a:noFill/>
          <a:ln/>
        </p:spPr>
        <p:txBody>
          <a:bodyPr wrap="square" lIns="0" tIns="0" rIns="0" bIns="0" rtlCol="0" anchor="ctr"/>
          <a:lstStyle/>
          <a:p>
            <a:pPr marL="0" indent="0" algn="ctr">
              <a:buNone/>
            </a:pPr>
            <a:r>
              <a:rPr lang="en-US" sz="1050" i="1" dirty="0">
                <a:solidFill>
                  <a:srgbClr val="FFFFFF"/>
                </a:solidFill>
                <a:latin typeface="Calibri" pitchFamily="34" charset="0"/>
                <a:ea typeface="Calibri" pitchFamily="34" charset="-122"/>
                <a:cs typeface="Calibri" pitchFamily="34" charset="-120"/>
              </a:rPr>
              <a:t>3.183 Transaktionen über Grenze</a:t>
            </a:r>
            <a:endParaRPr lang="en-US" sz="1050" dirty="0"/>
          </a:p>
        </p:txBody>
      </p:sp>
      <p:sp>
        <p:nvSpPr>
          <p:cNvPr id="24" name="Shape 22"/>
          <p:cNvSpPr/>
          <p:nvPr/>
        </p:nvSpPr>
        <p:spPr>
          <a:xfrm>
            <a:off x="6664691" y="4590288"/>
            <a:ext cx="4023360" cy="960120"/>
          </a:xfrm>
          <a:prstGeom prst="roundRect">
            <a:avLst>
              <a:gd name="adj" fmla="val 7619"/>
            </a:avLst>
          </a:prstGeom>
          <a:solidFill>
            <a:srgbClr val="7DD3FC"/>
          </a:solidFill>
          <a:ln/>
          <a:effectLst>
            <a:outerShdw blurRad="63500" dist="25400" dir="5400000" algn="bl" rotWithShape="0">
              <a:srgbClr val="000000">
                <a:alpha val="22000"/>
              </a:srgbClr>
            </a:outerShdw>
          </a:effectLst>
        </p:spPr>
        <p:txBody>
          <a:bodyPr/>
          <a:lstStyle/>
          <a:p>
            <a:endParaRPr lang="de-DE"/>
          </a:p>
        </p:txBody>
      </p:sp>
      <p:sp>
        <p:nvSpPr>
          <p:cNvPr id="25" name="Text 23"/>
          <p:cNvSpPr/>
          <p:nvPr/>
        </p:nvSpPr>
        <p:spPr>
          <a:xfrm>
            <a:off x="6893291" y="4681728"/>
            <a:ext cx="3566160" cy="292608"/>
          </a:xfrm>
          <a:prstGeom prst="rect">
            <a:avLst/>
          </a:prstGeom>
          <a:noFill/>
          <a:ln/>
        </p:spPr>
        <p:txBody>
          <a:bodyPr wrap="square" lIns="0" tIns="0" rIns="0" bIns="0" rtlCol="0" anchor="ctr"/>
          <a:lstStyle/>
          <a:p>
            <a:pPr marL="0" indent="0" algn="ctr">
              <a:buNone/>
            </a:pPr>
            <a:r>
              <a:rPr lang="en-US" sz="1400" b="1" dirty="0">
                <a:solidFill>
                  <a:srgbClr val="12294F"/>
                </a:solidFill>
                <a:latin typeface="Calibri" pitchFamily="34" charset="0"/>
                <a:ea typeface="Calibri" pitchFamily="34" charset="-122"/>
                <a:cs typeface="Calibri" pitchFamily="34" charset="-120"/>
              </a:rPr>
              <a:t>Kategorien  </a:t>
            </a:r>
            <a:r>
              <a:rPr lang="en-US" sz="1050" i="1" dirty="0">
                <a:solidFill>
                  <a:srgbClr val="12294F"/>
                </a:solidFill>
                <a:latin typeface="Calibri" pitchFamily="34" charset="0"/>
                <a:ea typeface="Calibri" pitchFamily="34" charset="-122"/>
                <a:cs typeface="Calibri" pitchFamily="34" charset="-120"/>
              </a:rPr>
              <a:t>(6 Kategorien)</a:t>
            </a:r>
            <a:endParaRPr lang="en-US" sz="1400" dirty="0"/>
          </a:p>
        </p:txBody>
      </p:sp>
      <p:sp>
        <p:nvSpPr>
          <p:cNvPr id="26" name="Text 24"/>
          <p:cNvSpPr/>
          <p:nvPr/>
        </p:nvSpPr>
        <p:spPr>
          <a:xfrm>
            <a:off x="6893291" y="4974336"/>
            <a:ext cx="3566160" cy="274320"/>
          </a:xfrm>
          <a:prstGeom prst="rect">
            <a:avLst/>
          </a:prstGeom>
          <a:noFill/>
          <a:ln/>
        </p:spPr>
        <p:txBody>
          <a:bodyPr wrap="square" lIns="0" tIns="0" rIns="0" bIns="0" rtlCol="0" anchor="ctr"/>
          <a:lstStyle/>
          <a:p>
            <a:pPr marL="0" indent="0" algn="ctr">
              <a:buNone/>
            </a:pPr>
            <a:r>
              <a:rPr lang="en-US" sz="1150" dirty="0">
                <a:solidFill>
                  <a:srgbClr val="12294F"/>
                </a:solidFill>
                <a:latin typeface="Calibri" pitchFamily="34" charset="0"/>
                <a:ea typeface="Calibri" pitchFamily="34" charset="-122"/>
                <a:cs typeface="Calibri" pitchFamily="34" charset="-120"/>
              </a:rPr>
              <a:t>Variationskoeffizient  ·  StdAbw / Ø</a:t>
            </a:r>
            <a:endParaRPr lang="en-US" sz="1150" dirty="0"/>
          </a:p>
        </p:txBody>
      </p:sp>
      <p:sp>
        <p:nvSpPr>
          <p:cNvPr id="27" name="Text 25"/>
          <p:cNvSpPr/>
          <p:nvPr/>
        </p:nvSpPr>
        <p:spPr>
          <a:xfrm>
            <a:off x="6893291" y="5230368"/>
            <a:ext cx="3566160" cy="274320"/>
          </a:xfrm>
          <a:prstGeom prst="rect">
            <a:avLst/>
          </a:prstGeom>
          <a:noFill/>
          <a:ln/>
        </p:spPr>
        <p:txBody>
          <a:bodyPr wrap="square" lIns="0" tIns="0" rIns="0" bIns="0" rtlCol="0" anchor="ctr"/>
          <a:lstStyle/>
          <a:p>
            <a:pPr marL="0" indent="0" algn="ctr">
              <a:buNone/>
            </a:pPr>
            <a:r>
              <a:rPr lang="en-US" sz="1050" i="1" dirty="0">
                <a:solidFill>
                  <a:srgbClr val="12294F"/>
                </a:solidFill>
                <a:latin typeface="Calibri" pitchFamily="34" charset="0"/>
                <a:ea typeface="Calibri" pitchFamily="34" charset="-122"/>
                <a:cs typeface="Calibri" pitchFamily="34" charset="-120"/>
              </a:rPr>
              <a:t>Kitchen: 96,2% (höchste Streuung)</a:t>
            </a:r>
            <a:endParaRPr lang="en-US" sz="1050" dirty="0"/>
          </a:p>
        </p:txBody>
      </p:sp>
      <p:sp>
        <p:nvSpPr>
          <p:cNvPr id="30" name="Text 28"/>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a:t>
            </a:r>
            <a:endParaRPr lang="en-US" sz="900" dirty="0"/>
          </a:p>
        </p:txBody>
      </p:sp>
      <p:sp>
        <p:nvSpPr>
          <p:cNvPr id="36" name="Shape 0">
            <a:extLst>
              <a:ext uri="{FF2B5EF4-FFF2-40B4-BE49-F238E27FC236}">
                <a16:creationId xmlns:a16="http://schemas.microsoft.com/office/drawing/2014/main" id="{10396E2D-BBD7-4857-2F7B-1735D4DD512C}"/>
              </a:ext>
            </a:extLst>
          </p:cNvPr>
          <p:cNvSpPr/>
          <p:nvPr/>
        </p:nvSpPr>
        <p:spPr>
          <a:xfrm>
            <a:off x="446771" y="201168"/>
            <a:ext cx="4253565" cy="347472"/>
          </a:xfrm>
          <a:prstGeom prst="roundRect">
            <a:avLst>
              <a:gd name="adj" fmla="val 50000"/>
            </a:avLst>
          </a:prstGeom>
          <a:solidFill>
            <a:srgbClr val="DCEEE9"/>
          </a:solidFill>
          <a:ln/>
        </p:spPr>
        <p:txBody>
          <a:bodyPr/>
          <a:lstStyle/>
          <a:p>
            <a:r>
              <a:rPr lang="en-US" sz="1100" b="1" kern="0" spc="200" dirty="0">
                <a:solidFill>
                  <a:srgbClr val="0F6E56"/>
                </a:solidFill>
                <a:latin typeface="Calibri" pitchFamily="34" charset="0"/>
                <a:ea typeface="Calibri" pitchFamily="34" charset="-122"/>
                <a:cs typeface="Calibri" pitchFamily="34" charset="-120"/>
              </a:rPr>
              <a:t>ANOMALY DETECTION &amp; STATISTICAL ANALYSIS</a:t>
            </a:r>
            <a:endParaRPr lang="en-US" sz="1100" dirty="0">
              <a:solidFill>
                <a:srgbClr val="0F6E56"/>
              </a:solidFill>
            </a:endParaRPr>
          </a:p>
        </p:txBody>
      </p:sp>
      <p:sp>
        <p:nvSpPr>
          <p:cNvPr id="38" name="Text 12">
            <a:extLst>
              <a:ext uri="{FF2B5EF4-FFF2-40B4-BE49-F238E27FC236}">
                <a16:creationId xmlns:a16="http://schemas.microsoft.com/office/drawing/2014/main" id="{C1E5EFF2-DAE6-1A10-AAF8-D96B19179E79}"/>
              </a:ext>
            </a:extLst>
          </p:cNvPr>
          <p:cNvSpPr/>
          <p:nvPr/>
        </p:nvSpPr>
        <p:spPr>
          <a:xfrm>
            <a:off x="457200" y="6473952"/>
            <a:ext cx="8229600" cy="274320"/>
          </a:xfrm>
          <a:prstGeom prst="rect">
            <a:avLst/>
          </a:prstGeom>
          <a:noFill/>
          <a:ln/>
        </p:spPr>
        <p:txBody>
          <a:bodyPr wrap="square" rtlCol="0" anchor="ctr"/>
          <a:lstStyle/>
          <a:p>
            <a:pPr marL="0" indent="0">
              <a:buNone/>
            </a:pPr>
            <a:r>
              <a:rPr lang="en-US" sz="850" dirty="0">
                <a:solidFill>
                  <a:srgbClr val="5B6472"/>
                </a:solidFill>
                <a:latin typeface="Calibri" pitchFamily="34" charset="0"/>
                <a:ea typeface="Calibri" pitchFamily="34" charset="-122"/>
                <a:cs typeface="Calibri" pitchFamily="34" charset="-120"/>
              </a:rPr>
              <a:t>Home &amp; Lifestyle Retail Group  ·  Performance &amp; Insights Report</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we="http://schemas.microsoft.com/office/webextensions/webextension/2010/11" xmlns:pca="http://schemas.microsoft.com/office/powerpoint/2013/contentapp">
        <mc:Choice Requires="we pca">
          <p:graphicFrame>
            <p:nvGraphicFramePr>
              <p:cNvPr id="2" name="Add-in 1" title="Microsoft Power BI">
                <a:extLst>
                  <a:ext uri="{FF2B5EF4-FFF2-40B4-BE49-F238E27FC236}">
                    <a16:creationId xmlns:a16="http://schemas.microsoft.com/office/drawing/2014/main" id="{805DB9F6-AEC4-C63F-B102-FF931D315283}"/>
                  </a:ext>
                </a:extLst>
              </p:cNvPr>
              <p:cNvGraphicFramePr>
                <a:graphicFrameLocks noGrp="1"/>
              </p:cNvGraphicFramePr>
              <p:nvPr>
                <p:extLst>
                  <p:ext uri="{D42A27DB-BD31-4B8C-83A1-F6EECF244321}">
                    <p14:modId xmlns:p14="http://schemas.microsoft.com/office/powerpoint/2010/main" val="1854967893"/>
                  </p:ext>
                </p:extLst>
              </p:nvPr>
            </p:nvGraphicFramePr>
            <p:xfrm>
              <a:off x="0" y="0"/>
              <a:ext cx="12192000" cy="685800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2" name="Add-in 1" title="Microsoft Power BI">
                <a:extLst>
                  <a:ext uri="{FF2B5EF4-FFF2-40B4-BE49-F238E27FC236}">
                    <a16:creationId xmlns:a16="http://schemas.microsoft.com/office/drawing/2014/main" id="{805DB9F6-AEC4-C63F-B102-FF931D315283}"/>
                  </a:ext>
                </a:extLst>
              </p:cNvPr>
              <p:cNvPicPr>
                <a:picLocks noGrp="1" noRot="1" noChangeAspect="1" noMove="1" noResize="1" noEditPoints="1" noAdjustHandles="1" noChangeArrowheads="1" noChangeShapeType="1"/>
              </p:cNvPicPr>
              <p:nvPr/>
            </p:nvPicPr>
            <p:blipFill>
              <a:blip r:embed="rId4"/>
              <a:stretch>
                <a:fillRect/>
              </a:stretch>
            </p:blipFill>
            <p:spPr>
              <a:xfrm>
                <a:off x="0" y="0"/>
                <a:ext cx="12192000" cy="6858000"/>
              </a:xfrm>
              <a:prstGeom prst="rect">
                <a:avLst/>
              </a:prstGeom>
            </p:spPr>
          </p:pic>
        </mc:Fallback>
      </mc:AlternateContent>
    </p:spTree>
    <p:extLst>
      <p:ext uri="{BB962C8B-B14F-4D97-AF65-F5344CB8AC3E}">
        <p14:creationId xmlns:p14="http://schemas.microsoft.com/office/powerpoint/2010/main" val="25652407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65760"/>
            <a:ext cx="2377440" cy="310896"/>
          </a:xfrm>
          <a:prstGeom prst="roundRect">
            <a:avLst>
              <a:gd name="adj" fmla="val 50000"/>
            </a:avLst>
          </a:prstGeom>
          <a:solidFill>
            <a:srgbClr val="DCEEE9"/>
          </a:solidFill>
          <a:ln/>
        </p:spPr>
        <p:txBody>
          <a:bodyPr/>
          <a:lstStyle/>
          <a:p>
            <a:endParaRPr lang="de-DE"/>
          </a:p>
        </p:txBody>
      </p:sp>
      <p:sp>
        <p:nvSpPr>
          <p:cNvPr id="3" name="Text 1"/>
          <p:cNvSpPr/>
          <p:nvPr/>
        </p:nvSpPr>
        <p:spPr>
          <a:xfrm>
            <a:off x="457200" y="365760"/>
            <a:ext cx="2377440" cy="310896"/>
          </a:xfrm>
          <a:prstGeom prst="rect">
            <a:avLst/>
          </a:prstGeom>
          <a:noFill/>
          <a:ln/>
        </p:spPr>
        <p:txBody>
          <a:bodyPr wrap="square" rtlCol="0" anchor="ctr"/>
          <a:lstStyle/>
          <a:p>
            <a:pPr marL="0" indent="0" algn="ctr">
              <a:buNone/>
            </a:pPr>
            <a:r>
              <a:rPr lang="en-US" sz="1100" b="1" dirty="0">
                <a:solidFill>
                  <a:srgbClr val="0F6E56"/>
                </a:solidFill>
                <a:latin typeface="Calibri" pitchFamily="34" charset="0"/>
                <a:ea typeface="Calibri" pitchFamily="34" charset="-122"/>
                <a:cs typeface="Calibri" pitchFamily="34" charset="-120"/>
              </a:rPr>
              <a:t>MANAGEMENT SUMMARY</a:t>
            </a:r>
            <a:endParaRPr lang="en-US" sz="1100" dirty="0"/>
          </a:p>
        </p:txBody>
      </p:sp>
      <p:sp>
        <p:nvSpPr>
          <p:cNvPr id="4" name="Text 2"/>
          <p:cNvSpPr/>
          <p:nvPr/>
        </p:nvSpPr>
        <p:spPr>
          <a:xfrm>
            <a:off x="457200" y="777240"/>
            <a:ext cx="11274552" cy="548640"/>
          </a:xfrm>
          <a:prstGeom prst="rect">
            <a:avLst/>
          </a:prstGeom>
          <a:noFill/>
          <a:ln/>
        </p:spPr>
        <p:txBody>
          <a:bodyPr wrap="square" rtlCol="0" anchor="ctr"/>
          <a:lstStyle/>
          <a:p>
            <a:pPr marL="0" indent="0">
              <a:buNone/>
            </a:pPr>
            <a:r>
              <a:rPr lang="en-US" sz="2800" b="1" dirty="0">
                <a:solidFill>
                  <a:srgbClr val="1B3A57"/>
                </a:solidFill>
                <a:latin typeface="Cambria" pitchFamily="34" charset="0"/>
                <a:ea typeface="Cambria" pitchFamily="34" charset="-122"/>
                <a:cs typeface="Cambria" pitchFamily="34" charset="-120"/>
              </a:rPr>
              <a:t>Handlungsempfehlungen</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252637108"/>
              </p:ext>
            </p:extLst>
          </p:nvPr>
        </p:nvGraphicFramePr>
        <p:xfrm>
          <a:off x="360947" y="1331014"/>
          <a:ext cx="11274552" cy="5181600"/>
        </p:xfrm>
        <a:graphic>
          <a:graphicData uri="http://schemas.openxmlformats.org/drawingml/2006/table">
            <a:tbl>
              <a:tblPr/>
              <a:tblGrid>
                <a:gridCol w="4491790">
                  <a:extLst>
                    <a:ext uri="{9D8B030D-6E8A-4147-A177-3AD203B41FA5}">
                      <a16:colId xmlns:a16="http://schemas.microsoft.com/office/drawing/2014/main" val="20000"/>
                    </a:ext>
                  </a:extLst>
                </a:gridCol>
                <a:gridCol w="3385916">
                  <a:extLst>
                    <a:ext uri="{9D8B030D-6E8A-4147-A177-3AD203B41FA5}">
                      <a16:colId xmlns:a16="http://schemas.microsoft.com/office/drawing/2014/main" val="20001"/>
                    </a:ext>
                  </a:extLst>
                </a:gridCol>
                <a:gridCol w="3396846">
                  <a:extLst>
                    <a:ext uri="{9D8B030D-6E8A-4147-A177-3AD203B41FA5}">
                      <a16:colId xmlns:a16="http://schemas.microsoft.com/office/drawing/2014/main" val="20002"/>
                    </a:ext>
                  </a:extLst>
                </a:gridCol>
              </a:tblGrid>
              <a:tr h="701040">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Empfehlung</a:t>
                      </a:r>
                      <a:endParaRPr lang="en-US" sz="1600" dirty="0">
                        <a:latin typeface="Calibri" charset="0"/>
                        <a:ea typeface="Calibri" charset="0"/>
                        <a:cs typeface="Calibri" charset="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1B3A57"/>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Begründung (datenbasiert)</a:t>
                      </a:r>
                      <a:endParaRPr lang="en-US" sz="1600" dirty="0">
                        <a:latin typeface="Calibri" charset="0"/>
                        <a:ea typeface="Calibri" charset="0"/>
                        <a:cs typeface="Calibri" charset="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1B3A57"/>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Erwarteter Effekt</a:t>
                      </a:r>
                      <a:endParaRPr lang="en-US" sz="1600" dirty="0">
                        <a:latin typeface="Calibri" charset="0"/>
                        <a:ea typeface="Calibri" charset="0"/>
                        <a:cs typeface="Calibri" charset="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1B3A57"/>
                    </a:solidFill>
                  </a:tcPr>
                </a:tc>
                <a:extLst>
                  <a:ext uri="{0D108BD9-81ED-4DB2-BD59-A6C34878D82A}">
                    <a16:rowId xmlns:a16="http://schemas.microsoft.com/office/drawing/2014/main" val="10000"/>
                  </a:ext>
                </a:extLst>
              </a:tr>
              <a:tr h="701040">
                <a:tc>
                  <a:txBody>
                    <a:bodyPr/>
                    <a:lstStyle/>
                    <a:p>
                      <a:pPr marL="285750" indent="-285750">
                        <a:buFont typeface="Arial" panose="020B0604020202020204" pitchFamily="34" charset="0"/>
                        <a:buChar char="•"/>
                      </a:pPr>
                      <a:r>
                        <a:rPr lang="en-US" sz="1400" dirty="0" err="1">
                          <a:solidFill>
                            <a:srgbClr val="1F2937"/>
                          </a:solidFill>
                          <a:latin typeface="Calibri" pitchFamily="34" charset="0"/>
                          <a:ea typeface="Calibri" pitchFamily="34" charset="-122"/>
                          <a:cs typeface="Calibri" pitchFamily="34" charset="-120"/>
                        </a:rPr>
                        <a:t>Wachstum</a:t>
                      </a:r>
                      <a:r>
                        <a:rPr lang="en-US" sz="1400" dirty="0">
                          <a:solidFill>
                            <a:srgbClr val="1F2937"/>
                          </a:solidFill>
                          <a:latin typeface="Calibri" pitchFamily="34" charset="0"/>
                          <a:ea typeface="Calibri" pitchFamily="34" charset="-122"/>
                          <a:cs typeface="Calibri" pitchFamily="34" charset="-120"/>
                        </a:rPr>
                        <a:t> </a:t>
                      </a:r>
                      <a:r>
                        <a:rPr lang="en-US" sz="1400" dirty="0" err="1">
                          <a:solidFill>
                            <a:srgbClr val="1F2937"/>
                          </a:solidFill>
                          <a:latin typeface="Calibri" pitchFamily="34" charset="0"/>
                          <a:ea typeface="Calibri" pitchFamily="34" charset="-122"/>
                          <a:cs typeface="Calibri" pitchFamily="34" charset="-120"/>
                        </a:rPr>
                        <a:t>gezielt</a:t>
                      </a:r>
                      <a:r>
                        <a:rPr lang="en-US" sz="1400" dirty="0">
                          <a:solidFill>
                            <a:srgbClr val="1F2937"/>
                          </a:solidFill>
                          <a:latin typeface="Calibri" pitchFamily="34" charset="0"/>
                          <a:ea typeface="Calibri" pitchFamily="34" charset="-122"/>
                          <a:cs typeface="Calibri" pitchFamily="34" charset="-120"/>
                        </a:rPr>
                        <a:t> </a:t>
                      </a:r>
                      <a:r>
                        <a:rPr lang="en-US" sz="1400" dirty="0" err="1">
                          <a:solidFill>
                            <a:srgbClr val="1F2937"/>
                          </a:solidFill>
                          <a:latin typeface="Calibri" pitchFamily="34" charset="0"/>
                          <a:ea typeface="Calibri" pitchFamily="34" charset="-122"/>
                          <a:cs typeface="Calibri" pitchFamily="34" charset="-120"/>
                        </a:rPr>
                        <a:t>fördern</a:t>
                      </a:r>
                      <a:endParaRPr lang="en-US" sz="1400" dirty="0">
                        <a:solidFill>
                          <a:srgbClr val="1F2937"/>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de-DE" sz="1400" dirty="0" err="1">
                          <a:solidFill>
                            <a:srgbClr val="1F2937"/>
                          </a:solidFill>
                          <a:latin typeface="Calibri" pitchFamily="34" charset="0"/>
                          <a:ea typeface="Calibri" pitchFamily="34" charset="-122"/>
                          <a:cs typeface="Calibri" pitchFamily="34" charset="-120"/>
                        </a:rPr>
                        <a:t>Accessories</a:t>
                      </a:r>
                      <a:r>
                        <a:rPr lang="de-DE" sz="1400" dirty="0">
                          <a:solidFill>
                            <a:srgbClr val="1F2937"/>
                          </a:solidFill>
                          <a:latin typeface="Calibri" pitchFamily="34" charset="0"/>
                          <a:ea typeface="Calibri" pitchFamily="34" charset="-122"/>
                          <a:cs typeface="Calibri" pitchFamily="34" charset="-120"/>
                        </a:rPr>
                        <a:t> und Electronics als stärkste Wachstumstreiber priorisiert vermarkten und Sortiment ausbauen.</a:t>
                      </a: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höchste Marge + stärkstes langfristiges Wachstum</a:t>
                      </a:r>
                      <a:endParaRPr lang="en-US" sz="1400" dirty="0">
                        <a:latin typeface="Calibri" charset="0"/>
                        <a:ea typeface="Calibri" charset="0"/>
                        <a:cs typeface="Calibri" charset="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Profitabilität steigern, ohne zusätzliches Umsatzrisiko</a:t>
                      </a:r>
                      <a:endParaRPr lang="en-US" sz="1400" dirty="0">
                        <a:latin typeface="Calibri" charset="0"/>
                        <a:ea typeface="Calibri" charset="0"/>
                        <a:cs typeface="Calibri" charset="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1040">
                <a:tc>
                  <a:txBody>
                    <a:bodyPr/>
                    <a:lstStyle/>
                    <a:p>
                      <a:pPr marL="342900" indent="-342900">
                        <a:buFont typeface="Arial" panose="020B0604020202020204" pitchFamily="34" charset="0"/>
                        <a:buChar char="•"/>
                      </a:pPr>
                      <a:r>
                        <a:rPr lang="en-US" sz="1400" b="1" dirty="0">
                          <a:solidFill>
                            <a:srgbClr val="0070C0"/>
                          </a:solidFill>
                          <a:latin typeface="Calibri" pitchFamily="34" charset="0"/>
                          <a:ea typeface="Calibri" pitchFamily="34" charset="-122"/>
                          <a:cs typeface="Calibri" pitchFamily="34" charset="-120"/>
                        </a:rPr>
                        <a:t>Retention-Kampagne für „At Risk“-Segment - </a:t>
                      </a:r>
                      <a:r>
                        <a:rPr lang="en-US" sz="1400" b="1" dirty="0" err="1">
                          <a:solidFill>
                            <a:srgbClr val="0070C0"/>
                          </a:solidFill>
                          <a:latin typeface="Calibri" pitchFamily="34" charset="0"/>
                          <a:ea typeface="Calibri" pitchFamily="34" charset="-122"/>
                          <a:cs typeface="Calibri" pitchFamily="34" charset="-120"/>
                        </a:rPr>
                        <a:t>proaktiv</a:t>
                      </a:r>
                      <a:r>
                        <a:rPr lang="en-US" sz="1400" b="1" dirty="0">
                          <a:solidFill>
                            <a:srgbClr val="0070C0"/>
                          </a:solidFill>
                          <a:latin typeface="Calibri" pitchFamily="34" charset="0"/>
                          <a:ea typeface="Calibri" pitchFamily="34" charset="-122"/>
                          <a:cs typeface="Calibri" pitchFamily="34" charset="-120"/>
                        </a:rPr>
                        <a:t> </a:t>
                      </a:r>
                      <a:r>
                        <a:rPr lang="en-US" sz="1400" b="1" dirty="0" err="1">
                          <a:solidFill>
                            <a:srgbClr val="0070C0"/>
                          </a:solidFill>
                          <a:latin typeface="Calibri" pitchFamily="34" charset="0"/>
                          <a:ea typeface="Calibri" pitchFamily="34" charset="-122"/>
                          <a:cs typeface="Calibri" pitchFamily="34" charset="-120"/>
                        </a:rPr>
                        <a:t>vor</a:t>
                      </a:r>
                      <a:r>
                        <a:rPr lang="en-US" sz="1400" b="1" dirty="0">
                          <a:solidFill>
                            <a:srgbClr val="0070C0"/>
                          </a:solidFill>
                          <a:latin typeface="Calibri" pitchFamily="34" charset="0"/>
                          <a:ea typeface="Calibri" pitchFamily="34" charset="-122"/>
                          <a:cs typeface="Calibri" pitchFamily="34" charset="-120"/>
                        </a:rPr>
                        <a:t> </a:t>
                      </a:r>
                      <a:r>
                        <a:rPr lang="en-US" sz="1400" b="1" dirty="0" err="1">
                          <a:solidFill>
                            <a:srgbClr val="0070C0"/>
                          </a:solidFill>
                          <a:latin typeface="Calibri" pitchFamily="34" charset="0"/>
                          <a:ea typeface="Calibri" pitchFamily="34" charset="-122"/>
                          <a:cs typeface="Calibri" pitchFamily="34" charset="-120"/>
                        </a:rPr>
                        <a:t>Abwanderung</a:t>
                      </a:r>
                      <a:r>
                        <a:rPr lang="en-US" sz="1400" b="1" dirty="0">
                          <a:solidFill>
                            <a:srgbClr val="0070C0"/>
                          </a:solidFill>
                          <a:latin typeface="Calibri" pitchFamily="34" charset="0"/>
                          <a:ea typeface="Calibri" pitchFamily="34" charset="-122"/>
                          <a:cs typeface="Calibri" pitchFamily="34" charset="-120"/>
                        </a:rPr>
                        <a:t> in Low Value</a:t>
                      </a: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4F6F8"/>
                    </a:solidFill>
                  </a:tcPr>
                </a:tc>
                <a:tc>
                  <a:txBody>
                    <a:bodyPr/>
                    <a:lstStyle/>
                    <a:p>
                      <a:pPr marL="0" indent="0">
                        <a:buNone/>
                      </a:pPr>
                      <a:r>
                        <a:rPr lang="en-US" sz="1400" b="1" dirty="0">
                          <a:solidFill>
                            <a:srgbClr val="0070C0"/>
                          </a:solidFill>
                          <a:latin typeface="Calibri" pitchFamily="34" charset="0"/>
                          <a:ea typeface="Calibri" pitchFamily="34" charset="-122"/>
                          <a:cs typeface="Calibri" pitchFamily="34" charset="-120"/>
                        </a:rPr>
                        <a:t>15,47 Mio. $ gefährdeter Umsatz, Recency bereits bei 44 Tagen</a:t>
                      </a:r>
                      <a:endParaRPr lang="en-US" sz="1400" b="1" dirty="0">
                        <a:solidFill>
                          <a:srgbClr val="0070C0"/>
                        </a:solidFill>
                        <a:latin typeface="Calibri" charset="0"/>
                        <a:ea typeface="Calibri" charset="0"/>
                        <a:cs typeface="Calibri" charset="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4F6F8"/>
                    </a:solidFill>
                  </a:tcPr>
                </a:tc>
                <a:tc>
                  <a:txBody>
                    <a:bodyPr/>
                    <a:lstStyle/>
                    <a:p>
                      <a:pPr marL="0" indent="0">
                        <a:buNone/>
                      </a:pPr>
                      <a:r>
                        <a:rPr lang="en-US" sz="1400" b="1" dirty="0">
                          <a:solidFill>
                            <a:srgbClr val="0070C0"/>
                          </a:solidFill>
                          <a:latin typeface="Calibri" pitchFamily="34" charset="0"/>
                          <a:ea typeface="Calibri" pitchFamily="34" charset="-122"/>
                          <a:cs typeface="Calibri" pitchFamily="34" charset="-120"/>
                        </a:rPr>
                        <a:t>Umsatzverlust vermeiden, Kundenwert sichern</a:t>
                      </a:r>
                      <a:endParaRPr lang="en-US" sz="1400" b="1" dirty="0">
                        <a:solidFill>
                          <a:srgbClr val="0070C0"/>
                        </a:solidFill>
                        <a:latin typeface="Calibri" charset="0"/>
                        <a:ea typeface="Calibri" charset="0"/>
                        <a:cs typeface="Calibri" charset="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701040">
                <a:tc>
                  <a:txBody>
                    <a:bodyPr/>
                    <a:lstStyle/>
                    <a:p>
                      <a:pPr marL="171450" indent="-171450">
                        <a:buFont typeface="Arial" panose="020B0604020202020204" pitchFamily="34" charset="0"/>
                        <a:buChar char="•"/>
                      </a:pPr>
                      <a:r>
                        <a:rPr lang="en-US" sz="1400" dirty="0">
                          <a:solidFill>
                            <a:srgbClr val="1F2937"/>
                          </a:solidFill>
                          <a:latin typeface="Calibri" pitchFamily="34" charset="0"/>
                          <a:ea typeface="Calibri" pitchFamily="34" charset="-122"/>
                          <a:cs typeface="Calibri" pitchFamily="34" charset="-120"/>
                        </a:rPr>
                        <a:t>Root-Cause-Analyse für Kitchen</a:t>
                      </a:r>
                    </a:p>
                    <a:p>
                      <a:pPr marL="171450" indent="-171450">
                        <a:buFont typeface="Arial" panose="020B0604020202020204" pitchFamily="34" charset="0"/>
                        <a:buChar char="•"/>
                      </a:pPr>
                      <a:r>
                        <a:rPr lang="en-US" sz="1400" dirty="0">
                          <a:solidFill>
                            <a:srgbClr val="12294F"/>
                          </a:solidFill>
                          <a:latin typeface="Calibri" pitchFamily="34" charset="0"/>
                          <a:ea typeface="Calibri" pitchFamily="34" charset="-122"/>
                          <a:cs typeface="Calibri" pitchFamily="34" charset="-120"/>
                        </a:rPr>
                        <a:t>3 </a:t>
                      </a:r>
                      <a:r>
                        <a:rPr lang="en-US" sz="1400" dirty="0" err="1">
                          <a:solidFill>
                            <a:srgbClr val="12294F"/>
                          </a:solidFill>
                          <a:latin typeface="Calibri" pitchFamily="34" charset="0"/>
                          <a:ea typeface="Calibri" pitchFamily="34" charset="-122"/>
                          <a:cs typeface="Calibri" pitchFamily="34" charset="-120"/>
                        </a:rPr>
                        <a:t>identifizierten</a:t>
                      </a:r>
                      <a:r>
                        <a:rPr lang="en-US" sz="1400" dirty="0">
                          <a:solidFill>
                            <a:srgbClr val="12294F"/>
                          </a:solidFill>
                          <a:latin typeface="Calibri" pitchFamily="34" charset="0"/>
                          <a:ea typeface="Calibri" pitchFamily="34" charset="-122"/>
                          <a:cs typeface="Calibri" pitchFamily="34" charset="-120"/>
                        </a:rPr>
                        <a:t> </a:t>
                      </a:r>
                      <a:r>
                        <a:rPr lang="en-US" sz="1400" dirty="0" err="1">
                          <a:solidFill>
                            <a:srgbClr val="12294F"/>
                          </a:solidFill>
                          <a:latin typeface="Calibri" pitchFamily="34" charset="0"/>
                          <a:ea typeface="Calibri" pitchFamily="34" charset="-122"/>
                          <a:cs typeface="Calibri" pitchFamily="34" charset="-120"/>
                        </a:rPr>
                        <a:t>Ausreißer-Monate</a:t>
                      </a:r>
                      <a:r>
                        <a:rPr lang="en-US" sz="1400" dirty="0">
                          <a:solidFill>
                            <a:srgbClr val="12294F"/>
                          </a:solidFill>
                          <a:latin typeface="Calibri" pitchFamily="34" charset="0"/>
                          <a:ea typeface="Calibri" pitchFamily="34" charset="-122"/>
                          <a:cs typeface="Calibri" pitchFamily="34" charset="-120"/>
                        </a:rPr>
                        <a:t> </a:t>
                      </a:r>
                      <a:r>
                        <a:rPr lang="en-US" sz="1400" dirty="0" err="1">
                          <a:solidFill>
                            <a:srgbClr val="12294F"/>
                          </a:solidFill>
                          <a:latin typeface="Calibri" pitchFamily="34" charset="0"/>
                          <a:ea typeface="Calibri" pitchFamily="34" charset="-122"/>
                          <a:cs typeface="Calibri" pitchFamily="34" charset="-120"/>
                        </a:rPr>
                        <a:t>gezielt</a:t>
                      </a:r>
                      <a:r>
                        <a:rPr lang="en-US" sz="1400" dirty="0">
                          <a:solidFill>
                            <a:srgbClr val="12294F"/>
                          </a:solidFill>
                          <a:latin typeface="Calibri" pitchFamily="34" charset="0"/>
                          <a:ea typeface="Calibri" pitchFamily="34" charset="-122"/>
                          <a:cs typeface="Calibri" pitchFamily="34" charset="-120"/>
                        </a:rPr>
                        <a:t> auf externe </a:t>
                      </a:r>
                      <a:r>
                        <a:rPr lang="en-US" sz="1400" dirty="0" err="1">
                          <a:solidFill>
                            <a:srgbClr val="12294F"/>
                          </a:solidFill>
                          <a:latin typeface="Calibri" pitchFamily="34" charset="0"/>
                          <a:ea typeface="Calibri" pitchFamily="34" charset="-122"/>
                          <a:cs typeface="Calibri" pitchFamily="34" charset="-120"/>
                        </a:rPr>
                        <a:t>Ursachen</a:t>
                      </a:r>
                      <a:r>
                        <a:rPr lang="en-US" sz="1400" dirty="0">
                          <a:solidFill>
                            <a:srgbClr val="12294F"/>
                          </a:solidFill>
                          <a:latin typeface="Calibri" pitchFamily="34" charset="0"/>
                          <a:ea typeface="Calibri" pitchFamily="34" charset="-122"/>
                          <a:cs typeface="Calibri" pitchFamily="34" charset="-120"/>
                        </a:rPr>
                        <a:t> </a:t>
                      </a:r>
                      <a:r>
                        <a:rPr lang="en-US" sz="1400" dirty="0" err="1">
                          <a:solidFill>
                            <a:srgbClr val="12294F"/>
                          </a:solidFill>
                          <a:latin typeface="Calibri" pitchFamily="34" charset="0"/>
                          <a:ea typeface="Calibri" pitchFamily="34" charset="-122"/>
                          <a:cs typeface="Calibri" pitchFamily="34" charset="-120"/>
                        </a:rPr>
                        <a:t>prüfen</a:t>
                      </a:r>
                      <a:r>
                        <a:rPr lang="en-US" sz="1400" dirty="0">
                          <a:solidFill>
                            <a:srgbClr val="12294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96,21 % Variationskoeffizient, höchste Planungsunsicherheit im Sortiment</a:t>
                      </a:r>
                      <a:endParaRPr lang="en-US" sz="1400" dirty="0">
                        <a:latin typeface="Calibri" charset="0"/>
                        <a:ea typeface="Calibri" charset="0"/>
                        <a:cs typeface="Calibri" charset="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Bestandsrisiko senken, Planungssicherheit erhöhen</a:t>
                      </a:r>
                      <a:endParaRPr lang="en-US" sz="1400" dirty="0">
                        <a:latin typeface="Calibri" charset="0"/>
                        <a:ea typeface="Calibri" charset="0"/>
                        <a:cs typeface="Calibri" charset="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1040">
                <a:tc>
                  <a:txBody>
                    <a:bodyPr/>
                    <a:lstStyle/>
                    <a:p>
                      <a:pPr marL="342900" indent="-342900">
                        <a:buFont typeface="Arial" panose="020B0604020202020204" pitchFamily="34" charset="0"/>
                        <a:buChar char="•"/>
                      </a:pPr>
                      <a:r>
                        <a:rPr lang="en-US" sz="1400" b="1" dirty="0">
                          <a:solidFill>
                            <a:srgbClr val="0070C0"/>
                          </a:solidFill>
                          <a:latin typeface="Calibri" pitchFamily="34" charset="0"/>
                          <a:ea typeface="Calibri" pitchFamily="34" charset="-122"/>
                          <a:cs typeface="Calibri" pitchFamily="34" charset="-120"/>
                        </a:rPr>
                        <a:t>Furniture/Electronics-Strategie überprüfen</a:t>
                      </a:r>
                      <a:endParaRPr lang="en-US" sz="1400" b="1" dirty="0">
                        <a:solidFill>
                          <a:srgbClr val="0070C0"/>
                        </a:solidFill>
                        <a:latin typeface="Calibri" charset="0"/>
                        <a:ea typeface="Calibri" charset="0"/>
                        <a:cs typeface="Calibri" charset="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4F6F8"/>
                    </a:solidFill>
                  </a:tcPr>
                </a:tc>
                <a:tc>
                  <a:txBody>
                    <a:bodyPr/>
                    <a:lstStyle/>
                    <a:p>
                      <a:pPr marL="0" indent="0">
                        <a:buNone/>
                      </a:pPr>
                      <a:r>
                        <a:rPr lang="en-US" sz="1400" b="1" dirty="0">
                          <a:solidFill>
                            <a:srgbClr val="0070C0"/>
                          </a:solidFill>
                          <a:latin typeface="Calibri" pitchFamily="34" charset="0"/>
                          <a:ea typeface="Calibri" pitchFamily="34" charset="-122"/>
                          <a:cs typeface="Calibri" pitchFamily="34" charset="-120"/>
                        </a:rPr>
                        <a:t>einzige Kategorien mit </a:t>
                      </a:r>
                      <a:r>
                        <a:rPr lang="en-US" sz="1400" b="1" dirty="0" err="1">
                          <a:solidFill>
                            <a:srgbClr val="0070C0"/>
                          </a:solidFill>
                          <a:latin typeface="Calibri" pitchFamily="34" charset="0"/>
                          <a:ea typeface="Calibri" pitchFamily="34" charset="-122"/>
                          <a:cs typeface="Calibri" pitchFamily="34" charset="-120"/>
                        </a:rPr>
                        <a:t>negativem</a:t>
                      </a:r>
                      <a:r>
                        <a:rPr lang="en-US" sz="1400" b="1" dirty="0">
                          <a:solidFill>
                            <a:srgbClr val="0070C0"/>
                          </a:solidFill>
                          <a:latin typeface="Calibri" pitchFamily="34" charset="0"/>
                          <a:ea typeface="Calibri" pitchFamily="34" charset="-122"/>
                          <a:cs typeface="Calibri" pitchFamily="34" charset="-120"/>
                        </a:rPr>
                        <a:t> 7-Jahres-Umsatzwachstum</a:t>
                      </a:r>
                      <a:endParaRPr lang="en-US" sz="1400" b="1" dirty="0">
                        <a:solidFill>
                          <a:srgbClr val="0070C0"/>
                        </a:solidFill>
                        <a:latin typeface="Calibri" charset="0"/>
                        <a:ea typeface="Calibri" charset="0"/>
                        <a:cs typeface="Calibri" charset="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4F6F8"/>
                    </a:solidFill>
                  </a:tcPr>
                </a:tc>
                <a:tc>
                  <a:txBody>
                    <a:bodyPr/>
                    <a:lstStyle/>
                    <a:p>
                      <a:pPr marL="0" indent="0">
                        <a:buNone/>
                      </a:pPr>
                      <a:r>
                        <a:rPr lang="en-US" sz="1400" b="1" dirty="0">
                          <a:solidFill>
                            <a:srgbClr val="0070C0"/>
                          </a:solidFill>
                          <a:latin typeface="Calibri" pitchFamily="34" charset="0"/>
                          <a:ea typeface="Calibri" pitchFamily="34" charset="-122"/>
                          <a:cs typeface="Calibri" pitchFamily="34" charset="-120"/>
                        </a:rPr>
                        <a:t>Portfolio-Bereinigung oder gezielte Repositionierung</a:t>
                      </a:r>
                      <a:endParaRPr lang="en-US" sz="1400" b="1" dirty="0">
                        <a:solidFill>
                          <a:srgbClr val="0070C0"/>
                        </a:solidFill>
                        <a:latin typeface="Calibri" charset="0"/>
                        <a:ea typeface="Calibri" charset="0"/>
                        <a:cs typeface="Calibri" charset="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701040">
                <a:tc>
                  <a:txBody>
                    <a:bodyPr/>
                    <a:lstStyle/>
                    <a:p>
                      <a:pPr marL="285750" indent="-285750">
                        <a:buFont typeface="Arial" panose="020B0604020202020204" pitchFamily="34" charset="0"/>
                        <a:buChar char="•"/>
                      </a:pPr>
                      <a:r>
                        <a:rPr lang="en-US" sz="1400" dirty="0">
                          <a:solidFill>
                            <a:srgbClr val="1F2937"/>
                          </a:solidFill>
                          <a:latin typeface="Calibri" pitchFamily="34" charset="0"/>
                          <a:ea typeface="Calibri" pitchFamily="34" charset="-122"/>
                          <a:cs typeface="Calibri" pitchFamily="34" charset="-120"/>
                        </a:rPr>
                        <a:t>Rabattentscheidungen über das What-If-Modell absichern</a:t>
                      </a:r>
                      <a:endParaRPr lang="en-US" sz="1400" dirty="0">
                        <a:latin typeface="Calibri" charset="0"/>
                        <a:ea typeface="Calibri" charset="0"/>
                        <a:cs typeface="Calibri" charset="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Szenario-Analyse zeigt Profitwirkung vor der Umsetzung</a:t>
                      </a:r>
                      <a:endParaRPr lang="en-US" sz="1400" dirty="0">
                        <a:latin typeface="Calibri" charset="0"/>
                        <a:ea typeface="Calibri" charset="0"/>
                        <a:cs typeface="Calibri" charset="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fundierte Entscheidung statt Bauchgefühl</a:t>
                      </a:r>
                      <a:endParaRPr lang="en-US" sz="1400" dirty="0">
                        <a:latin typeface="Calibri" charset="0"/>
                        <a:ea typeface="Calibri" charset="0"/>
                        <a:cs typeface="Calibri" charset="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01040">
                <a:tc>
                  <a:txBody>
                    <a:bodyPr/>
                    <a:lstStyle/>
                    <a:p>
                      <a:pPr marL="342900" indent="-342900">
                        <a:buFont typeface="Arial" panose="020B0604020202020204" pitchFamily="34" charset="0"/>
                        <a:buChar char="•"/>
                      </a:pPr>
                      <a:r>
                        <a:rPr lang="en-US" sz="1400" b="1" kern="1200" dirty="0" err="1">
                          <a:solidFill>
                            <a:srgbClr val="0070C0"/>
                          </a:solidFill>
                          <a:latin typeface="Calibri" pitchFamily="34" charset="0"/>
                          <a:ea typeface="Calibri" pitchFamily="34" charset="-122"/>
                          <a:cs typeface="Calibri" pitchFamily="34" charset="-120"/>
                        </a:rPr>
                        <a:t>Kanalstrategie</a:t>
                      </a:r>
                      <a:r>
                        <a:rPr lang="en-US" sz="1400" b="1" kern="1200" dirty="0">
                          <a:solidFill>
                            <a:srgbClr val="0070C0"/>
                          </a:solidFill>
                          <a:latin typeface="Calibri" pitchFamily="34" charset="0"/>
                          <a:ea typeface="Calibri" pitchFamily="34" charset="-122"/>
                          <a:cs typeface="Calibri" pitchFamily="34" charset="-120"/>
                        </a:rPr>
                        <a:t> </a:t>
                      </a:r>
                      <a:r>
                        <a:rPr lang="en-US" sz="1400" b="1" kern="1200" dirty="0" err="1">
                          <a:solidFill>
                            <a:srgbClr val="0070C0"/>
                          </a:solidFill>
                          <a:latin typeface="Calibri" pitchFamily="34" charset="0"/>
                          <a:ea typeface="Calibri" pitchFamily="34" charset="-122"/>
                          <a:cs typeface="Calibri" pitchFamily="34" charset="-120"/>
                        </a:rPr>
                        <a:t>beibehalten</a:t>
                      </a:r>
                      <a:endParaRPr lang="en-US" sz="1400" b="1" kern="1200" dirty="0">
                        <a:solidFill>
                          <a:srgbClr val="0070C0"/>
                        </a:solidFill>
                        <a:latin typeface="Calibri" pitchFamily="34" charset="0"/>
                        <a:ea typeface="Calibri" pitchFamily="34" charset="-122"/>
                        <a:cs typeface="Calibri" pitchFamily="34" charset="-12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4F6F8"/>
                    </a:solidFill>
                  </a:tcPr>
                </a:tc>
                <a:tc>
                  <a:txBody>
                    <a:bodyPr/>
                    <a:lstStyle/>
                    <a:p>
                      <a:pPr marL="0" indent="0" algn="l" defTabSz="914400" rtl="0" eaLnBrk="1" latinLnBrk="0" hangingPunct="1">
                        <a:buNone/>
                      </a:pPr>
                      <a:r>
                        <a:rPr lang="de-DE" sz="1400" b="1" kern="1200" dirty="0">
                          <a:solidFill>
                            <a:srgbClr val="0070C0"/>
                          </a:solidFill>
                          <a:latin typeface="Calibri" pitchFamily="34" charset="0"/>
                          <a:ea typeface="Calibri" pitchFamily="34" charset="-122"/>
                          <a:cs typeface="Calibri" pitchFamily="34" charset="-120"/>
                        </a:rPr>
                        <a:t>Alle vier Vertriebskanäle sind nahezu gleich stark</a:t>
                      </a:r>
                      <a:endParaRPr lang="en-US" sz="1400" b="1" kern="1200" dirty="0">
                        <a:solidFill>
                          <a:srgbClr val="0070C0"/>
                        </a:solidFill>
                        <a:latin typeface="Calibri" pitchFamily="34" charset="0"/>
                        <a:ea typeface="Calibri" pitchFamily="34" charset="-122"/>
                        <a:cs typeface="Calibri" pitchFamily="34" charset="-12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4F6F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kern="1200" dirty="0">
                          <a:solidFill>
                            <a:srgbClr val="0070C0"/>
                          </a:solidFill>
                          <a:latin typeface="Calibri" pitchFamily="34" charset="0"/>
                          <a:ea typeface="Calibri" pitchFamily="34" charset="-122"/>
                          <a:cs typeface="Calibri" pitchFamily="34" charset="-120"/>
                        </a:rPr>
                        <a:t>breite Aufstellung als Risikopuffer erhalten.</a:t>
                      </a:r>
                    </a:p>
                    <a:p>
                      <a:pPr marL="0" indent="0">
                        <a:buNone/>
                      </a:pPr>
                      <a:endParaRPr lang="en-US" sz="1400" dirty="0">
                        <a:solidFill>
                          <a:srgbClr val="0070C0"/>
                        </a:solidFill>
                        <a:latin typeface="Calibri" charset="0"/>
                        <a:ea typeface="Calibri" charset="0"/>
                        <a:cs typeface="Calibri" charset="0"/>
                      </a:endParaRPr>
                    </a:p>
                  </a:txBody>
                  <a:tcPr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4F6F8"/>
                    </a:solidFill>
                  </a:tcPr>
                </a:tc>
                <a:extLst>
                  <a:ext uri="{0D108BD9-81ED-4DB2-BD59-A6C34878D82A}">
                    <a16:rowId xmlns:a16="http://schemas.microsoft.com/office/drawing/2014/main" val="1973635377"/>
                  </a:ext>
                </a:extLst>
              </a:tr>
            </a:tbl>
          </a:graphicData>
        </a:graphic>
      </p:graphicFrame>
      <p:sp>
        <p:nvSpPr>
          <p:cNvPr id="6" name="Text 3"/>
          <p:cNvSpPr/>
          <p:nvPr/>
        </p:nvSpPr>
        <p:spPr>
          <a:xfrm>
            <a:off x="457200" y="6473952"/>
            <a:ext cx="8229600" cy="274320"/>
          </a:xfrm>
          <a:prstGeom prst="rect">
            <a:avLst/>
          </a:prstGeom>
          <a:noFill/>
          <a:ln/>
        </p:spPr>
        <p:txBody>
          <a:bodyPr wrap="square" rtlCol="0" anchor="ctr"/>
          <a:lstStyle/>
          <a:p>
            <a:pPr marL="0" indent="0">
              <a:buNone/>
            </a:pPr>
            <a:r>
              <a:rPr lang="en-US" sz="850" dirty="0">
                <a:solidFill>
                  <a:srgbClr val="5B6472"/>
                </a:solidFill>
                <a:latin typeface="Calibri" pitchFamily="34" charset="0"/>
                <a:ea typeface="Calibri" pitchFamily="34" charset="-122"/>
                <a:cs typeface="Calibri" pitchFamily="34" charset="-120"/>
              </a:rPr>
              <a:t>Home &amp; Lifestyle Retail Group  ·  Performance &amp; Insights Report</a:t>
            </a:r>
            <a:endParaRPr lang="en-US" sz="850" dirty="0"/>
          </a:p>
        </p:txBody>
      </p:sp>
      <p:sp>
        <p:nvSpPr>
          <p:cNvPr id="7" name="Text 4"/>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5B6472"/>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solidFill>
          <a:srgbClr val="1B3A57"/>
        </a:solidFill>
        <a:effectLst/>
      </p:bgPr>
    </p:bg>
    <p:spTree>
      <p:nvGrpSpPr>
        <p:cNvPr id="1" name=""/>
        <p:cNvGrpSpPr/>
        <p:nvPr/>
      </p:nvGrpSpPr>
      <p:grpSpPr>
        <a:xfrm>
          <a:off x="0" y="0"/>
          <a:ext cx="0" cy="0"/>
          <a:chOff x="0" y="0"/>
          <a:chExt cx="0" cy="0"/>
        </a:xfrm>
      </p:grpSpPr>
      <p:sp>
        <p:nvSpPr>
          <p:cNvPr id="3" name="Text 1"/>
          <p:cNvSpPr/>
          <p:nvPr/>
        </p:nvSpPr>
        <p:spPr>
          <a:xfrm>
            <a:off x="731520" y="2468880"/>
            <a:ext cx="10698480" cy="73152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Vielen Dank.</a:t>
            </a:r>
            <a:endParaRPr lang="en-US" sz="3600" dirty="0"/>
          </a:p>
        </p:txBody>
      </p:sp>
      <p:sp>
        <p:nvSpPr>
          <p:cNvPr id="4" name="Text 2"/>
          <p:cNvSpPr/>
          <p:nvPr/>
        </p:nvSpPr>
        <p:spPr>
          <a:xfrm>
            <a:off x="731520" y="3246120"/>
            <a:ext cx="10698480" cy="45720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Wir freuen uns auf Ihre Fragen im Fachgespräch.</a:t>
            </a:r>
            <a:endParaRPr lang="en-US" sz="1600" dirty="0"/>
          </a:p>
        </p:txBody>
      </p:sp>
      <p:sp>
        <p:nvSpPr>
          <p:cNvPr id="5" name="Text 3"/>
          <p:cNvSpPr/>
          <p:nvPr/>
        </p:nvSpPr>
        <p:spPr>
          <a:xfrm>
            <a:off x="731520" y="6263640"/>
            <a:ext cx="10698480" cy="320040"/>
          </a:xfrm>
          <a:prstGeom prst="rect">
            <a:avLst/>
          </a:prstGeom>
          <a:noFill/>
          <a:ln/>
        </p:spPr>
        <p:txBody>
          <a:bodyPr wrap="square" rtlCol="0" anchor="ctr"/>
          <a:lstStyle/>
          <a:p>
            <a:pPr marL="0" indent="0">
              <a:buNone/>
            </a:pPr>
            <a:r>
              <a:rPr lang="en-US" sz="1050" dirty="0">
                <a:solidFill>
                  <a:srgbClr val="CADCFC"/>
                </a:solidFill>
                <a:latin typeface="Calibri" pitchFamily="34" charset="0"/>
                <a:ea typeface="Calibri" pitchFamily="34" charset="-122"/>
                <a:cs typeface="Calibri" pitchFamily="34" charset="-120"/>
              </a:rPr>
              <a:t>Home &amp; Lifestyle Retail Group  ·  Performance &amp; Insights Report  ·  Team: Axel Heilemann · Hong Ngan Ngo · Yannick Quast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5">
    <p:spTree>
      <p:nvGrpSpPr>
        <p:cNvPr id="1" name=""/>
        <p:cNvGrpSpPr/>
        <p:nvPr/>
      </p:nvGrpSpPr>
      <p:grpSpPr>
        <a:xfrm>
          <a:off x="0" y="0"/>
          <a:ext cx="0" cy="0"/>
          <a:chOff x="0" y="0"/>
          <a:chExt cx="0" cy="0"/>
        </a:xfrm>
      </p:grpSpPr>
      <p:sp>
        <p:nvSpPr>
          <p:cNvPr id="2" name="Shape 0"/>
          <p:cNvSpPr/>
          <p:nvPr/>
        </p:nvSpPr>
        <p:spPr>
          <a:xfrm>
            <a:off x="457200" y="365760"/>
            <a:ext cx="2377440" cy="310896"/>
          </a:xfrm>
          <a:prstGeom prst="roundRect">
            <a:avLst>
              <a:gd name="adj" fmla="val 50000"/>
            </a:avLst>
          </a:prstGeom>
          <a:solidFill>
            <a:srgbClr val="DCEEE9"/>
          </a:solidFill>
          <a:ln/>
        </p:spPr>
        <p:txBody>
          <a:bodyPr/>
          <a:lstStyle/>
          <a:p>
            <a:endParaRPr lang="de-DE"/>
          </a:p>
        </p:txBody>
      </p:sp>
      <p:sp>
        <p:nvSpPr>
          <p:cNvPr id="3" name="Text 1"/>
          <p:cNvSpPr/>
          <p:nvPr/>
        </p:nvSpPr>
        <p:spPr>
          <a:xfrm>
            <a:off x="457200" y="365760"/>
            <a:ext cx="2377440" cy="310896"/>
          </a:xfrm>
          <a:prstGeom prst="rect">
            <a:avLst/>
          </a:prstGeom>
          <a:noFill/>
          <a:ln/>
        </p:spPr>
        <p:txBody>
          <a:bodyPr wrap="square" rtlCol="0" anchor="ctr"/>
          <a:lstStyle/>
          <a:p>
            <a:pPr marL="0" indent="0" algn="ctr">
              <a:buNone/>
            </a:pPr>
            <a:r>
              <a:rPr lang="en-US" sz="1100" b="1" dirty="0">
                <a:solidFill>
                  <a:srgbClr val="0F6E56"/>
                </a:solidFill>
                <a:latin typeface="Calibri" pitchFamily="34" charset="0"/>
                <a:ea typeface="Calibri" pitchFamily="34" charset="-122"/>
                <a:cs typeface="Calibri" pitchFamily="34" charset="-120"/>
              </a:rPr>
              <a:t>SELBSTREFLEXION &amp; TRANSPARENZ</a:t>
            </a:r>
            <a:endParaRPr lang="en-US" sz="1100" dirty="0"/>
          </a:p>
        </p:txBody>
      </p:sp>
      <p:sp>
        <p:nvSpPr>
          <p:cNvPr id="4" name="Text 2"/>
          <p:cNvSpPr/>
          <p:nvPr/>
        </p:nvSpPr>
        <p:spPr>
          <a:xfrm>
            <a:off x="457200" y="777240"/>
            <a:ext cx="11274552" cy="548640"/>
          </a:xfrm>
          <a:prstGeom prst="rect">
            <a:avLst/>
          </a:prstGeom>
          <a:noFill/>
          <a:ln/>
        </p:spPr>
        <p:txBody>
          <a:bodyPr wrap="square" rtlCol="0" anchor="ctr"/>
          <a:lstStyle/>
          <a:p>
            <a:pPr marL="0" indent="0">
              <a:buNone/>
            </a:pPr>
            <a:r>
              <a:rPr lang="en-US" sz="2800" b="1" dirty="0">
                <a:solidFill>
                  <a:srgbClr val="1B3A57"/>
                </a:solidFill>
                <a:latin typeface="Cambria" pitchFamily="34" charset="0"/>
                <a:ea typeface="Cambria" pitchFamily="34" charset="-122"/>
                <a:cs typeface="Cambria" pitchFamily="34" charset="-120"/>
              </a:rPr>
              <a:t>Datenqualität &amp; Limitationen</a:t>
            </a:r>
            <a:endParaRPr lang="en-US" sz="2800" dirty="0">
              <a:solidFill>
                <a:srgbClr val="1B3A57"/>
              </a:solidFill>
            </a:endParaRPr>
          </a:p>
        </p:txBody>
      </p:sp>
      <p:sp>
        <p:nvSpPr>
          <p:cNvPr id="5" name="Shape 3"/>
          <p:cNvSpPr/>
          <p:nvPr/>
        </p:nvSpPr>
        <p:spPr>
          <a:xfrm>
            <a:off x="457200" y="2029968"/>
            <a:ext cx="109728" cy="109728"/>
          </a:xfrm>
          <a:prstGeom prst="ellipse">
            <a:avLst/>
          </a:prstGeom>
          <a:solidFill>
            <a:srgbClr val="B3432B"/>
          </a:solidFill>
          <a:ln/>
        </p:spPr>
        <p:txBody>
          <a:bodyPr/>
          <a:lstStyle/>
          <a:p>
            <a:endParaRPr lang="de-DE" sz="1600"/>
          </a:p>
        </p:txBody>
      </p:sp>
      <p:sp>
        <p:nvSpPr>
          <p:cNvPr id="6" name="Text 4"/>
          <p:cNvSpPr/>
          <p:nvPr/>
        </p:nvSpPr>
        <p:spPr>
          <a:xfrm>
            <a:off x="713232" y="1911096"/>
            <a:ext cx="10716768" cy="274320"/>
          </a:xfrm>
          <a:prstGeom prst="rect">
            <a:avLst/>
          </a:prstGeom>
          <a:noFill/>
          <a:ln/>
        </p:spPr>
        <p:txBody>
          <a:bodyPr wrap="square" rtlCol="0" anchor="ctr"/>
          <a:lstStyle/>
          <a:p>
            <a:pPr marL="0" indent="0">
              <a:buNone/>
            </a:pPr>
            <a:r>
              <a:rPr lang="en-US" sz="1600" b="1" dirty="0">
                <a:solidFill>
                  <a:srgbClr val="1B3A57"/>
                </a:solidFill>
                <a:latin typeface="Calibri" pitchFamily="34" charset="0"/>
                <a:ea typeface="Calibri" pitchFamily="34" charset="-122"/>
                <a:cs typeface="Calibri" pitchFamily="34" charset="-120"/>
              </a:rPr>
              <a:t>Synthetischer Datensatz</a:t>
            </a:r>
            <a:endParaRPr lang="en-US" sz="1600" dirty="0"/>
          </a:p>
        </p:txBody>
      </p:sp>
      <p:sp>
        <p:nvSpPr>
          <p:cNvPr id="7" name="Text 5"/>
          <p:cNvSpPr/>
          <p:nvPr/>
        </p:nvSpPr>
        <p:spPr>
          <a:xfrm>
            <a:off x="713232" y="2185416"/>
            <a:ext cx="10716768" cy="548640"/>
          </a:xfrm>
          <a:prstGeom prst="rect">
            <a:avLst/>
          </a:prstGeom>
          <a:noFill/>
          <a:ln/>
        </p:spPr>
        <p:txBody>
          <a:bodyPr wrap="square" rtlCol="0" anchor="ctr"/>
          <a:lstStyle/>
          <a:p>
            <a:pPr marL="0" indent="0">
              <a:lnSpc>
                <a:spcPts val="1600"/>
              </a:lnSpc>
              <a:buNone/>
            </a:pPr>
            <a:r>
              <a:rPr lang="en-US" sz="1600" dirty="0">
                <a:solidFill>
                  <a:srgbClr val="1F2937"/>
                </a:solidFill>
                <a:latin typeface="Calibri" pitchFamily="34" charset="0"/>
                <a:ea typeface="Calibri" pitchFamily="34" charset="-122"/>
                <a:cs typeface="Calibri" pitchFamily="34" charset="-120"/>
              </a:rPr>
              <a:t>Der Kaggle-Datensatz ist bereinigt und enthält keine realen Störfaktoren wie Lieferkettenprobleme, Marketingkampagnen oder Makroökonomie — Muster sind dadurch klarer, aber weniger „chaotisch“ als echte Unternehmensdaten.</a:t>
            </a:r>
            <a:endParaRPr lang="en-US" sz="1600" dirty="0"/>
          </a:p>
        </p:txBody>
      </p:sp>
      <p:sp>
        <p:nvSpPr>
          <p:cNvPr id="11" name="Shape 9"/>
          <p:cNvSpPr/>
          <p:nvPr/>
        </p:nvSpPr>
        <p:spPr>
          <a:xfrm>
            <a:off x="457200" y="3273552"/>
            <a:ext cx="109728" cy="109728"/>
          </a:xfrm>
          <a:prstGeom prst="ellipse">
            <a:avLst/>
          </a:prstGeom>
          <a:solidFill>
            <a:srgbClr val="B3432B"/>
          </a:solidFill>
          <a:ln/>
        </p:spPr>
        <p:txBody>
          <a:bodyPr/>
          <a:lstStyle/>
          <a:p>
            <a:endParaRPr lang="de-DE" sz="1600"/>
          </a:p>
        </p:txBody>
      </p:sp>
      <p:sp>
        <p:nvSpPr>
          <p:cNvPr id="12" name="Text 10"/>
          <p:cNvSpPr/>
          <p:nvPr/>
        </p:nvSpPr>
        <p:spPr>
          <a:xfrm>
            <a:off x="713232" y="3154680"/>
            <a:ext cx="10716768" cy="274320"/>
          </a:xfrm>
          <a:prstGeom prst="rect">
            <a:avLst/>
          </a:prstGeom>
          <a:noFill/>
          <a:ln/>
        </p:spPr>
        <p:txBody>
          <a:bodyPr wrap="square" rtlCol="0" anchor="ctr"/>
          <a:lstStyle/>
          <a:p>
            <a:pPr marL="0" indent="0">
              <a:buNone/>
            </a:pPr>
            <a:r>
              <a:rPr lang="en-US" sz="1600" b="1" dirty="0">
                <a:solidFill>
                  <a:srgbClr val="1B3A57"/>
                </a:solidFill>
                <a:latin typeface="Calibri" pitchFamily="34" charset="0"/>
                <a:ea typeface="Calibri" pitchFamily="34" charset="-122"/>
                <a:cs typeface="Calibri" pitchFamily="34" charset="-120"/>
              </a:rPr>
              <a:t>Enge Spannen bei „Top“-Kennzahlen</a:t>
            </a:r>
            <a:endParaRPr lang="en-US" sz="1600" dirty="0"/>
          </a:p>
        </p:txBody>
      </p:sp>
      <p:sp>
        <p:nvSpPr>
          <p:cNvPr id="13" name="Text 11"/>
          <p:cNvSpPr/>
          <p:nvPr/>
        </p:nvSpPr>
        <p:spPr>
          <a:xfrm>
            <a:off x="713232" y="3429000"/>
            <a:ext cx="10716768" cy="548640"/>
          </a:xfrm>
          <a:prstGeom prst="rect">
            <a:avLst/>
          </a:prstGeom>
          <a:noFill/>
          <a:ln/>
        </p:spPr>
        <p:txBody>
          <a:bodyPr wrap="square" rtlCol="0" anchor="ctr"/>
          <a:lstStyle/>
          <a:p>
            <a:pPr marL="0" indent="0">
              <a:lnSpc>
                <a:spcPts val="1600"/>
              </a:lnSpc>
              <a:buNone/>
            </a:pPr>
            <a:r>
              <a:rPr lang="en-US" sz="1600" dirty="0">
                <a:solidFill>
                  <a:srgbClr val="1F2937"/>
                </a:solidFill>
                <a:latin typeface="Calibri" pitchFamily="34" charset="0"/>
                <a:ea typeface="Calibri" pitchFamily="34" charset="-122"/>
                <a:cs typeface="Calibri" pitchFamily="34" charset="-120"/>
              </a:rPr>
              <a:t>Top Market (UAE) liegt nur 0,2 % vor dem zweitplatzierten Markt, das „beste Jahr“ nur 1,8 % über dem schwächsten. Solche Auszeichnungen kommunizieren wir bewusst mit Sensitivitätshinweis, nicht als harte Fakten.</a:t>
            </a:r>
            <a:endParaRPr lang="en-US" sz="1600" dirty="0"/>
          </a:p>
        </p:txBody>
      </p:sp>
      <p:sp>
        <p:nvSpPr>
          <p:cNvPr id="14" name="Text 12"/>
          <p:cNvSpPr/>
          <p:nvPr/>
        </p:nvSpPr>
        <p:spPr>
          <a:xfrm>
            <a:off x="457200" y="6473952"/>
            <a:ext cx="8229600" cy="274320"/>
          </a:xfrm>
          <a:prstGeom prst="rect">
            <a:avLst/>
          </a:prstGeom>
          <a:noFill/>
          <a:ln/>
        </p:spPr>
        <p:txBody>
          <a:bodyPr wrap="square" rtlCol="0" anchor="ctr"/>
          <a:lstStyle/>
          <a:p>
            <a:pPr marL="0" indent="0">
              <a:buNone/>
            </a:pPr>
            <a:r>
              <a:rPr lang="en-US" sz="850" dirty="0">
                <a:solidFill>
                  <a:srgbClr val="5B6472"/>
                </a:solidFill>
                <a:latin typeface="Calibri" pitchFamily="34" charset="0"/>
                <a:ea typeface="Calibri" pitchFamily="34" charset="-122"/>
                <a:cs typeface="Calibri" pitchFamily="34" charset="-120"/>
              </a:rPr>
              <a:t>Home &amp; Lifestyle Retail Group  ·  Performance &amp; Insights Report</a:t>
            </a:r>
            <a:endParaRPr lang="en-US" sz="850" dirty="0"/>
          </a:p>
        </p:txBody>
      </p:sp>
      <p:sp>
        <p:nvSpPr>
          <p:cNvPr id="15" name="Text 13"/>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5B6472"/>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webextension1.xml><?xml version="1.0" encoding="utf-8"?>
<we:webextension xmlns:we="http://schemas.microsoft.com/office/webextensions/webextension/2010/11" id="{FD813F3C-AABD-4645-97F1-CFCB5C863A45}">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F5F7FB&quot;"/>
    <we:property name="bookmark" value="&quot;H4sIAAAAAAAAA+1Z3U/jOBD/V1Ck075UJ8d2vnhbCkgr7e6xV7T3cOJhbE9LVmnSTRyWLuJ/v7GTFhZKy8IBRaJPztgZ/+bDv/GkF4HJm1kB888wxWA3+IgN/sRcn2K5kwSDoOzEOlHAtRBKiiRhjMWaG5qtZjavyibYvQgs1BO0X/OmhcLpIuG/J4MAiuIIJu5pDEWDg2CGdVOVUOQ/sVtMU7Zu8XIQ4PmsqGpwKkcWLDq1Z7ScnglC+KegHUHb/AxHqG0nFdxILjkoHaESnEmFGS1rugUe2colTrXffliVFvKStnEypmMtdSKTJDJGawFxyJx8nBe2X6LmB+ezmqwjm+cz55whYZ1Uda6hCLwVNTYd6ItgWBXt1I8OfpGPqrbW+DeO/VRpczsnTfv59KiuTKttcEkOoTG5y8/0e8y9/LT6MayRJCbYZZcnJGnyclL0Dr2y7bjD1xS5xtqFS30jv3grpkjhcgMDFrwxs26zHLv5yvhp9LZeBB9zsr/T/RWK1ql9t09vmOpH+Y5A0e/EQeviQ8C/XYuAf6PxuzyBP2hfmuOcZanmwFFCZoRKIE63PXKDJZD35gxKjeYWik8ITVvjfWH0ywl70R+RG2iOKwvFzggKiscWASLBOLcPSW5dtA0FGM0e1MNTqO0veU5vV7XBem/uw76f1wvm4IMb+J/W05cnd5yNZXo87ekAjSgVZzFGAsKQR2Yzr72eHIDa9FNbFfylRR03cp1K0ONQUnmJoyg0CcrtCUIHducT1fG83Pnj/4yDUyVZhlEKsTKC6yyTmofGKVirEDzSvdZawntLZUTVWmgFgknBdGSEMHorKH/Uqrd6vc4lHSklscBwzEBqYqSQrmepju6OX38TlagSxRTTDDNuVEhDRq7qo3tczT7TU6fBm7K4P9KRP6yrqVfV33WbVn1vkQDdZIPRYoLGXxaDdZrc6VzlhEHQhdRX1n7t9Pra26fy6hWqGCN04vsHonvwgNb5f7DAMs6xoKW001+riTJ8GFEucUw3EuPAxSzYjXxGdKbza97a7FnS8M8pOkjeS6XJbQ/pww13/UZG39ORHj6oAu9WsEyy/sy9DOe8woud+r373AMz9REl/TkvdKvok9qciApfZhLOFQsNgoRHVlSl40imsdExC1OGTCu+mZGpt6aeGRK6zYQm4xoMC98Y+akY+YFX1zdGfmPkZ2bk52+yXpqRNUSQIRidMgFpzNzXqO1p8NZ/+nm1TfbVFxY3Td3lWKDKdJSJNE2TOJPskUXRUNPKVRpmLNIJUJciU75RpcVzq6rz29owjvRYZgyoZLseBjF7LMBxbCTHSEipMxSKkflrqvamtHs/mdQ4gQVlHzyCGw8J91W+XYvclxa6NU5+2JZ9xrAXScuXNdhTh5Ouavar1jYz0HgEJa5o+ilwUBo0Gxp//89L4Dch1+V9cbzPCz26/wBDr5m1JRoAAA==&quot;"/>
    <we:property name="creatorSessionId" value="&quot;2a14aa6c-6aa0-405d-9735-267c0830f327&quot;"/>
    <we:property name="creatorTenantId" value="&quot;0dd47679-b4a9-46d9-a858-6819737af921&quot;"/>
    <we:property name="creatorUserId" value="&quot;10032005D9CF5523&quot;"/>
    <we:property name="datasetId" value="&quot;4be3d4b4-f519-4047-8bda-77edae4394a4&quot;"/>
    <we:property name="embedUrl" value="&quot;/reportEmbed?reportId=6c1e38d2-a387-4140-b64c-feb20565ce26&amp;groupId=2b079f4c-68fe-473a-9760-0a91c18e23c6&amp;w=2&amp;config=eyJjbHVzdGVyVXJsIjoiaHR0cHM6Ly9XQUJJLUdFUk1BTlktV0VTVC1DRU5UUkFMLVBSSU1BUlktcmVkaXJlY3QuYW5hbHlzaXMud2luZG93cy5uZXQiLCJlbWJlZEZlYXR1cmVzIjp7InVzYWdlTWV0cmljc1ZOZXh0Ijp0cnVlfX0%3D&amp;disableSensitivityBanner=true&amp;storytellingChangeViewModeShortcutKeys=true&quot;"/>
    <we:property name="initialStateBookmark" value="&quot;H4sIAAAAAAAAA4VQTWsCMRT8KyXnpXRdi9ablp6sH9TiRaS83X0rqTEJyVupFf9738sK7UFoDkneZDIzzFnVOnoDpzkcUI3UxLn9AcL+bqAyZa/YYjGdjd+mH/Px7IVh50k7G9XorAjCDmmtYwtGFBjcbDMFxixhJ1MDJmKmPIboLBj9jR2Znyi0eMkUfnnjAojkioBQZI9M55m98/uCHaEifcQVVtSh0OT9QdnPKxg+lL2iKOq8z7TYEVKymxSRTvbPzhJoyzaCNb28yh8bxLwegvAH9ZPgUduduQb+/ft+8tIKJK9JS8SRuJTyk91F7pLWX0QdkGuSi2speqhwCZbnzVn54Lgb0ph43AXYGuvrPcj5qglD578G04p1KlUlE46kS4P/fJCqVYq1le0Hw9UXR/UBAAA=&quot;"/>
    <we:property name="isFiltersActionButtonVisible" value="true"/>
    <we:property name="isFooterCollapsed" value="true"/>
    <we:property name="isVisualContainerHeaderHidden" value="false"/>
    <we:property name="pageDisplayName" value="&quot;Product Analysis&quot;"/>
    <we:property name="pageName" value="&quot;32d4242abc5eb3204be9&quot;"/>
    <we:property name="reportEmbeddedTime" value="&quot;2026-08-11T12:26:24.497Z&quot;"/>
    <we:property name="reportName" value="&quot;Home &amp; Lifestyle Retail Group_v11&quot;"/>
    <we:property name="reportState" value="&quot;CONNECTED&quot;"/>
    <we:property name="reportUrl" value="&quot;/groups/2b079f4c-68fe-473a-9760-0a91c18e23c6/reports/6c1e38d2-a387-4140-b64c-feb20565ce26/32d4242abc5eb3204be9?experience=power-bi&amp;clientSideAuth=0&amp;pbi_source=storytelling_addin&quot;"/>
  </we:properties>
  <we:bindings/>
  <we:snapshot xmlns:r="http://schemas.openxmlformats.org/officeDocument/2006/relationships"/>
</we:webextension>
</file>

<file path=ppt/webextensions/webextension2.xml><?xml version="1.0" encoding="utf-8"?>
<we:webextension xmlns:we="http://schemas.microsoft.com/office/webextensions/webextension/2010/11" id="{96B699FD-F3A9-4E55-82C5-0941E292DD30}">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F5F7FB&quot;"/>
    <we:property name="bookmark" value="&quot;H4sIAAAAAAAAA+1YTW/bSAz9K4KA3oxirG/lljgpsEDbDeKiu8AiB86IUtTIGmE0cu0G/u/LGUnr1ps22TTpqkEvjsVhyEcO+fTgGzcr26aC7VtYoXvknkh5vQJ17cTuzK17W556EEV+mAkeiNTngIlHp7LRpaxb9+jG1aAK1O/LtoPKBCLjX5czF6rqHArzlEPV4sxtULWyhqr8hL0zHWnV4W7m4qappAITcqlBowm7Jnd6Jgjzlz5lBKHLNS5R6N4agIdpHvqALGaRH/EoYOTW9g4W2a0uJrRNv5C1hrKmNMbGUu6lnKeAHBKGQRR7obHnZaUHF7492zSKqqOat41pzoKwFlKVAirXVqGw7UHfuAtZdSv77ewL+1J2SuAF5vao1qXeUqTTcrXoWi1XqNwddeRcSeqXPRrtzhKLFdbanl/JjwuFlD5zj9hu9g+i42wNtSDrIZzjolBYgB4ez54G6wUKrMXW+QPL4qpH+qqrhyubTxj4rU3eQ/cfBP0NQtspvC+8wZ1qqoYpPwB5vC6cscOnsG2nPAmj3VLLYzTz8a/6d5XR50J2D92px4f0TmqonGWDdXYLpEuytGVdVAOB7rnsXY+0FaCJrRZXoLQhaf6BBslw127kT0r64TOG/NOy2VO39nJn/IIsjFmccREGcZYEcxYyYQJ/syKNG83l5stiTLRIiIBBkiNHT3AvjNHHO/n6h23qW/nSkbkz9uOBm/rYqIbpggonBcgOy0QQGYq1DXIaM8Cfz/l/3EUBKhuODjZRmnpPtnYwT0s1KhpvdlDCDxhKs5pmlzAJPJ/WKfCYF0cJg3Q6uzS+8d50lS6bCh2it1VjGMxZt85r+dF5D1WHz+OO7l9sf3Wpl2YhQ5FmHDjDFEIe30mqYFOfdFoTgH8xK09SHrOEiSjFgEUpBAK/M6SIxTwFn/t87gfcm9MTf07i+n8QenfONofbdcBXJnt+ONlP2eLd5Vf0yHDn2yeSJXsEvSQRqeBZSLJEQMgYaRIhsl9z+bPJmn2vaN7ReTENVJMTWxe4xrrDaXVpBLWQlK7W/W9Azm91hptpALy3IPxJXxMaeIVnm2m+JYwPigSCPPBikqaCRWEQxeF3yhHMIfJSZsh/bj6Yl3nT0bvH2rko22tnXA3QzlLD9TMRuN+ozr6UjfseqEsTUdjkstNtAwLPoUYLuuljlmj96EqASCMbvivz93VJt9k3pRfNR679Kdq1SahPJY3+ff9hQPc3uNcMGjMXAAA=&quot;"/>
    <we:property name="creatorSessionId" value="&quot;051217ee-144f-448d-b93d-287abf6dd21f&quot;"/>
    <we:property name="creatorTenantId" value="&quot;0dd47679-b4a9-46d9-a858-6819737af921&quot;"/>
    <we:property name="creatorUserId" value="&quot;10032005D9CF5523&quot;"/>
    <we:property name="datasetId" value="&quot;4be3d4b4-f519-4047-8bda-77edae4394a4&quot;"/>
    <we:property name="embedUrl" value="&quot;/reportEmbed?reportId=6c1e38d2-a387-4140-b64c-feb20565ce26&amp;groupId=2b079f4c-68fe-473a-9760-0a91c18e23c6&amp;w=2&amp;config=eyJjbHVzdGVyVXJsIjoiaHR0cHM6Ly9XQUJJLUdFUk1BTlktV0VTVC1DRU5UUkFMLVBSSU1BUlktcmVkaXJlY3QuYW5hbHlzaXMud2luZG93cy5uZXQiLCJlbWJlZEZlYXR1cmVzIjp7InVzYWdlTWV0cmljc1ZOZXh0Ijp0cnVlfX0%3D&amp;disableSensitivityBanner=true&amp;storytellingChangeViewModeShortcutKeys=true&quot;"/>
    <we:property name="initialStateBookmark" value="&quot;H4sIAAAAAAAAA+1YbW/bOAz+K4aB+xYMil/jfkvTHDBsfUEy7A4YioGSGderYxmynCVX5L8fJTuXLevWrmt3XrEvjkUx5EOKfET4xk3zuipgcwZLdI/cYymvl6CundgduGUnOz9/dTqevXp/Nj6dklhWOpdl7R7duBpUhvptXjdQGAskfHc5cKEoLiAzqwUUNQ7cClUtSyjyf7BVpi2tGtwOXFxXhVRgTM41aDRmV6ROa/I9fOGTRxA6X+EchW6lAXiYLEIfkMUs8iMeBYzU6lbBIrtVxZi27iey1JCX5MbIWMK9hPMEkMOIYRDFXmjki7zQnQrfTNeVougo5k1lsjIhrJlUuYDCtVEorFvQN+5EFs3Svk0/k89lowTOcGG3Sp3rDVk6yZeTptZyicrdUkYulKR82a2d3JljtsRS2/0r+XGikNyn7hHbDv5DNE5XUAqSHsIZZ5nCDHS3nD4N1hkKLMXG+Qvz7KpF+mdTdkc27DHwW5O8h+4/CPopQt0ovC+8Tp1iKroqPwA5XmXOLsMnsKn7XAk7ueWUx0jm4x/1uUrpOZHNQ3vq8SG9kRoKZ15hmd4C6ZIkdV5mRUegey570yKtBWhiq8kVKG1Imn+gQjLctd3xJzn98AlD/m3Z7KlTe7k1ekEaxixOuQiDOB0FQxYyYQx/MyKNa83l+vNgjLVIiIDBaIEcPcG9MEYf7+Trn9apZ/KFIxfOLh8P7NTHRtVVFxTYK0C2WHqCyFCsTZBTmQL+tM6/sxcFqLTbOuhEaeI93tjCPMnVbqLxBgch/ISiNK1peglHgedTOwUe8+JoxCDpTy/tbrzTptB5VaBD9LasDIM5q9p5LT86b6Fo8Hmc0f2DbY8u8ZI0ZCiSlANnmEDI4ztJFazr40ZrAvAFs/JRwmM2YiJKMGBRAoHAHzQpYjFMwOc+H/oB94a04s9puP4fBr07a5vD7XPAVyp7eFjZT5ni7eVX5pHuzDdPNJbsEbQjiUgET0MaSwSEjNFMIkT6uy5/tbFmnyuqd3T+6Aeq3g1bM1xh2WC/srQDNZHkrtTtNyDnZZniuh8A7z0Q/qLXhAZe4HTdz1vC6KAYQbAIvJhGU8GiMIji8AfHEVxA5CXMkP/QPJiXev2Zd8fameX1tbNrDdDOXMP1MxlwvxGdvZSN+h6oSxWRWeey0XUFAi+gRAu6am3maPXoSIBII+3elfl9ndNptklph+Yj136Kdq0TylNOpX/HH8wHatfCsuD+BbboKxIrFwAA&quot;"/>
    <we:property name="isFiltersActionButtonVisible" value="true"/>
    <we:property name="isFooterCollapsed" value="true"/>
    <we:property name="isVisualContainerHeaderHidden" value="false"/>
    <we:property name="pageDisplayName" value="&quot;Customer Value &amp; Loyalty Analysis&quot;"/>
    <we:property name="pageName" value="&quot;4a2e9f53ae070636b640&quot;"/>
    <we:property name="reportEmbeddedTime" value="&quot;2026-08-11T12:27:32.101Z&quot;"/>
    <we:property name="reportName" value="&quot;Home &amp; Lifestyle Retail Group_v11&quot;"/>
    <we:property name="reportState" value="&quot;CONNECTED&quot;"/>
    <we:property name="reportUrl" value="&quot;/groups/2b079f4c-68fe-473a-9760-0a91c18e23c6/reports/6c1e38d2-a387-4140-b64c-feb20565ce26/4a2e9f53ae070636b640?experience=power-bi&amp;clientSideAuth=0&quot;"/>
  </we:properties>
  <we:bindings/>
  <we:snapshot xmlns:r="http://schemas.openxmlformats.org/officeDocument/2006/relationships"/>
</we:webextension>
</file>

<file path=ppt/webextensions/webextension3.xml><?xml version="1.0" encoding="utf-8"?>
<we:webextension xmlns:we="http://schemas.microsoft.com/office/webextensions/webextension/2010/11" id="{6E99D3E1-DFEE-4F23-B41F-0622E3A54537}">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F5F7FB&quot;"/>
    <we:property name="bookmark" value="&quot;H4sIAAAAAAAAA9VYbW/bNhD+K4aAfjMGUtRrviVO+ykdgsYLUBTBcCJPjlpZFCgqjRfkv/dIKUuTpXUW15kGGLBFnu6ee3jPneSbQFVdW8Pmd1hjcBAcaf1lDebLLA3mQTOsQRmFvIgjCUXGcs4k5m5Xt7bSTRcc3AQWzArtedX1UDtHtPjpYh5AXZ/Cyl2VUHc4D1o0nW6grv7CwZi2rOnxdh7gdVtrA87lmQWLzu0VmdM1QeC/CYoI0lZXeIbSDqtpKFEpXuYKIowzlvIwJrNuMPDInjRxrn34hW4sVA2FcWusFILxWIpISZHFeZQIb1tWtR1Nis3b69ZQdpTzpnXkHKoraChG4FMw2A2Ib4L3CF1vfB5vH2yc6d5I/ICl32psZTfkZzRf6Loe87slVk6NJs68wVK3s8NGr6HWfTdbEEUrbTbe6lJ/XRikFRUcsNv5VLDNFuezN08AvKCVrmpW9VgE9+exHHBLMGrcojIrPlNQxz7dpo1Cc7TxB3BcmbtK4PNHebwa+ZQMWbIyK5kQAjKehzJJRA6hC/DTLMFHOuqtpXgP8nQueS4ZYypOySMLBUslk1uLcQRWSc/cwzOn5Pp181xGjqv1sVPhIx7ek2Au//yIYKZReH8sTqYB5GQqQJbaQj07g5ra7gukV1M3XFyCsS9V3q8vs9uLu85PFp+/6+1/y9Bh+vVxL7wORZyEBTIRhwqFQsjTMHxdHRI+1Uv7GOu0JoBr9bNi87O5tL3t131HnKI6AvNvajDcd/d/Irk9FeX2sx6rEpIo57lguYqjgoc5ZMmOAyctVcYT4Apo3oDMOMrtTz/TL/TD1crgCux4uUuzekcE3jfW7xD6xcO17psB/Lu+GUuTTUKcw5PLZrY00HRDFcwWDu2uim2rK22XUNQ4Fak+N9Uf6veD/trtV7t5zEShSoAwgZg+RZGwrdq1eG0Lff1P2RaQs4wVWSqA9BvzImXw8peWPQni/6/a7cPLg9ppbP3nSe9jqD0TySANySKRhSziClWU8iKRjO841jCENJaKFTwNUwwxyge1TeOl/q5d+QfPoVFN43nuh330Vd7nX21MPOTdV6GzvMcYrNGsfFzd264FiafQoMfbDu4q9HZ0HNAoR4j/bdz3SUUlNvBxDnXvqPB/hAU+CFFUucn5zBtGdN8APNP8o7ETAAA=&quot;"/>
    <we:property name="creatorSessionId" value="&quot;d3ca628c-4e08-4d45-8101-8849abf597f0&quot;"/>
    <we:property name="creatorTenantId" value="&quot;0dd47679-b4a9-46d9-a858-6819737af921&quot;"/>
    <we:property name="creatorUserId" value="&quot;10032005D9CF5523&quot;"/>
    <we:property name="datasetId" value="&quot;4be3d4b4-f519-4047-8bda-77edae4394a4&quot;"/>
    <we:property name="embedUrl" value="&quot;/reportEmbed?reportId=6c1e38d2-a387-4140-b64c-feb20565ce26&amp;groupId=2b079f4c-68fe-473a-9760-0a91c18e23c6&amp;w=2&amp;config=eyJjbHVzdGVyVXJsIjoiaHR0cHM6Ly9XQUJJLUdFUk1BTlktV0VTVC1DRU5UUkFMLVBSSU1BUlktcmVkaXJlY3QuYW5hbHlzaXMud2luZG93cy5uZXQiLCJlbWJlZEZlYXR1cmVzIjp7InVzYWdlTWV0cmljc1ZOZXh0Ijp0cnVlfX0%3D&amp;disableSensitivityBanner=true&amp;storytellingChangeViewModeShortcutKeys=true&quot;"/>
    <we:property name="initialStateBookmark" value="&quot;H4sIAAAAAAAAA9VYbU/jOBD+K1Gk+1adnDivfCuF/bKwi6CLdDohNLGdkl03jhyHpYf47zt2wvKyQDm65XJSpTaTieeZx/PMOL32edU2ElafYCn8HX9XqW9L0N+81J/49WD7/Pnj4fT44/mn6eE+mlVjKlW3/s61b0AvhDmt2g6kXQGNf59NfJDyCBb2qgTZionfCN2qGmT1j+id8ZbRnbiZ+OKqkUqDXfLEgBF22Ut0x2uMHfxJMSIwU12KE8FMb01DJjgPypxDJOKMpEEYo1vbOzhkT7rYpV34maoNVDWGsTZSUkqCmNGIM5rFeZRQ51tW0gwuxWr/qtGYHea8aiwrU34JNcbwXQpatD3ia/9QQNtpl8f+gxsnqtNMHIvS3apNZVa4zuA+U1IO+d0gK0daIWfOYa4ab1qrJUjVtd4MKVoovXJeF+r7TAu0cH+H3EzGgs2bnXp/PAHwDC1tVS/kUAR3+zHvcTPQfLiFZVZ8xaCWfXxMaS707sptwF6lbyshmDzK493Ix2TQk5RZSSilkAV5yJKE5hDaAC9mCS7SbmcMxnuQp10yyBkhhMcprkhCSlJG2NpiHIBVzDH3cM8xuW5Zv5aRvWq5Z1X4iIdDFMzF+V8C9DgK78vsYBxADsYCZK4MSO8EJLbdN0hPYjecXYA2b1Xe7y+zm7Pbzo8eX+/19p8ytJh+f9wzp0MaJ2EhCI1DLigXkKdh+L46RHy8Y+Yx1nFNANvqvWL10lxa3/Zl1yKngu+C/jc1GG67+z+R3JaKcv1eD1UJSZQHOSU5j6MiCHPIkg0HTlryLEgg4IDzBlgWCLb+9DP+Qp8uFloswAyXmzSrD0jgXWO9h9AZp0vV1T34D109lCYZhTj7k8vKm2uo274KvJlFu6lim+pSmTkUUoxFqq9N9Vn9Hqvv7Xa1m8eEFrwECBOI8VMUCVmrXSOuTKGufpVtATnJSJGlFFC/cVCkBN7+0rIlQfz/Vbt+eDlQG42t/zzpbQy1VyLppcFIRLOQRAEXPEqDImEk2HCsiRDSmHFSBGmYilBEea+2cbzU37Yrd/DsG9U4znPP9tF3eZ9/tzHxkHdXhdbzDqO/FHrh4qrOtA0wcQS1cHibfrlKOD/cDqi5JcT91vb7oMIS6/k4BdlZKtwfYb4LghRVdnK+/ID9e8x3sBy4H95PUSKpEwAA&quot;"/>
    <we:property name="isFiltersActionButtonVisible" value="true"/>
    <we:property name="isFooterCollapsed" value="true"/>
    <we:property name="isVisualContainerHeaderHidden" value="false"/>
    <we:property name="pageDisplayName" value="&quot;Anomaly Analysis&quot;"/>
    <we:property name="pageName" value="&quot;72cedd1f9da4e5807125&quot;"/>
    <we:property name="reportEmbeddedTime" value="&quot;2026-08-11T12:28:07.794Z&quot;"/>
    <we:property name="reportName" value="&quot;Home &amp; Lifestyle Retail Group_v11&quot;"/>
    <we:property name="reportState" value="&quot;CONNECTED&quot;"/>
    <we:property name="reportUrl" value="&quot;/groups/2b079f4c-68fe-473a-9760-0a91c18e23c6/reports/6c1e38d2-a387-4140-b64c-feb20565ce26/72cedd1f9da4e5807125?experience=power-bi&amp;clientSideAuth=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2587</Words>
  <Application>Microsoft Office PowerPoint</Application>
  <PresentationFormat>Breitbild</PresentationFormat>
  <Paragraphs>332</Paragraphs>
  <Slides>16</Slides>
  <Notes>15</Notes>
  <HiddenSlides>1</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16</vt:i4>
      </vt:variant>
    </vt:vector>
  </HeadingPairs>
  <TitlesOfParts>
    <vt:vector size="21" baseType="lpstr">
      <vt:lpstr>Aptos</vt:lpstr>
      <vt:lpstr>Arial</vt:lpstr>
      <vt:lpstr>Calibri</vt:lpstr>
      <vt:lpstr>Cambria</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Yannick Quast</cp:lastModifiedBy>
  <cp:revision>29</cp:revision>
  <dcterms:created xsi:type="dcterms:W3CDTF">2026-08-06T11:57:53Z</dcterms:created>
  <dcterms:modified xsi:type="dcterms:W3CDTF">2026-08-12T09:19:21Z</dcterms:modified>
</cp:coreProperties>
</file>