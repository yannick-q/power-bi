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lang="de-DE" sz="1300" b="0" i="0" u="none" strike="noStrike">
                <a:solidFill>
                  <a:srgbClr val="1B3A6B"/>
                </a:solidFill>
                <a:latin typeface="Calibri"/>
              </a:rPr>
              <a:t>Top 10 Länder nach Ø Gesamtstärke (≥30 Spieler)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Ø Gesamtstärke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Czechia</c:v>
                </c:pt>
                <c:pt idx="1">
                  <c:v>Algeria</c:v>
                </c:pt>
                <c:pt idx="2">
                  <c:v>Mexico</c:v>
                </c:pt>
                <c:pt idx="3">
                  <c:v>Brazil</c:v>
                </c:pt>
                <c:pt idx="4">
                  <c:v>Portugal</c:v>
                </c:pt>
                <c:pt idx="5">
                  <c:v>Ukraine</c:v>
                </c:pt>
                <c:pt idx="6">
                  <c:v>Spain</c:v>
                </c:pt>
                <c:pt idx="7">
                  <c:v>Croatia</c:v>
                </c:pt>
                <c:pt idx="8">
                  <c:v>Slovakia</c:v>
                </c:pt>
                <c:pt idx="9">
                  <c:v>Greece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71.2</c:v>
                </c:pt>
                <c:pt idx="1">
                  <c:v>70.599999999999994</c:v>
                </c:pt>
                <c:pt idx="2">
                  <c:v>70.599999999999994</c:v>
                </c:pt>
                <c:pt idx="3">
                  <c:v>70.599999999999994</c:v>
                </c:pt>
                <c:pt idx="4">
                  <c:v>69.7</c:v>
                </c:pt>
                <c:pt idx="5">
                  <c:v>69.2</c:v>
                </c:pt>
                <c:pt idx="6">
                  <c:v>69.2</c:v>
                </c:pt>
                <c:pt idx="7">
                  <c:v>69.099999999999994</c:v>
                </c:pt>
                <c:pt idx="8">
                  <c:v>68.900000000000006</c:v>
                </c:pt>
                <c:pt idx="9">
                  <c:v>68.7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5B2-4F82-80AC-6C8964C0012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60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lang="de-DE" sz="1300" b="0" i="0" u="none" strike="noStrike">
                <a:solidFill>
                  <a:srgbClr val="1B3A6B"/>
                </a:solidFill>
                <a:latin typeface="Calibri"/>
              </a:rPr>
              <a:t>Spielerverteilung nach Kontinent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Spieler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3A6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907-4536-8A86-D0692FC3CFA9}"/>
              </c:ext>
            </c:extLst>
          </c:dPt>
          <c:dPt>
            <c:idx val="1"/>
            <c:bubble3D val="0"/>
            <c:spPr>
              <a:solidFill>
                <a:srgbClr val="2E8B8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907-4536-8A86-D0692FC3CFA9}"/>
              </c:ext>
            </c:extLst>
          </c:dPt>
          <c:dPt>
            <c:idx val="2"/>
            <c:bubble3D val="0"/>
            <c:spPr>
              <a:solidFill>
                <a:srgbClr val="D4AF3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907-4536-8A86-D0692FC3CFA9}"/>
              </c:ext>
            </c:extLst>
          </c:dPt>
          <c:dPt>
            <c:idx val="3"/>
            <c:bubble3D val="0"/>
            <c:spPr>
              <a:solidFill>
                <a:srgbClr val="7A93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907-4536-8A86-D0692FC3CFA9}"/>
              </c:ext>
            </c:extLst>
          </c:dPt>
          <c:dPt>
            <c:idx val="4"/>
            <c:bubble3D val="0"/>
            <c:spPr>
              <a:solidFill>
                <a:srgbClr val="C7D4E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907-4536-8A86-D0692FC3CFA9}"/>
              </c:ext>
            </c:extLst>
          </c:dPt>
          <c:cat>
            <c:strRef>
              <c:f>Sheet1!$A$2:$A$6</c:f>
              <c:strCache>
                <c:ptCount val="5"/>
                <c:pt idx="0">
                  <c:v>Europa</c:v>
                </c:pt>
                <c:pt idx="1">
                  <c:v>Amerika</c:v>
                </c:pt>
                <c:pt idx="2">
                  <c:v>Asien</c:v>
                </c:pt>
                <c:pt idx="3">
                  <c:v>Afrika</c:v>
                </c:pt>
                <c:pt idx="4">
                  <c:v>Ozeanien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10817</c:v>
                </c:pt>
                <c:pt idx="1">
                  <c:v>3736</c:v>
                </c:pt>
                <c:pt idx="2">
                  <c:v>2071</c:v>
                </c:pt>
                <c:pt idx="3">
                  <c:v>1416</c:v>
                </c:pt>
                <c:pt idx="4">
                  <c:v>365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A907-4536-8A86-D0692FC3CFA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22222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3A6B"/>
                </a:solidFill>
                <a:latin typeface="Calibri"/>
              </a:defRPr>
            </a:pPr>
            <a:r>
              <a:rPr lang="de-DE" sz="1300" b="0" i="0" u="none" strike="noStrike" dirty="0">
                <a:solidFill>
                  <a:srgbClr val="1B3A6B"/>
                </a:solidFill>
                <a:latin typeface="Calibri"/>
              </a:rPr>
              <a:t>Top 10 Länder nach Gesamtmarktwert (</a:t>
            </a:r>
            <a:r>
              <a:rPr lang="de-DE" sz="1300" b="0" i="0" u="none" strike="noStrike" dirty="0" err="1">
                <a:solidFill>
                  <a:srgbClr val="1B3A6B"/>
                </a:solidFill>
                <a:latin typeface="Calibri"/>
              </a:rPr>
              <a:t>Mrd</a:t>
            </a:r>
            <a:r>
              <a:rPr lang="de-DE" sz="1300" b="0" i="0" u="none" strike="noStrike" dirty="0">
                <a:solidFill>
                  <a:srgbClr val="1B3A6B"/>
                </a:solidFill>
                <a:latin typeface="Calibri"/>
              </a:rPr>
              <a:t> €)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Gesamtmarktwert (Mio €)</c:v>
                </c:pt>
              </c:strCache>
            </c:strRef>
          </c:tx>
          <c:spPr>
            <a:solidFill>
              <a:srgbClr val="2E8B8B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/>
                      <a:t>5,45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3ED8-4554-B77B-5AB5000924F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4,39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3ED8-4554-B77B-5AB5000924F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4,04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3ED8-4554-B77B-5AB5000924F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3,79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3ED8-4554-B77B-5AB5000924F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3,34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3ED8-4554-B77B-5AB5000924F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3,02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3ED8-4554-B77B-5AB5000924F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2,51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3ED8-4554-B77B-5AB5000924F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/>
                      <a:t>2,18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3ED8-4554-B77B-5AB5000924F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dirty="0"/>
                      <a:t>2,11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3ED8-4554-B77B-5AB5000924F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dirty="0"/>
                      <a:t>1,38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3ED8-4554-B77B-5AB5000924F4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22222"/>
                    </a:solidFill>
                    <a:latin typeface="Arial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Spain</c:v>
                </c:pt>
                <c:pt idx="1">
                  <c:v>France</c:v>
                </c:pt>
                <c:pt idx="2">
                  <c:v>England</c:v>
                </c:pt>
                <c:pt idx="3">
                  <c:v>Brazil</c:v>
                </c:pt>
                <c:pt idx="4">
                  <c:v>Germany</c:v>
                </c:pt>
                <c:pt idx="5">
                  <c:v>Argentina</c:v>
                </c:pt>
                <c:pt idx="6">
                  <c:v>Italy</c:v>
                </c:pt>
                <c:pt idx="7">
                  <c:v>Portugal</c:v>
                </c:pt>
                <c:pt idx="8">
                  <c:v>Netherlands</c:v>
                </c:pt>
                <c:pt idx="9">
                  <c:v>Belgium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5448</c:v>
                </c:pt>
                <c:pt idx="1">
                  <c:v>4385</c:v>
                </c:pt>
                <c:pt idx="2">
                  <c:v>4041</c:v>
                </c:pt>
                <c:pt idx="3">
                  <c:v>3790</c:v>
                </c:pt>
                <c:pt idx="4">
                  <c:v>3337</c:v>
                </c:pt>
                <c:pt idx="5">
                  <c:v>3019</c:v>
                </c:pt>
                <c:pt idx="6">
                  <c:v>2514</c:v>
                </c:pt>
                <c:pt idx="7">
                  <c:v>2180</c:v>
                </c:pt>
                <c:pt idx="8">
                  <c:v>2114</c:v>
                </c:pt>
                <c:pt idx="9">
                  <c:v>1379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ED8-4554-B77B-5AB5000924F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63555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MANAGEMENTBERICHT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2412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Talent- und Marktwertanalyse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 internationalen Fußball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6118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Nationalmannschafts- &amp; Ländervergleich auf Basis des EA Sports FC 26 Datensatzes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5806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Yannick Quast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QDK Modul 3 | Power BI Abschlussprojekt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Ausgangslage &amp; Fragestellung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7899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Rolle: Business-Intelligence-Analyst — Managementbericht zur </a:t>
            </a:r>
            <a:r>
              <a:rPr lang="en-US" sz="1300" i="1" dirty="0" err="1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</a:t>
            </a: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</a:t>
            </a:r>
            <a:r>
              <a:rPr lang="en-US" sz="1300" i="1" dirty="0" err="1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von </a:t>
            </a:r>
            <a:r>
              <a:rPr lang="en-US" sz="1300" i="1" dirty="0" err="1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Potenzialen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1508760" y="1847088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Länder haben die stärksten Kader — sportlich und wirtschaftlich?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2715768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731520" y="27157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1508760" y="2688336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liegen die größten Talentreserven für die Zukunft?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557016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31520" y="35570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10" dirty="0"/>
          </a:p>
        </p:txBody>
      </p:sp>
      <p:sp>
        <p:nvSpPr>
          <p:cNvPr id="12" name="Text 10"/>
          <p:cNvSpPr/>
          <p:nvPr/>
        </p:nvSpPr>
        <p:spPr>
          <a:xfrm>
            <a:off x="1508760" y="3529584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unterscheiden sich Länder in ihren spielerischen Stärkeprofilen?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398264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31520" y="43982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10" dirty="0"/>
          </a:p>
        </p:txBody>
      </p:sp>
      <p:sp>
        <p:nvSpPr>
          <p:cNvPr id="15" name="Text 13"/>
          <p:cNvSpPr/>
          <p:nvPr/>
        </p:nvSpPr>
        <p:spPr>
          <a:xfrm>
            <a:off x="1508760" y="4370832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Länder sind sportlich stark, aber wirtschaftlich unterbewertet?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239512"/>
            <a:ext cx="502920" cy="50292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731520" y="52395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1508760" y="5212080"/>
            <a:ext cx="9692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würde sich der Marktwert unter veränderten Annahmen entwickeln?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Datengrundlage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18.405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Spielerprofile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3337560" y="14813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33756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Nationen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03504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035040" y="14813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603504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Spalten</a:t>
            </a:r>
            <a:endParaRPr lang="en-US" sz="1200" dirty="0">
              <a:solidFill>
                <a:srgbClr val="5A6B7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732520" y="1371600"/>
            <a:ext cx="251460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732520" y="1481328"/>
            <a:ext cx="2514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09/2025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732520" y="2148840"/>
            <a:ext cx="2514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Datenstand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06324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 Sports FC 26 Community-Datensatz — inkl. Vereins-, Liga-, Vertrags- und Bilddaten je Spieler.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61188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Aufbereitung für Power BI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85800" y="4197096"/>
            <a:ext cx="91440" cy="91440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960120" y="4041648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der Excel-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Arbeitsmappe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(“players” und “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Laender_Uebersicht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Abfragen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auf Fehler etc.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</a:t>
            </a:r>
            <a:endParaRPr lang="en-US" sz="1400" dirty="0">
              <a:solidFill>
                <a:srgbClr val="22222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5800" y="4636008"/>
            <a:ext cx="91440" cy="91440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60120" y="4480560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Datentyp-Kontrolle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Datenkategorie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für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Kontinent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und Nation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ausgewählt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5074920"/>
            <a:ext cx="91440" cy="91440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960120" y="4919472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Eigene Measure-Tabelle „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Measure_Collection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- </a:t>
            </a:r>
            <a:r>
              <a:rPr lang="en-US" sz="14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sauber</a:t>
            </a: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getrennt von den Datentabellen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85800" y="5513832"/>
            <a:ext cx="91440" cy="91440"/>
          </a:xfrm>
          <a:prstGeom prst="ellipse">
            <a:avLst/>
          </a:prstGeom>
          <a:solidFill>
            <a:srgbClr val="2E8B8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4" name="Text 22"/>
          <p:cNvSpPr/>
          <p:nvPr/>
        </p:nvSpPr>
        <p:spPr>
          <a:xfrm>
            <a:off x="960120" y="5358384"/>
            <a:ext cx="10058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„(relevant)“-Measure-Logik: Länder mit &lt; 30 Spielern werden aus Rankings gefiltert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Report-Seite 1 — Übersicht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auf der Welt liegt die höchste fußballerische Qualität, und wie ist sie verteilt?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6675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45920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7772400" y="1755648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18.405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Anzahl Spieler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43800" y="3127248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7772400" y="3236976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53,95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7772400" y="385876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Gesamtmarktwert (Mrd €)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543800" y="4608576"/>
            <a:ext cx="3977640" cy="1234440"/>
          </a:xfrm>
          <a:prstGeom prst="roundRect">
            <a:avLst>
              <a:gd name="adj" fmla="val 5926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9"/>
          <p:cNvSpPr/>
          <p:nvPr/>
        </p:nvSpPr>
        <p:spPr>
          <a:xfrm>
            <a:off x="7772400" y="4718304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772400" y="534009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Weltklasse-Spieler (≥85)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43800" y="61264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Azure-Maps-Karte, Donut-Chart nach Kontinent, 3 Slicer (Kontinent / Position / Alter)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Report-Seiten 2 &amp; 3 — Altersanalyse &amp; Potenzial-Ausreißer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 liegen die Talentreserven — und wo weicht die Spielerqualität statistisch am stärksten vom Durchschnitt ab?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4937760" cy="4572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691640"/>
            <a:ext cx="5760720" cy="1691640"/>
          </a:xfrm>
          <a:prstGeom prst="roundRect">
            <a:avLst>
              <a:gd name="adj" fmla="val 4324"/>
            </a:avLst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5989320" y="182880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5,4 %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989320" y="260604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 Spieler gelten als statistische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Potenzial-Ausreißer (&gt;2 Standardabweichungen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vom Durchschnitt, Z-Score-Methode)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760720" y="3611880"/>
            <a:ext cx="576072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6"/>
          <p:cNvSpPr/>
          <p:nvPr/>
        </p:nvSpPr>
        <p:spPr>
          <a:xfrm>
            <a:off x="6035040" y="37490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B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Kein reiner Größeneffekt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035040" y="416052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Asien: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19,4 % Ausreißerquote — nur 2.071 Spieler
</a:t>
            </a:r>
            <a:r>
              <a:rPr lang="en-US" sz="1300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4,1 % Ausreißerquote — 10.817 Spieler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516636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Asiens Ligen zeigen eine deutlich breitere Streuung der Spielerqualität, nicht nur eine kleinere Stichprobe.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Report-Seite 4 — Länderdetails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Länder liefern die beste Kombination aus Spielstärke und Marktwert-Effizienz?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88080832"/>
              </p:ext>
            </p:extLst>
          </p:nvPr>
        </p:nvGraphicFramePr>
        <p:xfrm>
          <a:off x="548640" y="1417320"/>
          <a:ext cx="667512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45920"/>
            <a:ext cx="3977640" cy="4480560"/>
          </a:xfrm>
          <a:prstGeom prst="roundRect">
            <a:avLst>
              <a:gd name="adj" fmla="val 1839"/>
            </a:avLst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Text 3"/>
          <p:cNvSpPr/>
          <p:nvPr/>
        </p:nvSpPr>
        <p:spPr>
          <a:xfrm>
            <a:off x="7818120" y="187452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Marktwert-Effizienz-Index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818120" y="2377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Ø Gesamtstärke ÷ Ø Marktwert pro Spieler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7818120" y="288036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Zentrale Scouting-These: Länder mit hohem Index liefern überdurchschnittliche Spielstärke bei unterdurchschnittlichem Marktwert.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818120" y="4160520"/>
            <a:ext cx="3291840" cy="0"/>
          </a:xfrm>
          <a:prstGeom prst="line">
            <a:avLst/>
          </a:prstGeom>
          <a:noFill/>
          <a:ln w="127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7"/>
          <p:cNvSpPr/>
          <p:nvPr/>
        </p:nvSpPr>
        <p:spPr>
          <a:xfrm>
            <a:off x="7818120" y="4343400"/>
            <a:ext cx="35204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Power BI: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 err="1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Tabelle</a:t>
            </a: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„Top 10 </a:t>
            </a:r>
            <a:r>
              <a:rPr lang="en-US" sz="1250" dirty="0" err="1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unterbewerteste</a:t>
            </a: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Nationen</a:t>
            </a:r>
            <a:r>
              <a:rPr lang="en-US" sz="12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 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Report-Seite 5 — Attributsanalyse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932688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Welche Nationen dominieren welche spielerischen Teildisziplinen?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16733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Nigeria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</a:rPr>
              <a:t>75,1</a:t>
            </a:r>
            <a:r>
              <a:rPr lang="en-US" sz="1100" dirty="0">
                <a:solidFill>
                  <a:srgbClr val="5A6B7A"/>
                </a:solidFill>
              </a:rPr>
              <a:t>  Ø-Wert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297680" y="15087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26280" y="16733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ABSCHLUSS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2011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Algeria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2628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</a:rPr>
              <a:t>62,0</a:t>
            </a:r>
            <a:r>
              <a:rPr lang="en-US" sz="1100" dirty="0">
                <a:solidFill>
                  <a:srgbClr val="5A6B7A"/>
                </a:solidFill>
              </a:rPr>
              <a:t>  Ø-Wert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955280" y="150876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8183880" y="167335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PASSSPIEL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83880" y="201168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Algeria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183880" y="265176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</a:rPr>
              <a:t>65,7</a:t>
            </a:r>
            <a:r>
              <a:rPr lang="en-US" sz="1100" dirty="0">
                <a:solidFill>
                  <a:srgbClr val="5A6B7A"/>
                </a:solidFill>
              </a:rPr>
              <a:t>  Ø-Wert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868680" y="38679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DRIBBLING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4206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Algeria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6868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</a:rPr>
              <a:t>71,4</a:t>
            </a:r>
            <a:r>
              <a:rPr lang="en-US" sz="1100" dirty="0">
                <a:solidFill>
                  <a:srgbClr val="5A6B7A"/>
                </a:solidFill>
              </a:rPr>
              <a:t>  Ø-Wert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297680" y="37033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526280" y="38679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VERTEIDIGUNG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26280" y="4206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Czechia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52628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</a:rPr>
              <a:t>56,1</a:t>
            </a:r>
            <a:r>
              <a:rPr lang="en-US" sz="1100" dirty="0">
                <a:solidFill>
                  <a:srgbClr val="5A6B7A"/>
                </a:solidFill>
              </a:rPr>
              <a:t>  Ø-Wert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7955280" y="3703320"/>
            <a:ext cx="34290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8183880" y="3867912"/>
            <a:ext cx="2971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183880" y="4206240"/>
            <a:ext cx="2971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Czechia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818388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</a:rPr>
              <a:t>71,6</a:t>
            </a:r>
            <a:r>
              <a:rPr lang="en-US" sz="1100" dirty="0">
                <a:solidFill>
                  <a:srgbClr val="5A6B7A"/>
                </a:solidFill>
              </a:rPr>
              <a:t>  Ø-Wert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Land dominiert alle Kategorien — Beleg für heterogene, regional geprägte Ausbildungsstile.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Report-Seite 6 — Szenarioanalyse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würde sich der globale Marktwert unter veränderten Annahmen entwickeln?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What-if-Parameter: Marktwert-Wachstum (%)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7772400" cy="109728"/>
          </a:xfrm>
          <a:prstGeom prst="roundRect">
            <a:avLst>
              <a:gd name="adj" fmla="val 50000"/>
            </a:avLst>
          </a:prstGeom>
          <a:solidFill>
            <a:srgbClr val="3C5680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5029200" cy="109728"/>
          </a:xfrm>
          <a:prstGeom prst="roundRect">
            <a:avLst>
              <a:gd name="adj" fmla="val 50000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7" name="Shape 5"/>
          <p:cNvSpPr/>
          <p:nvPr/>
        </p:nvSpPr>
        <p:spPr>
          <a:xfrm>
            <a:off x="5440680" y="2334768"/>
            <a:ext cx="329184" cy="329184"/>
          </a:xfrm>
          <a:prstGeom prst="ellipse">
            <a:avLst/>
          </a:prstGeom>
          <a:solidFill>
            <a:srgbClr val="FFFFFF"/>
          </a:solidFill>
          <a:ln w="25400">
            <a:solidFill>
              <a:srgbClr val="D4AF37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4008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−30 %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040880" y="26060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9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+50 %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9718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aktuell gewählt: +35 %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3566160" cy="1554480"/>
          </a:xfrm>
          <a:prstGeom prst="roundRect">
            <a:avLst>
              <a:gd name="adj" fmla="val 4706"/>
            </a:avLst>
          </a:prstGeom>
          <a:solidFill>
            <a:srgbClr val="24406E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868680" y="374904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AF1F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53,95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68680" y="443484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A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Gesamtmarktwert Ist (Mrd €)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434840" y="3611880"/>
            <a:ext cx="3977640" cy="1554480"/>
          </a:xfrm>
          <a:prstGeom prst="roundRect">
            <a:avLst>
              <a:gd name="adj" fmla="val 4706"/>
            </a:avLst>
          </a:prstGeom>
          <a:solidFill>
            <a:srgbClr val="D4AF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663440" y="374904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225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72,83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63440" y="443484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A2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Gesamtmarktwert Szenario (Mrd €)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" y="5486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Live-Demo im Report: Schieberegler bewegen — beide KPI-Karten aktualisieren sich in Echtzeit.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Interaktivität: Drillthrough &amp; Spotlight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120640" cy="4846320"/>
          </a:xfrm>
          <a:prstGeom prst="roundRect">
            <a:avLst>
              <a:gd name="adj" fmla="val 1509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914400" y="1645920"/>
            <a:ext cx="548640" cy="54864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914400" y="1645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20" dirty="0"/>
          </a:p>
        </p:txBody>
      </p:sp>
      <p:sp>
        <p:nvSpPr>
          <p:cNvPr id="6" name="Text 4"/>
          <p:cNvSpPr/>
          <p:nvPr/>
        </p:nvSpPr>
        <p:spPr>
          <a:xfrm>
            <a:off x="1600200" y="1691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Drillthrough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233172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Rechtsklick auf ein Land (Karte, Balken, Tabelle) öffnet automatisch die gefilterte Detailseite „Land-Detailansicht“ mit kompletter Kaderliste inkl. Spielerfotos.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393192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 eigene Tooltip-Seiten (Quickinfo Land / Kontinent) ersetzen die Standard-Hover-Anzeige durch gestaltete Kennzahlen-Popups.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371600"/>
            <a:ext cx="5532120" cy="4846320"/>
          </a:xfrm>
          <a:prstGeom prst="roundRect">
            <a:avLst>
              <a:gd name="adj" fmla="val 1509"/>
            </a:avLst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6309360" y="1600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BONUS-SEITE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Kylian Mbappé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6309360" y="24505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7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Top-Rating des Datensatzes — Real Madrid, France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09360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9360" y="3566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Gesamtstärke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001000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001000" y="3566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Potenzial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0" y="3063240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173,5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692640" y="3566160"/>
            <a:ext cx="1600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Marktwert (Mio €)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43434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★★★★★  Skill Moves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09360" y="4754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★★★★☆  Schwacher Fuß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534924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1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Zentrale Erkenntnisse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Shape 2"/>
          <p:cNvSpPr/>
          <p:nvPr/>
        </p:nvSpPr>
        <p:spPr>
          <a:xfrm>
            <a:off x="914400" y="1691640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1188720" y="160020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Qualität ≠ Marktwert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14400" y="2130552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Afrika/Amerika führen bei Ø-Spielstärke (67,3), Europa vereint aber zwei Drittel des globalen Marktwerts.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080760" y="141732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Shape 6"/>
          <p:cNvSpPr/>
          <p:nvPr/>
        </p:nvSpPr>
        <p:spPr>
          <a:xfrm>
            <a:off x="6355080" y="1691640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629400" y="160020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Tschechien als Überraschung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355080" y="2130552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Höchste Ø-Gesamtstärke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Länder: </a:t>
            </a:r>
            <a:r>
              <a:rPr lang="en-US" sz="12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</a:t>
            </a: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nur 1 Weltklasse-Spieler. Kaderbreite statt Einzelstars.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8404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1188720" y="402336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Spaniens Talentmaschine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14400" y="4553712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 U21-Top-Talente (Potenzial ≥ 80) — die größte Reserve weltweit, vor Frankreich und England.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80760" y="3840480"/>
            <a:ext cx="51663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B3A6B">
                <a:alpha val="12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Shape 14"/>
          <p:cNvSpPr/>
          <p:nvPr/>
        </p:nvSpPr>
        <p:spPr>
          <a:xfrm>
            <a:off x="6355080" y="4114800"/>
            <a:ext cx="128016" cy="128016"/>
          </a:xfrm>
          <a:prstGeom prst="ellipse">
            <a:avLst/>
          </a:prstGeom>
          <a:solidFill>
            <a:srgbClr val="D4AF37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629400" y="4023360"/>
            <a:ext cx="4343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Ausreißer sind kein Größeneffekt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355080" y="4553712"/>
            <a:ext cx="4617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Asiens Ausreißerquote liegt bei 19,4 % gegenüber 4,1 % in Europa — breitere Streuung, nicht nur weniger Spieler.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Limitationen &amp; Ausblick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85800" y="1691640"/>
            <a:ext cx="384048" cy="384048"/>
          </a:xfrm>
          <a:prstGeom prst="ellipse">
            <a:avLst/>
          </a:prstGeom>
          <a:solidFill>
            <a:srgbClr val="C7D4E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685800" y="16916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24" dirty="0"/>
          </a:p>
        </p:txBody>
      </p:sp>
      <p:sp>
        <p:nvSpPr>
          <p:cNvPr id="6" name="Text 4"/>
          <p:cNvSpPr/>
          <p:nvPr/>
        </p:nvSpPr>
        <p:spPr>
          <a:xfrm>
            <a:off x="1234440" y="1636776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Datensatz bildet einen Stichtag ab (09/2025) — keine echte Zeitreihe über mehrere Jahre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2404872"/>
            <a:ext cx="384048" cy="384048"/>
          </a:xfrm>
          <a:prstGeom prst="ellipse">
            <a:avLst/>
          </a:prstGeom>
          <a:solidFill>
            <a:srgbClr val="C7D4E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685800" y="24048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24" dirty="0"/>
          </a:p>
        </p:txBody>
      </p:sp>
      <p:sp>
        <p:nvSpPr>
          <p:cNvPr id="9" name="Text 7"/>
          <p:cNvSpPr/>
          <p:nvPr/>
        </p:nvSpPr>
        <p:spPr>
          <a:xfrm>
            <a:off x="1234440" y="235000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„Nationalität“ = Herkunftsland, nicht zwingend aktuelle A-Nationalmannschaft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3118104"/>
            <a:ext cx="384048" cy="384048"/>
          </a:xfrm>
          <a:prstGeom prst="ellipse">
            <a:avLst/>
          </a:prstGeom>
          <a:solidFill>
            <a:srgbClr val="C7D4E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85800" y="311810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24" dirty="0"/>
          </a:p>
        </p:txBody>
      </p:sp>
      <p:sp>
        <p:nvSpPr>
          <p:cNvPr id="12" name="Text 10"/>
          <p:cNvSpPr/>
          <p:nvPr/>
        </p:nvSpPr>
        <p:spPr>
          <a:xfrm>
            <a:off x="1234440" y="306324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England/Schottland/Wales/Nordirland auf dem Kartenvisual technisch als UK zusammengefasst (in Tabellen korrekt einzeln erfasst)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3831336"/>
            <a:ext cx="384048" cy="384048"/>
          </a:xfrm>
          <a:prstGeom prst="ellipse">
            <a:avLst/>
          </a:prstGeom>
          <a:solidFill>
            <a:srgbClr val="C7D4E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685800" y="38313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24" dirty="0"/>
          </a:p>
        </p:txBody>
      </p:sp>
      <p:sp>
        <p:nvSpPr>
          <p:cNvPr id="15" name="Text 13"/>
          <p:cNvSpPr/>
          <p:nvPr/>
        </p:nvSpPr>
        <p:spPr>
          <a:xfrm>
            <a:off x="1234440" y="3776472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Attributkategorien für Torhüter nicht aussagekräftig — daher ausgeschlossen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5800" y="4544568"/>
            <a:ext cx="384048" cy="384048"/>
          </a:xfrm>
          <a:prstGeom prst="ellipse">
            <a:avLst/>
          </a:prstGeom>
          <a:solidFill>
            <a:srgbClr val="C7D4E3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685800" y="4544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24" b="1" dirty="0">
                <a:solidFill>
                  <a:srgbClr val="1B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924" dirty="0"/>
          </a:p>
        </p:txBody>
      </p:sp>
      <p:sp>
        <p:nvSpPr>
          <p:cNvPr id="18" name="Text 16"/>
          <p:cNvSpPr/>
          <p:nvPr/>
        </p:nvSpPr>
        <p:spPr>
          <a:xfrm>
            <a:off x="1234440" y="4489704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Ausreißerdefinition bezieht sich auf die reine Potenzial-Verteilung, nicht auf ein alters-/positionsbereinigtes Modell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3492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1F8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914400" y="553212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2E8B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Ausblick: </a:t>
            </a: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Live-Anbindung an eine Fußball-API (Kader, aktuelle Ergebnisse) und Kombination mehrerer FC-Jahrgänge für eine echte Zeitreihenanalyse.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Talent- und Marktwertanalyse im internationalen Fußball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52144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6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25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9875520" y="4572000"/>
            <a:ext cx="4114800" cy="4114800"/>
          </a:xfrm>
          <a:prstGeom prst="ellipse">
            <a:avLst/>
          </a:prstGeom>
          <a:solidFill>
            <a:srgbClr val="1B3A6B"/>
          </a:solidFill>
          <a:ln/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Vielen Dank für Ihre Aufmerksamkeit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Fragen &amp; Diskussion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343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Yannick Quast — Talent- und Marktwertanalyse im internationalen Fußball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862</Words>
  <Application>Microsoft Office PowerPoint</Application>
  <PresentationFormat>Breitbild</PresentationFormat>
  <Paragraphs>176</Paragraphs>
  <Slides>12</Slides>
  <Notes>12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Yannick Quast</cp:lastModifiedBy>
  <cp:revision>3</cp:revision>
  <dcterms:created xsi:type="dcterms:W3CDTF">2026-07-21T12:44:31Z</dcterms:created>
  <dcterms:modified xsi:type="dcterms:W3CDTF">2026-07-21T19:38:21Z</dcterms:modified>
</cp:coreProperties>
</file>